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75315-93B7-5356-6310-F03D76FB19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C87812-985E-2EF2-45E1-9C4D5946A2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4F093-1060-95B6-C874-2A194272D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8A07C-AD5A-415E-9C14-D1D77265B639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02E66B-B522-EE52-3732-78BFE4090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443EB4-23AE-C0EC-EB15-3684FFBAE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1DC4B-85A1-4C30-91AB-3231F147A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1065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EBFDA-8169-5E62-5396-9D5B61AAC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62113-6C47-4CC2-AD93-32DCD2B0D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A6FEF-DC02-A3CF-3718-2ECE74EA0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8A07C-AD5A-415E-9C14-D1D77265B639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5CC94-56F8-E5CF-F4B8-F8FF52AFE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47420-21C8-0942-BE4A-A5BE64BF7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1DC4B-85A1-4C30-91AB-3231F147A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2464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C490F-0D29-E29F-38C1-4F914EE2C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BCD734-6A18-BEA2-5C7D-A81E6A3BD5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41D4C-C3B6-5C2A-5671-21ECFDA81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8A07C-AD5A-415E-9C14-D1D77265B639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B1BD0-C68E-9C59-1499-AC20AD666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E88BA-80A7-5402-9784-1DE4399E6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1DC4B-85A1-4C30-91AB-3231F147A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6001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04CA0-B1A9-AB64-D080-59B54289C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16019-6792-F79A-B20D-EB778C95DF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1F809D-A461-B37F-A23B-4FB8CFEBA5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CD52F9-1EB7-8D25-2624-786D19B3E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8A07C-AD5A-415E-9C14-D1D77265B639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02D019-F102-DCCE-3ED7-4A96AA34D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BA7312-420D-D1AF-BCDE-ED416319A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1DC4B-85A1-4C30-91AB-3231F147A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4395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8F20E-A908-213F-79D3-081492848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582CD-7FF0-5ED9-CB19-3948FB3808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034F02-AEE5-E042-A501-2BE1735F5C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D628FE-9959-5AF9-EABB-5B8AFADE8A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233F02-CAD9-3E4B-8F1F-4E50902F5C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F3F88E-1CF0-BCAC-6855-30125EBB0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8A07C-AD5A-415E-9C14-D1D77265B639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202E65-C5DD-FD05-0411-6695FF6EB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C6DE34-2487-8C46-641E-A551D3D04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1DC4B-85A1-4C30-91AB-3231F147A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2529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80018-EDF0-63D0-1D4E-05E94F0D0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EC70A5-54D4-6DA5-3026-541D071E9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8A07C-AD5A-415E-9C14-D1D77265B639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C41C42-C147-B882-2598-DD18E14BE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548465-D64E-2AAE-D4F6-0F0499D00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1DC4B-85A1-4C30-91AB-3231F147A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1044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32B4E3-CDAE-66A9-F867-47E248775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8A07C-AD5A-415E-9C14-D1D77265B639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97E7AD-1618-3612-6F0E-D04B370BB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4E48E-B594-631B-986C-E3FC5989F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1DC4B-85A1-4C30-91AB-3231F147A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4246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82808-F07B-D08A-7CBC-F85D3A29E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BE0FD-BD27-4361-88C8-2FE1D5F6C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5FEA65-8BE6-720F-C0FF-97D4A35358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2DB545-6717-FCDA-5B6A-B6D27BC6F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8A07C-AD5A-415E-9C14-D1D77265B639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42624-A017-7212-3ECB-3B4AD9C92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887BA-64AC-4304-FC20-CADA3BCA6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1DC4B-85A1-4C30-91AB-3231F147A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7314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FAB26-DA36-D3CA-F72E-38A7B053A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3BB28-10FD-3225-ED36-DDF473E80A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EEB137-6BBD-E711-2B01-1BDE004DB7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2AAFA1-83AE-72CB-9290-FCE62DF2B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8A07C-AD5A-415E-9C14-D1D77265B639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662CB9-99C0-3790-3107-0A65D322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D9B42-D885-CBC5-F337-8B33C2E7F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1DC4B-85A1-4C30-91AB-3231F147A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5149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3F0F9-C84C-F1B1-AC52-8BDA4F122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3429D4-B2D6-BFBC-F084-33CBAE128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123AF-238F-11F8-6062-799F8CDDD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8A07C-AD5A-415E-9C14-D1D77265B639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1C06F-6522-51E2-2189-AD21202F4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63DE5-E3B9-4DEF-C294-F996FEFD6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1DC4B-85A1-4C30-91AB-3231F147A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3917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B33139-2428-BD99-C906-139F259C1D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344922-3470-ED1D-4A49-2E967AD116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09B23-2486-8B55-C4DB-DE583B5C9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8A07C-AD5A-415E-9C14-D1D77265B639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CA3F1-D792-1214-08F3-4C44FFF36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5D663-482F-7068-E0DE-A50C69A13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1DC4B-85A1-4C30-91AB-3231F147A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4218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55C1F0-014D-0C85-02E4-9DFF0E300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711C2D-360A-53F7-BF12-1D4A3A0D0A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48B6D-614B-04D4-7EC6-9CBB00B186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C8A07C-AD5A-415E-9C14-D1D77265B639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81C97-373B-E645-C3C5-518A2F6FFB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E5DC12-0FE9-5595-F42F-E0A1806C4A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21DC4B-85A1-4C30-91AB-3231F147A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28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84984E-F7EC-91CB-CD61-F5B8A50CE16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AF0FB9B-782B-EFD9-5BFD-662DABAC58E7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5B43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000F85B-13A2-9426-5798-2AE371D3E91A}"/>
              </a:ext>
            </a:extLst>
          </p:cNvPr>
          <p:cNvSpPr/>
          <p:nvPr/>
        </p:nvSpPr>
        <p:spPr>
          <a:xfrm>
            <a:off x="609600" y="355600"/>
            <a:ext cx="330200" cy="330200"/>
          </a:xfrm>
          <a:prstGeom prst="roundRect">
            <a:avLst/>
          </a:prstGeom>
          <a:solidFill>
            <a:srgbClr val="5B43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B01C50-123C-3868-7E6A-00227D194764}"/>
              </a:ext>
            </a:extLst>
          </p:cNvPr>
          <p:cNvSpPr txBox="1"/>
          <p:nvPr/>
        </p:nvSpPr>
        <p:spPr>
          <a:xfrm>
            <a:off x="673100" y="406400"/>
            <a:ext cx="20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Aptos" panose="020B0004020202020204" pitchFamily="34" charset="0"/>
              </a:rPr>
              <a:t>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FC5BF4-EE38-87B0-C23C-C1991F15E582}"/>
              </a:ext>
            </a:extLst>
          </p:cNvPr>
          <p:cNvSpPr txBox="1"/>
          <p:nvPr/>
        </p:nvSpPr>
        <p:spPr>
          <a:xfrm>
            <a:off x="1066800" y="4191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200" b="1">
                <a:solidFill>
                  <a:srgbClr val="0F1734"/>
                </a:solidFill>
                <a:latin typeface="Aptos" panose="020B0004020202020204" pitchFamily="34" charset="0"/>
              </a:rPr>
              <a:t>CAREER MENTOR AI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C96456E-B274-3F3A-885B-7767A0984A80}"/>
              </a:ext>
            </a:extLst>
          </p:cNvPr>
          <p:cNvSpPr/>
          <p:nvPr/>
        </p:nvSpPr>
        <p:spPr>
          <a:xfrm>
            <a:off x="609600" y="990600"/>
            <a:ext cx="2336800" cy="304800"/>
          </a:xfrm>
          <a:prstGeom prst="roundRect">
            <a:avLst/>
          </a:prstGeom>
          <a:solidFill>
            <a:srgbClr val="F2E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81A239-7088-EB3E-A003-3263AD3BCC5F}"/>
              </a:ext>
            </a:extLst>
          </p:cNvPr>
          <p:cNvSpPr txBox="1"/>
          <p:nvPr/>
        </p:nvSpPr>
        <p:spPr>
          <a:xfrm>
            <a:off x="736600" y="1041400"/>
            <a:ext cx="20828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 b="1">
                <a:solidFill>
                  <a:srgbClr val="5B43F2"/>
                </a:solidFill>
                <a:latin typeface="Aptos" panose="020B0004020202020204" pitchFamily="34" charset="0"/>
              </a:rPr>
              <a:t>MSE-1 PROJECT-BASED LEARNING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729F4A-9371-32C5-A30E-B13DAF6986B6}"/>
              </a:ext>
            </a:extLst>
          </p:cNvPr>
          <p:cNvSpPr txBox="1"/>
          <p:nvPr/>
        </p:nvSpPr>
        <p:spPr>
          <a:xfrm>
            <a:off x="609600" y="1549400"/>
            <a:ext cx="6223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4200" b="1">
                <a:solidFill>
                  <a:srgbClr val="0F1734"/>
                </a:solidFill>
                <a:latin typeface="Aptos Display" panose="020B0004020202020204" pitchFamily="34" charset="0"/>
              </a:rPr>
              <a:t>Personalized Career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85A00D-B132-E649-221A-206AD927284D}"/>
              </a:ext>
            </a:extLst>
          </p:cNvPr>
          <p:cNvSpPr txBox="1"/>
          <p:nvPr/>
        </p:nvSpPr>
        <p:spPr>
          <a:xfrm>
            <a:off x="609600" y="22098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4400" b="1">
                <a:solidFill>
                  <a:srgbClr val="268EDA"/>
                </a:solidFill>
                <a:latin typeface="Aptos Display" panose="020B0004020202020204" pitchFamily="34" charset="0"/>
              </a:rPr>
              <a:t>Mentor AI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34CDEE-0D06-3C84-DF7F-6B78F366B3F0}"/>
              </a:ext>
            </a:extLst>
          </p:cNvPr>
          <p:cNvSpPr txBox="1"/>
          <p:nvPr/>
        </p:nvSpPr>
        <p:spPr>
          <a:xfrm>
            <a:off x="609600" y="28702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2900" b="1">
                <a:solidFill>
                  <a:srgbClr val="5B43F2"/>
                </a:solidFill>
                <a:latin typeface="Aptos Display" panose="020B0004020202020204" pitchFamily="34" charset="0"/>
              </a:rPr>
              <a:t>with Skill Gap Analysis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034AB6-C163-92C4-8210-078FFF0BA2D2}"/>
              </a:ext>
            </a:extLst>
          </p:cNvPr>
          <p:cNvSpPr txBox="1"/>
          <p:nvPr/>
        </p:nvSpPr>
        <p:spPr>
          <a:xfrm>
            <a:off x="635000" y="3657600"/>
            <a:ext cx="5715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>
                <a:solidFill>
                  <a:srgbClr val="5D6C8E"/>
                </a:solidFill>
                <a:latin typeface="Aptos" panose="020B0004020202020204" pitchFamily="34" charset="0"/>
              </a:rPr>
              <a:t>A role-specific career guide that compares resumes with job descriptions and turns gaps into clear next actions.</a:t>
            </a:r>
            <a:endParaRPr lang="en-IN" sz="1700">
              <a:solidFill>
                <a:srgbClr val="5D6C8E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EF873A9-A61A-AF69-51D8-67CD107792B3}"/>
              </a:ext>
            </a:extLst>
          </p:cNvPr>
          <p:cNvSpPr/>
          <p:nvPr/>
        </p:nvSpPr>
        <p:spPr>
          <a:xfrm>
            <a:off x="609600" y="4673600"/>
            <a:ext cx="3073400" cy="304800"/>
          </a:xfrm>
          <a:prstGeom prst="roundRect">
            <a:avLst/>
          </a:prstGeom>
          <a:solidFill>
            <a:srgbClr val="E6FA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0BFDA8-BE2B-AEF0-1C5F-9FF84B00FEB3}"/>
              </a:ext>
            </a:extLst>
          </p:cNvPr>
          <p:cNvSpPr txBox="1"/>
          <p:nvPr/>
        </p:nvSpPr>
        <p:spPr>
          <a:xfrm>
            <a:off x="736600" y="4724400"/>
            <a:ext cx="2819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100" b="1">
                <a:solidFill>
                  <a:srgbClr val="21C294"/>
                </a:solidFill>
                <a:latin typeface="Aptos" panose="020B0004020202020204" pitchFamily="34" charset="0"/>
              </a:rPr>
              <a:t>AI-powered web app + Chrome extension</a:t>
            </a:r>
            <a:endParaRPr lang="en-IN" sz="1100" b="1">
              <a:solidFill>
                <a:srgbClr val="21C294"/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12E896-6B50-B5E2-DF73-1F59BBA1132E}"/>
              </a:ext>
            </a:extLst>
          </p:cNvPr>
          <p:cNvSpPr txBox="1"/>
          <p:nvPr/>
        </p:nvSpPr>
        <p:spPr>
          <a:xfrm>
            <a:off x="609600" y="53848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100" b="1">
                <a:solidFill>
                  <a:srgbClr val="5B43F2"/>
                </a:solidFill>
                <a:latin typeface="Aptos" panose="020B0004020202020204" pitchFamily="34" charset="0"/>
              </a:rPr>
              <a:t>Team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52F0F5-92A6-0CBD-E4B6-881A729AFF2A}"/>
              </a:ext>
            </a:extLst>
          </p:cNvPr>
          <p:cNvSpPr txBox="1"/>
          <p:nvPr/>
        </p:nvSpPr>
        <p:spPr>
          <a:xfrm>
            <a:off x="609600" y="5664200"/>
            <a:ext cx="571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fi-FI" sz="1400" b="1">
                <a:solidFill>
                  <a:srgbClr val="0F1734"/>
                </a:solidFill>
                <a:latin typeface="Aptos" panose="020B0004020202020204" pitchFamily="34" charset="0"/>
              </a:rPr>
              <a:t>Jatin Jangid  ·  Nitin  ·  Naina Vats  ·  Ilma Chaudhary</a:t>
            </a:r>
            <a:endParaRPr lang="en-IN" sz="1400" b="1">
              <a:solidFill>
                <a:srgbClr val="0F1734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C6565D-2B82-20F8-36C9-F3840B9B8816}"/>
              </a:ext>
            </a:extLst>
          </p:cNvPr>
          <p:cNvSpPr txBox="1"/>
          <p:nvPr/>
        </p:nvSpPr>
        <p:spPr>
          <a:xfrm>
            <a:off x="609600" y="5969000"/>
            <a:ext cx="5715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000">
                <a:solidFill>
                  <a:srgbClr val="5D6C8E"/>
                </a:solidFill>
                <a:latin typeface="Aptos" panose="020B0004020202020204" pitchFamily="34" charset="0"/>
              </a:rPr>
              <a:t>2228MCA0068   |   2628MCA0275   |   2628MCA0003   |   2628MCA0146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BFE1B5D-C212-DA98-615D-001E80799DF1}"/>
              </a:ext>
            </a:extLst>
          </p:cNvPr>
          <p:cNvSpPr/>
          <p:nvPr/>
        </p:nvSpPr>
        <p:spPr>
          <a:xfrm>
            <a:off x="7213600" y="990600"/>
            <a:ext cx="4368800" cy="4851400"/>
          </a:xfrm>
          <a:prstGeom prst="roundRect">
            <a:avLst/>
          </a:prstGeom>
          <a:solidFill>
            <a:srgbClr val="0F17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D40F7BC-A2C6-AC01-6271-DBE40D5000A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1092200"/>
            <a:ext cx="4165600" cy="46482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5148337-ED20-0867-043F-BC062E42F62A}"/>
              </a:ext>
            </a:extLst>
          </p:cNvPr>
          <p:cNvSpPr txBox="1"/>
          <p:nvPr/>
        </p:nvSpPr>
        <p:spPr>
          <a:xfrm>
            <a:off x="7518400" y="12446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200" b="1">
                <a:solidFill>
                  <a:srgbClr val="FFFFFF"/>
                </a:solidFill>
                <a:latin typeface="Aptos" panose="020B0004020202020204" pitchFamily="34" charset="0"/>
              </a:rPr>
              <a:t>Resume Matcher AI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64728DA-B098-F788-C90C-209318A5BF6A}"/>
              </a:ext>
            </a:extLst>
          </p:cNvPr>
          <p:cNvSpPr/>
          <p:nvPr/>
        </p:nvSpPr>
        <p:spPr>
          <a:xfrm>
            <a:off x="9906000" y="1244600"/>
            <a:ext cx="1320800" cy="304800"/>
          </a:xfrm>
          <a:prstGeom prst="roundRect">
            <a:avLst/>
          </a:prstGeom>
          <a:solidFill>
            <a:srgbClr val="E6FA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DDAFDE-6D79-8E3B-1859-CB23717EB8DF}"/>
              </a:ext>
            </a:extLst>
          </p:cNvPr>
          <p:cNvSpPr txBox="1"/>
          <p:nvPr/>
        </p:nvSpPr>
        <p:spPr>
          <a:xfrm>
            <a:off x="10033000" y="1295400"/>
            <a:ext cx="10668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 b="1">
                <a:solidFill>
                  <a:srgbClr val="21C294"/>
                </a:solidFill>
                <a:latin typeface="Aptos" panose="020B0004020202020204" pitchFamily="34" charset="0"/>
              </a:rPr>
              <a:t>Powered by Groq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13362B-421D-09BA-F555-46AE30E44967}"/>
              </a:ext>
            </a:extLst>
          </p:cNvPr>
          <p:cNvSpPr txBox="1"/>
          <p:nvPr/>
        </p:nvSpPr>
        <p:spPr>
          <a:xfrm>
            <a:off x="7518400" y="5372100"/>
            <a:ext cx="342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FFFFFF"/>
                </a:solidFill>
                <a:latin typeface="Aptos" panose="020B0004020202020204" pitchFamily="34" charset="0"/>
              </a:rPr>
              <a:t>Compare. Understand. Improve.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3C0D657-9BEA-ECD9-C215-5225BD3F5FD8}"/>
              </a:ext>
            </a:extLst>
          </p:cNvPr>
          <p:cNvSpPr txBox="1"/>
          <p:nvPr/>
        </p:nvSpPr>
        <p:spPr>
          <a:xfrm>
            <a:off x="7213600" y="6045200"/>
            <a:ext cx="43688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>
                <a:solidFill>
                  <a:srgbClr val="5D6C8E"/>
                </a:solidFill>
                <a:latin typeface="Aptos" panose="020B0004020202020204" pitchFamily="34" charset="0"/>
              </a:rPr>
              <a:t>Front End Web Development (26CA205PCB)  |  MCA  |  KIET</a:t>
            </a:r>
            <a:endParaRPr lang="en-IN" sz="1000">
              <a:solidFill>
                <a:srgbClr val="5D6C8E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1975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14118A-B777-AFD3-75BA-6931A67E3E9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9191E4A-9152-8F93-B3C8-15388E7FDE85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5B43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F3158D-9FDA-2536-0360-C9E3998FB4CC}"/>
              </a:ext>
            </a:extLst>
          </p:cNvPr>
          <p:cNvSpPr txBox="1"/>
          <p:nvPr/>
        </p:nvSpPr>
        <p:spPr>
          <a:xfrm>
            <a:off x="609600" y="330200"/>
            <a:ext cx="3302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 b="1">
                <a:solidFill>
                  <a:srgbClr val="5B43F2"/>
                </a:solidFill>
                <a:latin typeface="Aptos" panose="020B0004020202020204" pitchFamily="34" charset="0"/>
              </a:rPr>
              <a:t>METRIC 1 | INNOVATION &amp; PROBLEM SOLVING</a:t>
            </a:r>
            <a:endParaRPr lang="en-IN" sz="1100" b="1">
              <a:solidFill>
                <a:srgbClr val="5B43F2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11A649-206E-46EE-5DBA-B138BE3097E6}"/>
              </a:ext>
            </a:extLst>
          </p:cNvPr>
          <p:cNvSpPr txBox="1"/>
          <p:nvPr/>
        </p:nvSpPr>
        <p:spPr>
          <a:xfrm>
            <a:off x="609600" y="6350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3000" b="1">
                <a:solidFill>
                  <a:srgbClr val="0F1734"/>
                </a:solidFill>
                <a:latin typeface="Aptos" panose="020B0004020202020204" pitchFamily="34" charset="0"/>
              </a:rPr>
              <a:t>User discovery &amp; opportunity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486DD2-0C7C-B8EB-53C2-5501AB402F20}"/>
              </a:ext>
            </a:extLst>
          </p:cNvPr>
          <p:cNvSpPr txBox="1"/>
          <p:nvPr/>
        </p:nvSpPr>
        <p:spPr>
          <a:xfrm>
            <a:off x="609600" y="12192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5D6C8E"/>
                </a:solidFill>
                <a:latin typeface="Aptos" panose="020B0004020202020204" pitchFamily="34" charset="0"/>
              </a:rPr>
              <a:t>The workflow is clear: job seekers need role-specific feedback before they apply.</a:t>
            </a:r>
            <a:endParaRPr lang="en-IN" sz="1500">
              <a:solidFill>
                <a:srgbClr val="5D6C8E"/>
              </a:solidFill>
              <a:latin typeface="Aptos" panose="020B00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99896DF-B522-FBE8-5444-158966343AEA}"/>
              </a:ext>
            </a:extLst>
          </p:cNvPr>
          <p:cNvCxnSpPr/>
          <p:nvPr/>
        </p:nvCxnSpPr>
        <p:spPr>
          <a:xfrm>
            <a:off x="609600" y="1625600"/>
            <a:ext cx="10972800" cy="0"/>
          </a:xfrm>
          <a:prstGeom prst="line">
            <a:avLst/>
          </a:prstGeom>
          <a:ln w="12700">
            <a:solidFill>
              <a:srgbClr val="D7E0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83781D6-5E24-29B2-0911-57FDFCFB85DB}"/>
              </a:ext>
            </a:extLst>
          </p:cNvPr>
          <p:cNvSpPr/>
          <p:nvPr/>
        </p:nvSpPr>
        <p:spPr>
          <a:xfrm>
            <a:off x="10414000" y="330200"/>
            <a:ext cx="1168400" cy="304800"/>
          </a:xfrm>
          <a:prstGeom prst="roundRect">
            <a:avLst/>
          </a:prstGeom>
          <a:solidFill>
            <a:srgbClr val="F2E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CF1710-6D35-1951-342C-50E58CEA4DD7}"/>
              </a:ext>
            </a:extLst>
          </p:cNvPr>
          <p:cNvSpPr txBox="1"/>
          <p:nvPr/>
        </p:nvSpPr>
        <p:spPr>
          <a:xfrm>
            <a:off x="10541000" y="381000"/>
            <a:ext cx="914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 b="1">
                <a:solidFill>
                  <a:srgbClr val="5B43F2"/>
                </a:solidFill>
                <a:latin typeface="Aptos" panose="020B0004020202020204" pitchFamily="34" charset="0"/>
              </a:rPr>
              <a:t>METRIC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0AE96B-B2E6-9583-1D85-45810089753A}"/>
              </a:ext>
            </a:extLst>
          </p:cNvPr>
          <p:cNvSpPr txBox="1"/>
          <p:nvPr/>
        </p:nvSpPr>
        <p:spPr>
          <a:xfrm>
            <a:off x="609600" y="19812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b="1">
                <a:solidFill>
                  <a:srgbClr val="0F1734"/>
                </a:solidFill>
                <a:latin typeface="Aptos" panose="020B0004020202020204" pitchFamily="34" charset="0"/>
              </a:rPr>
              <a:t>Primary users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0A09BB-FFF0-2276-A2AB-11B871101A27}"/>
              </a:ext>
            </a:extLst>
          </p:cNvPr>
          <p:cNvSpPr txBox="1"/>
          <p:nvPr/>
        </p:nvSpPr>
        <p:spPr>
          <a:xfrm>
            <a:off x="609600" y="2413000"/>
            <a:ext cx="3683000" cy="120032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>
                <a:solidFill>
                  <a:srgbClr val="1A223C"/>
                </a:solidFill>
                <a:latin typeface="Aptos" panose="020B0004020202020204" pitchFamily="34" charset="0"/>
              </a:rPr>
              <a:t>Students and freshers</a:t>
            </a:r>
          </a:p>
          <a:p>
            <a:r>
              <a:rPr lang="en-US" sz="1900">
                <a:solidFill>
                  <a:srgbClr val="1A223C"/>
                </a:solidFill>
                <a:latin typeface="Aptos" panose="020B0004020202020204" pitchFamily="34" charset="0"/>
              </a:rPr>
              <a:t>Working professionals</a:t>
            </a:r>
          </a:p>
          <a:p>
            <a:r>
              <a:rPr lang="en-US" sz="1900">
                <a:solidFill>
                  <a:srgbClr val="1A223C"/>
                </a:solidFill>
                <a:latin typeface="Aptos" panose="020B0004020202020204" pitchFamily="34" charset="0"/>
              </a:rPr>
              <a:t>Anyone tailoring a resume to a specific role</a:t>
            </a:r>
            <a:endParaRPr lang="en-IN" sz="1900">
              <a:solidFill>
                <a:srgbClr val="1A223C"/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172F3F-4655-168A-3783-5F69909D3D4F}"/>
              </a:ext>
            </a:extLst>
          </p:cNvPr>
          <p:cNvSpPr txBox="1"/>
          <p:nvPr/>
        </p:nvSpPr>
        <p:spPr>
          <a:xfrm>
            <a:off x="609600" y="38608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b="1">
                <a:solidFill>
                  <a:srgbClr val="0F1734"/>
                </a:solidFill>
                <a:latin typeface="Aptos" panose="020B0004020202020204" pitchFamily="34" charset="0"/>
              </a:rPr>
              <a:t>Observed friction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EF4998-409D-6D32-29B7-EB89F39D969A}"/>
              </a:ext>
            </a:extLst>
          </p:cNvPr>
          <p:cNvSpPr txBox="1"/>
          <p:nvPr/>
        </p:nvSpPr>
        <p:spPr>
          <a:xfrm>
            <a:off x="609600" y="4292600"/>
            <a:ext cx="4127500" cy="120032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>
                <a:solidFill>
                  <a:srgbClr val="1A223C"/>
                </a:solidFill>
                <a:latin typeface="Aptos" panose="020B0004020202020204" pitchFamily="34" charset="0"/>
              </a:rPr>
              <a:t>Manual resume-to-JD comparison</a:t>
            </a:r>
          </a:p>
          <a:p>
            <a:r>
              <a:rPr lang="en-US" sz="1700">
                <a:solidFill>
                  <a:srgbClr val="1A223C"/>
                </a:solidFill>
                <a:latin typeface="Aptos" panose="020B0004020202020204" pitchFamily="34" charset="0"/>
              </a:rPr>
              <a:t>Generic advice that ignores the target role</a:t>
            </a:r>
          </a:p>
          <a:p>
            <a:r>
              <a:rPr lang="en-US" sz="1700">
                <a:solidFill>
                  <a:srgbClr val="1A223C"/>
                </a:solidFill>
                <a:latin typeface="Aptos" panose="020B0004020202020204" pitchFamily="34" charset="0"/>
              </a:rPr>
              <a:t>Unclear gaps before an application</a:t>
            </a:r>
          </a:p>
          <a:p>
            <a:r>
              <a:rPr lang="en-US" sz="1700">
                <a:solidFill>
                  <a:srgbClr val="1A223C"/>
                </a:solidFill>
                <a:latin typeface="Aptos" panose="020B0004020202020204" pitchFamily="34" charset="0"/>
              </a:rPr>
              <a:t>Copy-paste effort across job boards</a:t>
            </a:r>
            <a:endParaRPr lang="en-IN" sz="1700">
              <a:solidFill>
                <a:srgbClr val="1A223C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EBCE4FF-FA4E-B4D0-AC26-F9CC41994EE8}"/>
              </a:ext>
            </a:extLst>
          </p:cNvPr>
          <p:cNvSpPr/>
          <p:nvPr/>
        </p:nvSpPr>
        <p:spPr>
          <a:xfrm>
            <a:off x="5638800" y="1981200"/>
            <a:ext cx="5334000" cy="370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2D2F6D-F40D-AB29-9C80-372559341B5E}"/>
              </a:ext>
            </a:extLst>
          </p:cNvPr>
          <p:cNvSpPr txBox="1"/>
          <p:nvPr/>
        </p:nvSpPr>
        <p:spPr>
          <a:xfrm>
            <a:off x="6045200" y="2336800"/>
            <a:ext cx="330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2400" b="1">
                <a:solidFill>
                  <a:srgbClr val="5B43F2"/>
                </a:solidFill>
                <a:latin typeface="Aptos" panose="020B0004020202020204" pitchFamily="34" charset="0"/>
              </a:rPr>
              <a:t>The opportunity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FAE33E-28E3-3D13-4C62-4C1E2998EFA1}"/>
              </a:ext>
            </a:extLst>
          </p:cNvPr>
          <p:cNvSpPr txBox="1"/>
          <p:nvPr/>
        </p:nvSpPr>
        <p:spPr>
          <a:xfrm>
            <a:off x="6045200" y="2870200"/>
            <a:ext cx="4445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 b="1">
                <a:solidFill>
                  <a:srgbClr val="0F1734"/>
                </a:solidFill>
                <a:latin typeface="Aptos" panose="020B0004020202020204" pitchFamily="34" charset="0"/>
              </a:rPr>
              <a:t>Make the “should I apply?” decision more informed.</a:t>
            </a:r>
            <a:endParaRPr lang="en-IN" sz="2600" b="1">
              <a:solidFill>
                <a:srgbClr val="0F1734"/>
              </a:solidFill>
              <a:latin typeface="Aptos" panose="020B0004020202020204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3B459DB-AC3B-48B4-D4F6-FA733C34E71C}"/>
              </a:ext>
            </a:extLst>
          </p:cNvPr>
          <p:cNvCxnSpPr/>
          <p:nvPr/>
        </p:nvCxnSpPr>
        <p:spPr>
          <a:xfrm>
            <a:off x="6045200" y="3632200"/>
            <a:ext cx="4419600" cy="0"/>
          </a:xfrm>
          <a:prstGeom prst="line">
            <a:avLst/>
          </a:prstGeom>
          <a:ln w="12700">
            <a:solidFill>
              <a:srgbClr val="D7E0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D4B5EBAA-E4E0-002E-3075-0B831C52AC42}"/>
              </a:ext>
            </a:extLst>
          </p:cNvPr>
          <p:cNvSpPr/>
          <p:nvPr/>
        </p:nvSpPr>
        <p:spPr>
          <a:xfrm>
            <a:off x="6172200" y="4013200"/>
            <a:ext cx="431800" cy="431800"/>
          </a:xfrm>
          <a:prstGeom prst="ellipse">
            <a:avLst/>
          </a:prstGeom>
          <a:solidFill>
            <a:srgbClr val="F2E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BD6284-3768-6C9E-4E8D-00F0E135838A}"/>
              </a:ext>
            </a:extLst>
          </p:cNvPr>
          <p:cNvSpPr txBox="1"/>
          <p:nvPr/>
        </p:nvSpPr>
        <p:spPr>
          <a:xfrm>
            <a:off x="6273800" y="4127500"/>
            <a:ext cx="2286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 b="1">
                <a:solidFill>
                  <a:srgbClr val="5B43F2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35ADB2-3155-516F-F2ED-16BEC0D56FAC}"/>
              </a:ext>
            </a:extLst>
          </p:cNvPr>
          <p:cNvSpPr txBox="1"/>
          <p:nvPr/>
        </p:nvSpPr>
        <p:spPr>
          <a:xfrm>
            <a:off x="6807200" y="4025900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 b="1">
                <a:solidFill>
                  <a:srgbClr val="1A223C"/>
                </a:solidFill>
                <a:latin typeface="Aptos" panose="020B0004020202020204" pitchFamily="34" charset="0"/>
              </a:rPr>
              <a:t>Surface evidence from the resume</a:t>
            </a:r>
            <a:endParaRPr lang="en-IN" sz="1700" b="1">
              <a:solidFill>
                <a:srgbClr val="1A223C"/>
              </a:solidFill>
              <a:latin typeface="Aptos" panose="020B0004020202020204" pitchFamily="34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59CFFB7-9EF4-F9D4-9E2A-8761D17F6755}"/>
              </a:ext>
            </a:extLst>
          </p:cNvPr>
          <p:cNvSpPr/>
          <p:nvPr/>
        </p:nvSpPr>
        <p:spPr>
          <a:xfrm>
            <a:off x="6172200" y="4572000"/>
            <a:ext cx="431800" cy="431800"/>
          </a:xfrm>
          <a:prstGeom prst="ellipse">
            <a:avLst/>
          </a:prstGeom>
          <a:solidFill>
            <a:srgbClr val="E9F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B1A1152-BDC0-E539-8F7D-6DE2A70B872F}"/>
              </a:ext>
            </a:extLst>
          </p:cNvPr>
          <p:cNvSpPr txBox="1"/>
          <p:nvPr/>
        </p:nvSpPr>
        <p:spPr>
          <a:xfrm>
            <a:off x="6273800" y="4686300"/>
            <a:ext cx="2286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 b="1">
                <a:solidFill>
                  <a:srgbClr val="268EDA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F52408-E9BB-B23B-ED8D-2AEB0FCFB10C}"/>
              </a:ext>
            </a:extLst>
          </p:cNvPr>
          <p:cNvSpPr txBox="1"/>
          <p:nvPr/>
        </p:nvSpPr>
        <p:spPr>
          <a:xfrm>
            <a:off x="6807200" y="4584700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 b="1">
                <a:solidFill>
                  <a:srgbClr val="1A223C"/>
                </a:solidFill>
                <a:latin typeface="Aptos" panose="020B0004020202020204" pitchFamily="34" charset="0"/>
              </a:rPr>
              <a:t>Compare against the target role</a:t>
            </a:r>
            <a:endParaRPr lang="en-IN" sz="1700" b="1">
              <a:solidFill>
                <a:srgbClr val="1A223C"/>
              </a:solidFill>
              <a:latin typeface="Aptos" panose="020B0004020202020204" pitchFamily="34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C39BA0D-D27E-5213-B9AC-9272EFADBF58}"/>
              </a:ext>
            </a:extLst>
          </p:cNvPr>
          <p:cNvSpPr/>
          <p:nvPr/>
        </p:nvSpPr>
        <p:spPr>
          <a:xfrm>
            <a:off x="6172200" y="5130800"/>
            <a:ext cx="431800" cy="431800"/>
          </a:xfrm>
          <a:prstGeom prst="ellipse">
            <a:avLst/>
          </a:prstGeom>
          <a:solidFill>
            <a:srgbClr val="E6FA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0EC24D6-98AC-A795-FB54-9766C60F6D38}"/>
              </a:ext>
            </a:extLst>
          </p:cNvPr>
          <p:cNvSpPr txBox="1"/>
          <p:nvPr/>
        </p:nvSpPr>
        <p:spPr>
          <a:xfrm>
            <a:off x="6273800" y="5245100"/>
            <a:ext cx="2286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 b="1">
                <a:solidFill>
                  <a:srgbClr val="21C294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BA6D688-1138-A218-E52B-D8F93E3C3CD3}"/>
              </a:ext>
            </a:extLst>
          </p:cNvPr>
          <p:cNvSpPr txBox="1"/>
          <p:nvPr/>
        </p:nvSpPr>
        <p:spPr>
          <a:xfrm>
            <a:off x="6807200" y="5143500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 b="1">
                <a:solidFill>
                  <a:srgbClr val="1A223C"/>
                </a:solidFill>
                <a:latin typeface="Aptos" panose="020B0004020202020204" pitchFamily="34" charset="0"/>
              </a:rPr>
              <a:t>Turn missing skills into actions</a:t>
            </a:r>
            <a:endParaRPr lang="en-IN" sz="1700" b="1">
              <a:solidFill>
                <a:srgbClr val="1A223C"/>
              </a:solidFill>
              <a:latin typeface="Aptos" panose="020B00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DE9A2CE-E1FC-C8EF-F1F1-DF5E1D47958E}"/>
              </a:ext>
            </a:extLst>
          </p:cNvPr>
          <p:cNvSpPr txBox="1"/>
          <p:nvPr/>
        </p:nvSpPr>
        <p:spPr>
          <a:xfrm>
            <a:off x="609600" y="60198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5D6C8E"/>
                </a:solidFill>
                <a:latin typeface="Aptos" panose="020B0004020202020204" pitchFamily="34" charset="0"/>
              </a:rPr>
              <a:t>Why it matters: job seekers receive a plan they can use immediately.</a:t>
            </a:r>
            <a:endParaRPr lang="en-IN" sz="1400">
              <a:solidFill>
                <a:srgbClr val="5D6C8E"/>
              </a:solidFill>
              <a:latin typeface="Aptos" panose="020B00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1FD757-90F3-53E7-1D93-742EAB6DC414}"/>
              </a:ext>
            </a:extLst>
          </p:cNvPr>
          <p:cNvSpPr txBox="1"/>
          <p:nvPr/>
        </p:nvSpPr>
        <p:spPr>
          <a:xfrm>
            <a:off x="609600" y="65532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900">
                <a:solidFill>
                  <a:srgbClr val="5D6C8E"/>
                </a:solidFill>
                <a:latin typeface="Aptos" panose="020B0004020202020204" pitchFamily="34" charset="0"/>
              </a:rPr>
              <a:t>MSE-1 | KIET MCA | Personalized Career Mentor AI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F0C01EE-25A9-86FA-55C3-DB1F78A529DB}"/>
              </a:ext>
            </a:extLst>
          </p:cNvPr>
          <p:cNvSpPr txBox="1"/>
          <p:nvPr/>
        </p:nvSpPr>
        <p:spPr>
          <a:xfrm>
            <a:off x="11303000" y="6553200"/>
            <a:ext cx="279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900" b="1">
                <a:solidFill>
                  <a:srgbClr val="5D6C8E"/>
                </a:solidFill>
                <a:latin typeface="Aptos" panose="020B0004020202020204" pitchFamily="34" charset="0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782929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DA7E01-6C74-8B62-E2AA-B6A47168EE3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9E05088-34D1-67DB-22CD-C3FA698516F1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5B43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FE6C0D-EA52-860C-629A-9E9F127C7CB7}"/>
              </a:ext>
            </a:extLst>
          </p:cNvPr>
          <p:cNvSpPr txBox="1"/>
          <p:nvPr/>
        </p:nvSpPr>
        <p:spPr>
          <a:xfrm>
            <a:off x="609600" y="330200"/>
            <a:ext cx="3302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100" b="1">
                <a:solidFill>
                  <a:srgbClr val="5B43F2"/>
                </a:solidFill>
                <a:latin typeface="Aptos" panose="020B0004020202020204" pitchFamily="34" charset="0"/>
              </a:rPr>
              <a:t>METRIC 2 | PROBLEM STATEMENT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696468-9DE5-198C-7EDC-859C1D706201}"/>
              </a:ext>
            </a:extLst>
          </p:cNvPr>
          <p:cNvSpPr txBox="1"/>
          <p:nvPr/>
        </p:nvSpPr>
        <p:spPr>
          <a:xfrm>
            <a:off x="609600" y="6350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3000" b="1">
                <a:solidFill>
                  <a:srgbClr val="0F1734"/>
                </a:solidFill>
                <a:latin typeface="Aptos" panose="020B0004020202020204" pitchFamily="34" charset="0"/>
              </a:rPr>
              <a:t>Problem definition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D25D66-4733-7C43-A015-7C9DBC448F31}"/>
              </a:ext>
            </a:extLst>
          </p:cNvPr>
          <p:cNvSpPr txBox="1"/>
          <p:nvPr/>
        </p:nvSpPr>
        <p:spPr>
          <a:xfrm>
            <a:off x="609600" y="12192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5D6C8E"/>
                </a:solidFill>
                <a:latin typeface="Aptos" panose="020B0004020202020204" pitchFamily="34" charset="0"/>
              </a:rPr>
              <a:t>A precise problem statement anchors the product around one decision: fit for this role.</a:t>
            </a:r>
            <a:endParaRPr lang="en-IN" sz="1500">
              <a:solidFill>
                <a:srgbClr val="5D6C8E"/>
              </a:solidFill>
              <a:latin typeface="Aptos" panose="020B00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BD004D-8C07-3A34-BF01-11E12E9797B6}"/>
              </a:ext>
            </a:extLst>
          </p:cNvPr>
          <p:cNvCxnSpPr/>
          <p:nvPr/>
        </p:nvCxnSpPr>
        <p:spPr>
          <a:xfrm>
            <a:off x="609600" y="1625600"/>
            <a:ext cx="10972800" cy="0"/>
          </a:xfrm>
          <a:prstGeom prst="line">
            <a:avLst/>
          </a:prstGeom>
          <a:ln w="12700">
            <a:solidFill>
              <a:srgbClr val="D7E0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3A9F2DC-E52A-DDA8-BAFF-2170B0E64DDE}"/>
              </a:ext>
            </a:extLst>
          </p:cNvPr>
          <p:cNvSpPr/>
          <p:nvPr/>
        </p:nvSpPr>
        <p:spPr>
          <a:xfrm>
            <a:off x="10414000" y="330200"/>
            <a:ext cx="1168400" cy="304800"/>
          </a:xfrm>
          <a:prstGeom prst="roundRect">
            <a:avLst/>
          </a:prstGeom>
          <a:solidFill>
            <a:srgbClr val="F2E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3DD3E0-A785-F37E-BF97-3A93B1BB2356}"/>
              </a:ext>
            </a:extLst>
          </p:cNvPr>
          <p:cNvSpPr txBox="1"/>
          <p:nvPr/>
        </p:nvSpPr>
        <p:spPr>
          <a:xfrm>
            <a:off x="10541000" y="381000"/>
            <a:ext cx="914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 b="1">
                <a:solidFill>
                  <a:srgbClr val="5B43F2"/>
                </a:solidFill>
                <a:latin typeface="Aptos" panose="020B0004020202020204" pitchFamily="34" charset="0"/>
              </a:rPr>
              <a:t>METRIC 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87DB042-D7AE-A627-2A60-0D6C5B22BE68}"/>
              </a:ext>
            </a:extLst>
          </p:cNvPr>
          <p:cNvSpPr/>
          <p:nvPr/>
        </p:nvSpPr>
        <p:spPr>
          <a:xfrm>
            <a:off x="609600" y="1955800"/>
            <a:ext cx="10972800" cy="1371600"/>
          </a:xfrm>
          <a:prstGeom prst="roundRect">
            <a:avLst/>
          </a:prstGeom>
          <a:solidFill>
            <a:srgbClr val="0F17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9F46CD-4918-DEB5-3B9D-EBB377855ABD}"/>
              </a:ext>
            </a:extLst>
          </p:cNvPr>
          <p:cNvSpPr txBox="1"/>
          <p:nvPr/>
        </p:nvSpPr>
        <p:spPr>
          <a:xfrm>
            <a:off x="965200" y="2260600"/>
            <a:ext cx="10312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Aptos" panose="020B0004020202020204" pitchFamily="34" charset="0"/>
              </a:rPr>
              <a:t>Job seekers often apply without knowing how closely their resume matches a specific job, which skills are missing, or what to improve before applying.</a:t>
            </a:r>
            <a:endParaRPr lang="en-IN" sz="24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93E0313-A1F3-AA37-B158-C23D92BA19FE}"/>
              </a:ext>
            </a:extLst>
          </p:cNvPr>
          <p:cNvSpPr/>
          <p:nvPr/>
        </p:nvSpPr>
        <p:spPr>
          <a:xfrm>
            <a:off x="609600" y="3759200"/>
            <a:ext cx="2057400" cy="172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EA9DFDE-813C-88A8-A4FB-EFE6AB580462}"/>
              </a:ext>
            </a:extLst>
          </p:cNvPr>
          <p:cNvSpPr/>
          <p:nvPr/>
        </p:nvSpPr>
        <p:spPr>
          <a:xfrm>
            <a:off x="812800" y="3987800"/>
            <a:ext cx="787400" cy="304800"/>
          </a:xfrm>
          <a:prstGeom prst="roundRect">
            <a:avLst/>
          </a:prstGeom>
          <a:solidFill>
            <a:srgbClr val="F2E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92F7EC-C199-585C-5E18-546877AE775E}"/>
              </a:ext>
            </a:extLst>
          </p:cNvPr>
          <p:cNvSpPr txBox="1"/>
          <p:nvPr/>
        </p:nvSpPr>
        <p:spPr>
          <a:xfrm>
            <a:off x="939800" y="4038600"/>
            <a:ext cx="533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 b="1">
                <a:solidFill>
                  <a:srgbClr val="5B43F2"/>
                </a:solidFill>
                <a:latin typeface="Aptos" panose="020B0004020202020204" pitchFamily="34" charset="0"/>
              </a:rPr>
              <a:t>WHO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186B90-900B-F17A-64A6-7D09F33BF4A8}"/>
              </a:ext>
            </a:extLst>
          </p:cNvPr>
          <p:cNvSpPr txBox="1"/>
          <p:nvPr/>
        </p:nvSpPr>
        <p:spPr>
          <a:xfrm>
            <a:off x="812800" y="4445000"/>
            <a:ext cx="1651000" cy="120032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1A223C"/>
                </a:solidFill>
                <a:latin typeface="Aptos" panose="020B0004020202020204" pitchFamily="34" charset="0"/>
              </a:rPr>
              <a:t>Students, freshers, working professionals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A6139E3-60A9-78EE-C747-5025B699938B}"/>
              </a:ext>
            </a:extLst>
          </p:cNvPr>
          <p:cNvSpPr/>
          <p:nvPr/>
        </p:nvSpPr>
        <p:spPr>
          <a:xfrm>
            <a:off x="2844800" y="3759200"/>
            <a:ext cx="2057400" cy="172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BFD1377-A1FB-2A10-F98A-F220F556A202}"/>
              </a:ext>
            </a:extLst>
          </p:cNvPr>
          <p:cNvSpPr/>
          <p:nvPr/>
        </p:nvSpPr>
        <p:spPr>
          <a:xfrm>
            <a:off x="3048000" y="3987800"/>
            <a:ext cx="787400" cy="304800"/>
          </a:xfrm>
          <a:prstGeom prst="roundRect">
            <a:avLst/>
          </a:prstGeom>
          <a:solidFill>
            <a:srgbClr val="F2E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650433-D013-4741-D2C9-80F79A6BBE58}"/>
              </a:ext>
            </a:extLst>
          </p:cNvPr>
          <p:cNvSpPr txBox="1"/>
          <p:nvPr/>
        </p:nvSpPr>
        <p:spPr>
          <a:xfrm>
            <a:off x="3175000" y="4038600"/>
            <a:ext cx="533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 b="1">
                <a:solidFill>
                  <a:srgbClr val="268EDA"/>
                </a:solidFill>
                <a:latin typeface="Aptos" panose="020B0004020202020204" pitchFamily="34" charset="0"/>
              </a:rPr>
              <a:t>WHAT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D79512-F019-B69E-B405-4D1FF97C5ED7}"/>
              </a:ext>
            </a:extLst>
          </p:cNvPr>
          <p:cNvSpPr txBox="1"/>
          <p:nvPr/>
        </p:nvSpPr>
        <p:spPr>
          <a:xfrm>
            <a:off x="3048000" y="4445000"/>
            <a:ext cx="1651000" cy="120032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>
                <a:solidFill>
                  <a:srgbClr val="1A223C"/>
                </a:solidFill>
                <a:latin typeface="Aptos" panose="020B0004020202020204" pitchFamily="34" charset="0"/>
              </a:rPr>
              <a:t>Resume and job description do not line up clearly</a:t>
            </a:r>
            <a:endParaRPr lang="en-IN" sz="1500" b="1">
              <a:solidFill>
                <a:srgbClr val="1A223C"/>
              </a:solidFill>
              <a:latin typeface="Aptos" panose="020B000402020202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B05D5F9-80B3-7279-66E9-8FA929A3D931}"/>
              </a:ext>
            </a:extLst>
          </p:cNvPr>
          <p:cNvSpPr/>
          <p:nvPr/>
        </p:nvSpPr>
        <p:spPr>
          <a:xfrm>
            <a:off x="5080000" y="3759200"/>
            <a:ext cx="2057400" cy="172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2C33BA1-8DE3-0020-BA26-72F13B0A9D92}"/>
              </a:ext>
            </a:extLst>
          </p:cNvPr>
          <p:cNvSpPr/>
          <p:nvPr/>
        </p:nvSpPr>
        <p:spPr>
          <a:xfrm>
            <a:off x="5283200" y="3987800"/>
            <a:ext cx="787400" cy="304800"/>
          </a:xfrm>
          <a:prstGeom prst="roundRect">
            <a:avLst/>
          </a:prstGeom>
          <a:solidFill>
            <a:srgbClr val="F2E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C9F90F-46C0-F0D3-27F8-CB44185FA5E6}"/>
              </a:ext>
            </a:extLst>
          </p:cNvPr>
          <p:cNvSpPr txBox="1"/>
          <p:nvPr/>
        </p:nvSpPr>
        <p:spPr>
          <a:xfrm>
            <a:off x="5410200" y="4038600"/>
            <a:ext cx="533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 b="1">
                <a:solidFill>
                  <a:srgbClr val="15B9DC"/>
                </a:solidFill>
                <a:latin typeface="Aptos" panose="020B0004020202020204" pitchFamily="34" charset="0"/>
              </a:rPr>
              <a:t>WHERE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661E0A-0487-F349-3034-A3683ECF715E}"/>
              </a:ext>
            </a:extLst>
          </p:cNvPr>
          <p:cNvSpPr txBox="1"/>
          <p:nvPr/>
        </p:nvSpPr>
        <p:spPr>
          <a:xfrm>
            <a:off x="5283200" y="4445000"/>
            <a:ext cx="1651000" cy="147732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>
                <a:solidFill>
                  <a:srgbClr val="1A223C"/>
                </a:solidFill>
                <a:latin typeface="Aptos" panose="020B0004020202020204" pitchFamily="34" charset="0"/>
              </a:rPr>
              <a:t>Web applications and fast-moving job boards</a:t>
            </a:r>
            <a:endParaRPr lang="en-IN" sz="1500" b="1">
              <a:solidFill>
                <a:srgbClr val="1A223C"/>
              </a:solidFill>
              <a:latin typeface="Aptos" panose="020B000402020202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7BB97F7-886E-31E5-14E7-08D1C9958535}"/>
              </a:ext>
            </a:extLst>
          </p:cNvPr>
          <p:cNvSpPr/>
          <p:nvPr/>
        </p:nvSpPr>
        <p:spPr>
          <a:xfrm>
            <a:off x="7315200" y="3759200"/>
            <a:ext cx="2057400" cy="172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EFC0CA7-1797-1C9A-F53F-686BB3331F6B}"/>
              </a:ext>
            </a:extLst>
          </p:cNvPr>
          <p:cNvSpPr/>
          <p:nvPr/>
        </p:nvSpPr>
        <p:spPr>
          <a:xfrm>
            <a:off x="7518400" y="3987800"/>
            <a:ext cx="787400" cy="304800"/>
          </a:xfrm>
          <a:prstGeom prst="roundRect">
            <a:avLst/>
          </a:prstGeom>
          <a:solidFill>
            <a:srgbClr val="F2E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82A72C-B346-238F-D7AD-C16655676785}"/>
              </a:ext>
            </a:extLst>
          </p:cNvPr>
          <p:cNvSpPr txBox="1"/>
          <p:nvPr/>
        </p:nvSpPr>
        <p:spPr>
          <a:xfrm>
            <a:off x="7645400" y="4038600"/>
            <a:ext cx="533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 b="1">
                <a:solidFill>
                  <a:srgbClr val="21C294"/>
                </a:solidFill>
                <a:latin typeface="Aptos" panose="020B0004020202020204" pitchFamily="34" charset="0"/>
              </a:rPr>
              <a:t>WHEN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7404E8-76A8-AA0A-9A71-29486AC2849F}"/>
              </a:ext>
            </a:extLst>
          </p:cNvPr>
          <p:cNvSpPr txBox="1"/>
          <p:nvPr/>
        </p:nvSpPr>
        <p:spPr>
          <a:xfrm>
            <a:off x="7518400" y="4445000"/>
            <a:ext cx="1651000" cy="120032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>
                <a:solidFill>
                  <a:srgbClr val="1A223C"/>
                </a:solidFill>
                <a:latin typeface="Aptos" panose="020B0004020202020204" pitchFamily="34" charset="0"/>
              </a:rPr>
              <a:t>Before applying or preparing for an interview</a:t>
            </a:r>
            <a:endParaRPr lang="en-IN" sz="1500" b="1">
              <a:solidFill>
                <a:srgbClr val="1A223C"/>
              </a:solidFill>
              <a:latin typeface="Aptos" panose="020B0004020202020204" pitchFamily="34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CC2B39F-97F4-7176-65F3-EB42E7B19BDB}"/>
              </a:ext>
            </a:extLst>
          </p:cNvPr>
          <p:cNvSpPr/>
          <p:nvPr/>
        </p:nvSpPr>
        <p:spPr>
          <a:xfrm>
            <a:off x="9550400" y="3759200"/>
            <a:ext cx="2057400" cy="172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CC05DA4-7926-C7E8-2F4B-C53E270D1246}"/>
              </a:ext>
            </a:extLst>
          </p:cNvPr>
          <p:cNvSpPr/>
          <p:nvPr/>
        </p:nvSpPr>
        <p:spPr>
          <a:xfrm>
            <a:off x="9753600" y="3987800"/>
            <a:ext cx="787400" cy="304800"/>
          </a:xfrm>
          <a:prstGeom prst="roundRect">
            <a:avLst/>
          </a:prstGeom>
          <a:solidFill>
            <a:srgbClr val="F2E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D0E19A-1915-A036-D2E6-66EA33C9A9D0}"/>
              </a:ext>
            </a:extLst>
          </p:cNvPr>
          <p:cNvSpPr txBox="1"/>
          <p:nvPr/>
        </p:nvSpPr>
        <p:spPr>
          <a:xfrm>
            <a:off x="9880600" y="4038600"/>
            <a:ext cx="533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 b="1">
                <a:solidFill>
                  <a:srgbClr val="F469A6"/>
                </a:solidFill>
                <a:latin typeface="Aptos" panose="020B0004020202020204" pitchFamily="34" charset="0"/>
              </a:rPr>
              <a:t>WHY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4E4D279-A7B8-003C-0B73-715CDF3C88E1}"/>
              </a:ext>
            </a:extLst>
          </p:cNvPr>
          <p:cNvSpPr txBox="1"/>
          <p:nvPr/>
        </p:nvSpPr>
        <p:spPr>
          <a:xfrm>
            <a:off x="9753600" y="4445000"/>
            <a:ext cx="1651000" cy="120032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>
                <a:solidFill>
                  <a:srgbClr val="1A223C"/>
                </a:solidFill>
                <a:latin typeface="Aptos" panose="020B0004020202020204" pitchFamily="34" charset="0"/>
              </a:rPr>
              <a:t>Manual comparison is slow and easy to miss</a:t>
            </a:r>
            <a:endParaRPr lang="en-IN" sz="1500" b="1">
              <a:solidFill>
                <a:srgbClr val="1A223C"/>
              </a:solidFill>
              <a:latin typeface="Aptos" panose="020B00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D2B8C09-4DC8-3952-BE6A-07BB1900EAFC}"/>
              </a:ext>
            </a:extLst>
          </p:cNvPr>
          <p:cNvSpPr txBox="1"/>
          <p:nvPr/>
        </p:nvSpPr>
        <p:spPr>
          <a:xfrm>
            <a:off x="609600" y="5816600"/>
            <a:ext cx="1778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200" b="1">
                <a:solidFill>
                  <a:srgbClr val="5B43F2"/>
                </a:solidFill>
                <a:latin typeface="Aptos" panose="020B0004020202020204" pitchFamily="34" charset="0"/>
              </a:rPr>
              <a:t>Product response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678320C-6C30-9082-A339-12DC4072550F}"/>
              </a:ext>
            </a:extLst>
          </p:cNvPr>
          <p:cNvSpPr txBox="1"/>
          <p:nvPr/>
        </p:nvSpPr>
        <p:spPr>
          <a:xfrm>
            <a:off x="2311400" y="5765800"/>
            <a:ext cx="825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>
                <a:solidFill>
                  <a:srgbClr val="0F1734"/>
                </a:solidFill>
                <a:latin typeface="Aptos" panose="020B0004020202020204" pitchFamily="34" charset="0"/>
              </a:rPr>
              <a:t>Compare the inputs, explain the fit, and show what to do next.</a:t>
            </a:r>
            <a:endParaRPr lang="en-IN" sz="2000" b="1">
              <a:solidFill>
                <a:srgbClr val="0F1734"/>
              </a:solidFill>
              <a:latin typeface="Aptos" panose="020B00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A5D0B3B-35CD-9F22-A28E-DA41A86F2ABE}"/>
              </a:ext>
            </a:extLst>
          </p:cNvPr>
          <p:cNvSpPr txBox="1"/>
          <p:nvPr/>
        </p:nvSpPr>
        <p:spPr>
          <a:xfrm>
            <a:off x="609600" y="65532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900">
                <a:solidFill>
                  <a:srgbClr val="5D6C8E"/>
                </a:solidFill>
                <a:latin typeface="Aptos" panose="020B0004020202020204" pitchFamily="34" charset="0"/>
              </a:rPr>
              <a:t>MSE-1 | KIET MCA | Personalized Career Mentor AI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03459A0-3789-C3C2-E800-B3E5866F6989}"/>
              </a:ext>
            </a:extLst>
          </p:cNvPr>
          <p:cNvSpPr txBox="1"/>
          <p:nvPr/>
        </p:nvSpPr>
        <p:spPr>
          <a:xfrm>
            <a:off x="11303000" y="6553200"/>
            <a:ext cx="279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900" b="1">
                <a:solidFill>
                  <a:srgbClr val="5D6C8E"/>
                </a:solidFill>
                <a:latin typeface="Aptos" panose="020B0004020202020204" pitchFamily="34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42365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084D6C-3427-D01F-A81F-A64C9BAC495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6FF51D7-65E4-7C12-E7B6-F30AD2EBB8AA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5B43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582747-4498-B29A-7733-9B40B4A11F15}"/>
              </a:ext>
            </a:extLst>
          </p:cNvPr>
          <p:cNvSpPr txBox="1"/>
          <p:nvPr/>
        </p:nvSpPr>
        <p:spPr>
          <a:xfrm>
            <a:off x="609600" y="330200"/>
            <a:ext cx="3302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100" b="1">
                <a:solidFill>
                  <a:srgbClr val="5B43F2"/>
                </a:solidFill>
                <a:latin typeface="Aptos" panose="020B0004020202020204" pitchFamily="34" charset="0"/>
              </a:rPr>
              <a:t>METRIC 3 | BRAINSTORM &amp; PRIORITIZE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CFA7FC-4D8E-EAEB-1DBD-A7AC79A05F4E}"/>
              </a:ext>
            </a:extLst>
          </p:cNvPr>
          <p:cNvSpPr txBox="1"/>
          <p:nvPr/>
        </p:nvSpPr>
        <p:spPr>
          <a:xfrm>
            <a:off x="609600" y="6350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3000" b="1">
                <a:solidFill>
                  <a:srgbClr val="0F1734"/>
                </a:solidFill>
                <a:latin typeface="Aptos" panose="020B0004020202020204" pitchFamily="34" charset="0"/>
              </a:rPr>
              <a:t>Ideation &amp; prioritization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A36591-968D-D6C0-91D4-A90843FD6A8A}"/>
              </a:ext>
            </a:extLst>
          </p:cNvPr>
          <p:cNvSpPr txBox="1"/>
          <p:nvPr/>
        </p:nvSpPr>
        <p:spPr>
          <a:xfrm>
            <a:off x="609600" y="12192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5D6C8E"/>
                </a:solidFill>
                <a:latin typeface="Aptos" panose="020B0004020202020204" pitchFamily="34" charset="0"/>
              </a:rPr>
              <a:t>The chosen concept wins because it is relevant, feasible to build, and immediately actionable.</a:t>
            </a:r>
            <a:endParaRPr lang="en-IN" sz="1500">
              <a:solidFill>
                <a:srgbClr val="5D6C8E"/>
              </a:solidFill>
              <a:latin typeface="Aptos" panose="020B00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9E6A0C9-B8FE-E3A8-5290-875C2FD985E8}"/>
              </a:ext>
            </a:extLst>
          </p:cNvPr>
          <p:cNvCxnSpPr/>
          <p:nvPr/>
        </p:nvCxnSpPr>
        <p:spPr>
          <a:xfrm>
            <a:off x="609600" y="1625600"/>
            <a:ext cx="10972800" cy="0"/>
          </a:xfrm>
          <a:prstGeom prst="line">
            <a:avLst/>
          </a:prstGeom>
          <a:ln w="12700">
            <a:solidFill>
              <a:srgbClr val="D7E0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18D81EF-CD21-2D10-CF00-20F46C9E102F}"/>
              </a:ext>
            </a:extLst>
          </p:cNvPr>
          <p:cNvSpPr/>
          <p:nvPr/>
        </p:nvSpPr>
        <p:spPr>
          <a:xfrm>
            <a:off x="10414000" y="330200"/>
            <a:ext cx="1168400" cy="304800"/>
          </a:xfrm>
          <a:prstGeom prst="roundRect">
            <a:avLst/>
          </a:prstGeom>
          <a:solidFill>
            <a:srgbClr val="F2E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64D974-D9F7-55DC-DD87-EDC830E0DDDB}"/>
              </a:ext>
            </a:extLst>
          </p:cNvPr>
          <p:cNvSpPr txBox="1"/>
          <p:nvPr/>
        </p:nvSpPr>
        <p:spPr>
          <a:xfrm>
            <a:off x="10541000" y="381000"/>
            <a:ext cx="914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 b="1">
                <a:solidFill>
                  <a:srgbClr val="5B43F2"/>
                </a:solidFill>
                <a:latin typeface="Aptos" panose="020B0004020202020204" pitchFamily="34" charset="0"/>
              </a:rPr>
              <a:t>METRIC 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4F9A20-A254-9E85-F361-10811A6EE729}"/>
              </a:ext>
            </a:extLst>
          </p:cNvPr>
          <p:cNvSpPr txBox="1"/>
          <p:nvPr/>
        </p:nvSpPr>
        <p:spPr>
          <a:xfrm>
            <a:off x="990600" y="19812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200" b="1">
                <a:solidFill>
                  <a:srgbClr val="5D6C8E"/>
                </a:solidFill>
                <a:latin typeface="Aptos" panose="020B0004020202020204" pitchFamily="34" charset="0"/>
              </a:rPr>
              <a:t>Impact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7E553D-7CBD-280C-EB60-4958D46B586B}"/>
              </a:ext>
            </a:extLst>
          </p:cNvPr>
          <p:cNvSpPr txBox="1"/>
          <p:nvPr/>
        </p:nvSpPr>
        <p:spPr>
          <a:xfrm>
            <a:off x="990600" y="5384800"/>
            <a:ext cx="2540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200" b="1">
                <a:solidFill>
                  <a:srgbClr val="5D6C8E"/>
                </a:solidFill>
                <a:latin typeface="Aptos" panose="020B0004020202020204" pitchFamily="34" charset="0"/>
              </a:rPr>
              <a:t>Low effort  →  High effort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526CA48-B94F-8CF1-8043-A093E02E3579}"/>
              </a:ext>
            </a:extLst>
          </p:cNvPr>
          <p:cNvCxnSpPr/>
          <p:nvPr/>
        </p:nvCxnSpPr>
        <p:spPr>
          <a:xfrm>
            <a:off x="1397000" y="2438400"/>
            <a:ext cx="0" cy="2641600"/>
          </a:xfrm>
          <a:prstGeom prst="line">
            <a:avLst/>
          </a:prstGeom>
          <a:ln w="19050">
            <a:solidFill>
              <a:srgbClr val="D7E0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EAA864-EF9C-90AC-0F48-7E9E09EDB18C}"/>
              </a:ext>
            </a:extLst>
          </p:cNvPr>
          <p:cNvCxnSpPr/>
          <p:nvPr/>
        </p:nvCxnSpPr>
        <p:spPr>
          <a:xfrm>
            <a:off x="1397000" y="5080000"/>
            <a:ext cx="3886200" cy="0"/>
          </a:xfrm>
          <a:prstGeom prst="line">
            <a:avLst/>
          </a:prstGeom>
          <a:ln w="19050">
            <a:solidFill>
              <a:srgbClr val="D7E0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0147BFF-1707-21E1-A2FF-E3927B8119FF}"/>
              </a:ext>
            </a:extLst>
          </p:cNvPr>
          <p:cNvSpPr txBox="1"/>
          <p:nvPr/>
        </p:nvSpPr>
        <p:spPr>
          <a:xfrm>
            <a:off x="914400" y="2590800"/>
            <a:ext cx="508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200" b="1">
                <a:solidFill>
                  <a:srgbClr val="5D6C8E"/>
                </a:solidFill>
                <a:latin typeface="Aptos" panose="020B0004020202020204" pitchFamily="34" charset="0"/>
              </a:rPr>
              <a:t>High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68DB7F-6748-A126-BD4B-3231C16873D5}"/>
              </a:ext>
            </a:extLst>
          </p:cNvPr>
          <p:cNvSpPr txBox="1"/>
          <p:nvPr/>
        </p:nvSpPr>
        <p:spPr>
          <a:xfrm>
            <a:off x="914400" y="4851400"/>
            <a:ext cx="508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200" b="1">
                <a:solidFill>
                  <a:srgbClr val="5D6C8E"/>
                </a:solidFill>
                <a:latin typeface="Aptos" panose="020B0004020202020204" pitchFamily="34" charset="0"/>
              </a:rPr>
              <a:t>Low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3519434-4892-BC98-035D-B7A40EB2B104}"/>
              </a:ext>
            </a:extLst>
          </p:cNvPr>
          <p:cNvSpPr/>
          <p:nvPr/>
        </p:nvSpPr>
        <p:spPr>
          <a:xfrm>
            <a:off x="1955800" y="2997200"/>
            <a:ext cx="2209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7664B1-BFDA-BE78-CC66-CEE986A3C6C8}"/>
              </a:ext>
            </a:extLst>
          </p:cNvPr>
          <p:cNvSpPr txBox="1"/>
          <p:nvPr/>
        </p:nvSpPr>
        <p:spPr>
          <a:xfrm>
            <a:off x="2159000" y="3225800"/>
            <a:ext cx="1803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700" b="1">
                <a:solidFill>
                  <a:srgbClr val="1A223C"/>
                </a:solidFill>
                <a:latin typeface="Aptos" panose="020B0004020202020204" pitchFamily="34" charset="0"/>
              </a:rPr>
              <a:t>Generic resume</a:t>
            </a:r>
          </a:p>
          <a:p>
            <a:pPr algn="ctr"/>
            <a:r>
              <a:rPr lang="en-IN" sz="1700" b="1">
                <a:solidFill>
                  <a:srgbClr val="1A223C"/>
                </a:solidFill>
                <a:latin typeface="Aptos" panose="020B0004020202020204" pitchFamily="34" charset="0"/>
              </a:rPr>
              <a:t>checker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C1968F8-A475-CF46-95A5-87396A23B5E1}"/>
              </a:ext>
            </a:extLst>
          </p:cNvPr>
          <p:cNvSpPr/>
          <p:nvPr/>
        </p:nvSpPr>
        <p:spPr>
          <a:xfrm>
            <a:off x="1955800" y="4165600"/>
            <a:ext cx="2209800" cy="914400"/>
          </a:xfrm>
          <a:prstGeom prst="roundRect">
            <a:avLst/>
          </a:prstGeom>
          <a:solidFill>
            <a:srgbClr val="F2EEFF"/>
          </a:solidFill>
          <a:ln w="12700">
            <a:solidFill>
              <a:srgbClr val="5B43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5823AE-9A49-F7B7-3DB2-960AD7EF3290}"/>
              </a:ext>
            </a:extLst>
          </p:cNvPr>
          <p:cNvSpPr txBox="1"/>
          <p:nvPr/>
        </p:nvSpPr>
        <p:spPr>
          <a:xfrm>
            <a:off x="2159000" y="4394200"/>
            <a:ext cx="1803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b="1">
                <a:solidFill>
                  <a:srgbClr val="5B43F2"/>
                </a:solidFill>
                <a:latin typeface="Aptos" panose="020B0004020202020204" pitchFamily="34" charset="0"/>
              </a:rPr>
              <a:t>Resume + job</a:t>
            </a:r>
          </a:p>
          <a:p>
            <a:pPr algn="ctr"/>
            <a:r>
              <a:rPr lang="en-IN" b="1">
                <a:solidFill>
                  <a:srgbClr val="5B43F2"/>
                </a:solidFill>
                <a:latin typeface="Aptos" panose="020B0004020202020204" pitchFamily="34" charset="0"/>
              </a:rPr>
              <a:t>matcher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40E2A79-591D-2463-49CC-9B392172612D}"/>
              </a:ext>
            </a:extLst>
          </p:cNvPr>
          <p:cNvSpPr/>
          <p:nvPr/>
        </p:nvSpPr>
        <p:spPr>
          <a:xfrm>
            <a:off x="4495800" y="2362200"/>
            <a:ext cx="2209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BBFB111-AFB1-9EB1-3207-CAB68F63CE63}"/>
              </a:ext>
            </a:extLst>
          </p:cNvPr>
          <p:cNvSpPr txBox="1"/>
          <p:nvPr/>
        </p:nvSpPr>
        <p:spPr>
          <a:xfrm>
            <a:off x="4699000" y="2590800"/>
            <a:ext cx="1803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700" b="1">
                <a:solidFill>
                  <a:srgbClr val="1A223C"/>
                </a:solidFill>
                <a:latin typeface="Aptos" panose="020B0004020202020204" pitchFamily="34" charset="0"/>
              </a:rPr>
              <a:t>Course</a:t>
            </a:r>
          </a:p>
          <a:p>
            <a:pPr algn="ctr"/>
            <a:r>
              <a:rPr lang="en-IN" sz="1700" b="1">
                <a:solidFill>
                  <a:srgbClr val="1A223C"/>
                </a:solidFill>
                <a:latin typeface="Aptos" panose="020B0004020202020204" pitchFamily="34" charset="0"/>
              </a:rPr>
              <a:t>recommender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43913F8-4EEA-1C5E-EA41-BE92507F55FF}"/>
              </a:ext>
            </a:extLst>
          </p:cNvPr>
          <p:cNvSpPr/>
          <p:nvPr/>
        </p:nvSpPr>
        <p:spPr>
          <a:xfrm>
            <a:off x="4495800" y="3733800"/>
            <a:ext cx="2209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6714B77-D8FD-835E-1EAC-5F2A8E20D5AD}"/>
              </a:ext>
            </a:extLst>
          </p:cNvPr>
          <p:cNvSpPr txBox="1"/>
          <p:nvPr/>
        </p:nvSpPr>
        <p:spPr>
          <a:xfrm>
            <a:off x="4699000" y="3962400"/>
            <a:ext cx="1803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700" b="1">
                <a:solidFill>
                  <a:srgbClr val="1A223C"/>
                </a:solidFill>
                <a:latin typeface="Aptos" panose="020B0004020202020204" pitchFamily="34" charset="0"/>
              </a:rPr>
              <a:t>LinkedIn</a:t>
            </a:r>
          </a:p>
          <a:p>
            <a:pPr algn="ctr"/>
            <a:r>
              <a:rPr lang="en-IN" sz="1700" b="1">
                <a:solidFill>
                  <a:srgbClr val="1A223C"/>
                </a:solidFill>
                <a:latin typeface="Aptos" panose="020B0004020202020204" pitchFamily="34" charset="0"/>
              </a:rPr>
              <a:t>assistant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A11D27-9396-6DD5-5D06-6C269558A738}"/>
              </a:ext>
            </a:extLst>
          </p:cNvPr>
          <p:cNvSpPr txBox="1"/>
          <p:nvPr/>
        </p:nvSpPr>
        <p:spPr>
          <a:xfrm>
            <a:off x="7391400" y="20066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2100" b="1">
                <a:solidFill>
                  <a:srgbClr val="0F1734"/>
                </a:solidFill>
                <a:latin typeface="Aptos" panose="020B0004020202020204" pitchFamily="34" charset="0"/>
              </a:rPr>
              <a:t>Prioritization lens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F8E8DFC-8FD8-5F48-26A4-DC982A46F5E9}"/>
              </a:ext>
            </a:extLst>
          </p:cNvPr>
          <p:cNvSpPr/>
          <p:nvPr/>
        </p:nvSpPr>
        <p:spPr>
          <a:xfrm>
            <a:off x="7391400" y="2590800"/>
            <a:ext cx="355600" cy="355600"/>
          </a:xfrm>
          <a:prstGeom prst="ellipse">
            <a:avLst/>
          </a:prstGeom>
          <a:solidFill>
            <a:srgbClr val="E9F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63C961E-C1E1-014D-71F2-D6D7F67A6859}"/>
              </a:ext>
            </a:extLst>
          </p:cNvPr>
          <p:cNvSpPr txBox="1"/>
          <p:nvPr/>
        </p:nvSpPr>
        <p:spPr>
          <a:xfrm>
            <a:off x="7467600" y="2679700"/>
            <a:ext cx="2032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000" b="1">
                <a:solidFill>
                  <a:srgbClr val="268EDA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BA9C7C0-4F48-0D86-8F88-EC511BA94637}"/>
              </a:ext>
            </a:extLst>
          </p:cNvPr>
          <p:cNvSpPr txBox="1"/>
          <p:nvPr/>
        </p:nvSpPr>
        <p:spPr>
          <a:xfrm>
            <a:off x="7950200" y="26162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700" b="1">
                <a:solidFill>
                  <a:srgbClr val="1A223C"/>
                </a:solidFill>
                <a:latin typeface="Aptos" panose="020B0004020202020204" pitchFamily="34" charset="0"/>
              </a:rPr>
              <a:t>Role relevance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CA8EC45-132C-E483-92FD-24587C9A7CA2}"/>
              </a:ext>
            </a:extLst>
          </p:cNvPr>
          <p:cNvSpPr/>
          <p:nvPr/>
        </p:nvSpPr>
        <p:spPr>
          <a:xfrm>
            <a:off x="7391400" y="3251200"/>
            <a:ext cx="355600" cy="355600"/>
          </a:xfrm>
          <a:prstGeom prst="ellipse">
            <a:avLst/>
          </a:prstGeom>
          <a:solidFill>
            <a:srgbClr val="E9F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6A67978-52AA-DE4A-634B-AB1D80930EF9}"/>
              </a:ext>
            </a:extLst>
          </p:cNvPr>
          <p:cNvSpPr txBox="1"/>
          <p:nvPr/>
        </p:nvSpPr>
        <p:spPr>
          <a:xfrm>
            <a:off x="7467600" y="3340100"/>
            <a:ext cx="2032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000" b="1">
                <a:solidFill>
                  <a:srgbClr val="268EDA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D08D0F9-CB92-6E5C-6155-87CC9563EBD7}"/>
              </a:ext>
            </a:extLst>
          </p:cNvPr>
          <p:cNvSpPr txBox="1"/>
          <p:nvPr/>
        </p:nvSpPr>
        <p:spPr>
          <a:xfrm>
            <a:off x="7950200" y="32766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700" b="1">
                <a:solidFill>
                  <a:srgbClr val="1A223C"/>
                </a:solidFill>
                <a:latin typeface="Aptos" panose="020B0004020202020204" pitchFamily="34" charset="0"/>
              </a:rPr>
              <a:t>Buildability with current stack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EA8475C-F3F5-3E83-43DD-D46B8E622120}"/>
              </a:ext>
            </a:extLst>
          </p:cNvPr>
          <p:cNvSpPr/>
          <p:nvPr/>
        </p:nvSpPr>
        <p:spPr>
          <a:xfrm>
            <a:off x="7391400" y="3911600"/>
            <a:ext cx="355600" cy="355600"/>
          </a:xfrm>
          <a:prstGeom prst="ellipse">
            <a:avLst/>
          </a:prstGeom>
          <a:solidFill>
            <a:srgbClr val="E9F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F0011E4-6D79-9D64-9C86-290F1700296B}"/>
              </a:ext>
            </a:extLst>
          </p:cNvPr>
          <p:cNvSpPr txBox="1"/>
          <p:nvPr/>
        </p:nvSpPr>
        <p:spPr>
          <a:xfrm>
            <a:off x="7467600" y="4000500"/>
            <a:ext cx="2032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000" b="1">
                <a:solidFill>
                  <a:srgbClr val="268EDA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D1B5D05-9AF2-6084-A599-55FCE9BB215A}"/>
              </a:ext>
            </a:extLst>
          </p:cNvPr>
          <p:cNvSpPr txBox="1"/>
          <p:nvPr/>
        </p:nvSpPr>
        <p:spPr>
          <a:xfrm>
            <a:off x="7950200" y="39370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700" b="1">
                <a:solidFill>
                  <a:srgbClr val="1A223C"/>
                </a:solidFill>
                <a:latin typeface="Aptos" panose="020B0004020202020204" pitchFamily="34" charset="0"/>
              </a:rPr>
              <a:t>Actionable output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3C43F9D-5ACB-C7F0-B3F1-DCF45522104F}"/>
              </a:ext>
            </a:extLst>
          </p:cNvPr>
          <p:cNvSpPr/>
          <p:nvPr/>
        </p:nvSpPr>
        <p:spPr>
          <a:xfrm>
            <a:off x="7391400" y="4572000"/>
            <a:ext cx="355600" cy="355600"/>
          </a:xfrm>
          <a:prstGeom prst="ellipse">
            <a:avLst/>
          </a:prstGeom>
          <a:solidFill>
            <a:srgbClr val="E9F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2E88344-0AA9-FB26-6C46-C9F595F4AE46}"/>
              </a:ext>
            </a:extLst>
          </p:cNvPr>
          <p:cNvSpPr txBox="1"/>
          <p:nvPr/>
        </p:nvSpPr>
        <p:spPr>
          <a:xfrm>
            <a:off x="7467600" y="4660900"/>
            <a:ext cx="2032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000" b="1">
                <a:solidFill>
                  <a:srgbClr val="268EDA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0B134BC-65AB-3A82-EAF2-FFB89E004A10}"/>
              </a:ext>
            </a:extLst>
          </p:cNvPr>
          <p:cNvSpPr txBox="1"/>
          <p:nvPr/>
        </p:nvSpPr>
        <p:spPr>
          <a:xfrm>
            <a:off x="7950200" y="45974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700" b="1">
                <a:solidFill>
                  <a:srgbClr val="1A223C"/>
                </a:solidFill>
                <a:latin typeface="Aptos" panose="020B0004020202020204" pitchFamily="34" charset="0"/>
              </a:rPr>
              <a:t>Privacy-aware workflow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EE4AB96A-753E-06FB-50F6-A2C7A05F7B32}"/>
              </a:ext>
            </a:extLst>
          </p:cNvPr>
          <p:cNvSpPr/>
          <p:nvPr/>
        </p:nvSpPr>
        <p:spPr>
          <a:xfrm>
            <a:off x="7391400" y="5257800"/>
            <a:ext cx="3810000" cy="635000"/>
          </a:xfrm>
          <a:prstGeom prst="roundRect">
            <a:avLst/>
          </a:prstGeom>
          <a:solidFill>
            <a:srgbClr val="0F17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020236F-7AAC-A80C-1C1A-B5EDA3F6ED6B}"/>
              </a:ext>
            </a:extLst>
          </p:cNvPr>
          <p:cNvSpPr txBox="1"/>
          <p:nvPr/>
        </p:nvSpPr>
        <p:spPr>
          <a:xfrm>
            <a:off x="7620000" y="5461000"/>
            <a:ext cx="33782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 panose="020B0004020202020204" pitchFamily="34" charset="0"/>
              </a:rPr>
              <a:t>Selected concept: Personalized Career Mentor AI</a:t>
            </a:r>
            <a:endParaRPr lang="en-IN" sz="15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0BD7FB9-2ED0-331A-95D0-C45B3200B81E}"/>
              </a:ext>
            </a:extLst>
          </p:cNvPr>
          <p:cNvSpPr txBox="1"/>
          <p:nvPr/>
        </p:nvSpPr>
        <p:spPr>
          <a:xfrm>
            <a:off x="609600" y="65532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900">
                <a:solidFill>
                  <a:srgbClr val="5D6C8E"/>
                </a:solidFill>
                <a:latin typeface="Aptos" panose="020B0004020202020204" pitchFamily="34" charset="0"/>
              </a:rPr>
              <a:t>MSE-1 | KIET MCA | Personalized Career Mentor AI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C6E46E9-7522-0585-1F79-1008850D3D09}"/>
              </a:ext>
            </a:extLst>
          </p:cNvPr>
          <p:cNvSpPr txBox="1"/>
          <p:nvPr/>
        </p:nvSpPr>
        <p:spPr>
          <a:xfrm>
            <a:off x="11303000" y="6553200"/>
            <a:ext cx="279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900" b="1">
                <a:solidFill>
                  <a:srgbClr val="5D6C8E"/>
                </a:solidFill>
                <a:latin typeface="Aptos" panose="020B0004020202020204" pitchFamily="34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31956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524CD2-005A-949A-58FE-EDABE6BBB4D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7E0887A-ED88-4CB2-4086-42547514E297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5B43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F7DF35-29A5-943F-A711-9E0AF89B8594}"/>
              </a:ext>
            </a:extLst>
          </p:cNvPr>
          <p:cNvSpPr txBox="1"/>
          <p:nvPr/>
        </p:nvSpPr>
        <p:spPr>
          <a:xfrm>
            <a:off x="609600" y="330200"/>
            <a:ext cx="330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100" b="1">
                <a:solidFill>
                  <a:srgbClr val="5B43F2"/>
                </a:solidFill>
                <a:latin typeface="Aptos" panose="020B0004020202020204" pitchFamily="34" charset="0"/>
              </a:rPr>
              <a:t>METRIC 4 | CUSTOMER JOURNEY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55054B-0880-97B5-9522-81C5C6B9AEE0}"/>
              </a:ext>
            </a:extLst>
          </p:cNvPr>
          <p:cNvSpPr txBox="1"/>
          <p:nvPr/>
        </p:nvSpPr>
        <p:spPr>
          <a:xfrm>
            <a:off x="609600" y="6350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3000" b="1">
                <a:solidFill>
                  <a:srgbClr val="0F1734"/>
                </a:solidFill>
                <a:latin typeface="Aptos" panose="020B0004020202020204" pitchFamily="34" charset="0"/>
              </a:rPr>
              <a:t>Customer journey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FBB175-BFA0-370B-FEC6-63D2376D4182}"/>
              </a:ext>
            </a:extLst>
          </p:cNvPr>
          <p:cNvSpPr txBox="1"/>
          <p:nvPr/>
        </p:nvSpPr>
        <p:spPr>
          <a:xfrm>
            <a:off x="609600" y="12192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5D6C8E"/>
                </a:solidFill>
                <a:latin typeface="Aptos" panose="020B0004020202020204" pitchFamily="34" charset="0"/>
              </a:rPr>
              <a:t>From a job posting to a focused improvement plan.</a:t>
            </a:r>
            <a:endParaRPr lang="en-IN" sz="1500">
              <a:solidFill>
                <a:srgbClr val="5D6C8E"/>
              </a:solidFill>
              <a:latin typeface="Aptos" panose="020B00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71EE075-BC33-D63E-14FA-B75B838F027B}"/>
              </a:ext>
            </a:extLst>
          </p:cNvPr>
          <p:cNvCxnSpPr/>
          <p:nvPr/>
        </p:nvCxnSpPr>
        <p:spPr>
          <a:xfrm>
            <a:off x="609600" y="1625600"/>
            <a:ext cx="10972800" cy="0"/>
          </a:xfrm>
          <a:prstGeom prst="line">
            <a:avLst/>
          </a:prstGeom>
          <a:ln w="12700">
            <a:solidFill>
              <a:srgbClr val="D7E0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0BF1F56-DCFF-DCF4-ED95-17EFE62B77A9}"/>
              </a:ext>
            </a:extLst>
          </p:cNvPr>
          <p:cNvSpPr/>
          <p:nvPr/>
        </p:nvSpPr>
        <p:spPr>
          <a:xfrm>
            <a:off x="10414000" y="330200"/>
            <a:ext cx="1168400" cy="304800"/>
          </a:xfrm>
          <a:prstGeom prst="roundRect">
            <a:avLst/>
          </a:prstGeom>
          <a:solidFill>
            <a:srgbClr val="F2E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94954F-3330-DF91-F660-36E63BAF750E}"/>
              </a:ext>
            </a:extLst>
          </p:cNvPr>
          <p:cNvSpPr txBox="1"/>
          <p:nvPr/>
        </p:nvSpPr>
        <p:spPr>
          <a:xfrm>
            <a:off x="10541000" y="381000"/>
            <a:ext cx="914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 b="1">
                <a:solidFill>
                  <a:srgbClr val="5B43F2"/>
                </a:solidFill>
                <a:latin typeface="Aptos" panose="020B0004020202020204" pitchFamily="34" charset="0"/>
              </a:rPr>
              <a:t>METRIC 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E1B22A-3B1B-0F60-60E9-B2344477DA16}"/>
              </a:ext>
            </a:extLst>
          </p:cNvPr>
          <p:cNvCxnSpPr/>
          <p:nvPr/>
        </p:nvCxnSpPr>
        <p:spPr>
          <a:xfrm>
            <a:off x="1955800" y="3149600"/>
            <a:ext cx="889000" cy="0"/>
          </a:xfrm>
          <a:prstGeom prst="line">
            <a:avLst/>
          </a:prstGeom>
          <a:ln w="25400">
            <a:solidFill>
              <a:srgbClr val="D7E0F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38192A4A-2B46-BFBC-2214-EE3D596B4838}"/>
              </a:ext>
            </a:extLst>
          </p:cNvPr>
          <p:cNvSpPr/>
          <p:nvPr/>
        </p:nvSpPr>
        <p:spPr>
          <a:xfrm>
            <a:off x="889000" y="2667000"/>
            <a:ext cx="965200" cy="965200"/>
          </a:xfrm>
          <a:prstGeom prst="ellipse">
            <a:avLst/>
          </a:prstGeom>
          <a:solidFill>
            <a:srgbClr val="5B43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D87494-E658-5015-9995-1E529BFA86F9}"/>
              </a:ext>
            </a:extLst>
          </p:cNvPr>
          <p:cNvSpPr txBox="1"/>
          <p:nvPr/>
        </p:nvSpPr>
        <p:spPr>
          <a:xfrm>
            <a:off x="1117600" y="29464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17D40C-1FBD-26B9-94D1-CF85B9C0BB18}"/>
              </a:ext>
            </a:extLst>
          </p:cNvPr>
          <p:cNvSpPr txBox="1"/>
          <p:nvPr/>
        </p:nvSpPr>
        <p:spPr>
          <a:xfrm>
            <a:off x="787400" y="3860800"/>
            <a:ext cx="1168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500" b="1">
                <a:solidFill>
                  <a:srgbClr val="0F1734"/>
                </a:solidFill>
                <a:latin typeface="Aptos" panose="020B0004020202020204" pitchFamily="34" charset="0"/>
              </a:rPr>
              <a:t>Find a role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15973B-70B4-40F2-9851-E690D225BE2C}"/>
              </a:ext>
            </a:extLst>
          </p:cNvPr>
          <p:cNvSpPr txBox="1"/>
          <p:nvPr/>
        </p:nvSpPr>
        <p:spPr>
          <a:xfrm>
            <a:off x="660400" y="4292600"/>
            <a:ext cx="1422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300">
                <a:solidFill>
                  <a:srgbClr val="5D6C8E"/>
                </a:solidFill>
                <a:latin typeface="Aptos" panose="020B0004020202020204" pitchFamily="34" charset="0"/>
              </a:rPr>
              <a:t>Open a target job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06630D2-166F-391F-207E-6A4C46378CF3}"/>
              </a:ext>
            </a:extLst>
          </p:cNvPr>
          <p:cNvCxnSpPr/>
          <p:nvPr/>
        </p:nvCxnSpPr>
        <p:spPr>
          <a:xfrm>
            <a:off x="3810000" y="3149600"/>
            <a:ext cx="889000" cy="0"/>
          </a:xfrm>
          <a:prstGeom prst="line">
            <a:avLst/>
          </a:prstGeom>
          <a:ln w="25400">
            <a:solidFill>
              <a:srgbClr val="D7E0F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4DA83550-303E-4F8F-F490-D2C12166E950}"/>
              </a:ext>
            </a:extLst>
          </p:cNvPr>
          <p:cNvSpPr/>
          <p:nvPr/>
        </p:nvSpPr>
        <p:spPr>
          <a:xfrm>
            <a:off x="2743200" y="2667000"/>
            <a:ext cx="965200" cy="965200"/>
          </a:xfrm>
          <a:prstGeom prst="ellipse">
            <a:avLst/>
          </a:prstGeom>
          <a:solidFill>
            <a:srgbClr val="268E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9B67DB-FF06-8762-D5A2-20F22A774585}"/>
              </a:ext>
            </a:extLst>
          </p:cNvPr>
          <p:cNvSpPr txBox="1"/>
          <p:nvPr/>
        </p:nvSpPr>
        <p:spPr>
          <a:xfrm>
            <a:off x="2971800" y="29464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C2AA00-7F70-FFAD-C3BA-3543252F0661}"/>
              </a:ext>
            </a:extLst>
          </p:cNvPr>
          <p:cNvSpPr txBox="1"/>
          <p:nvPr/>
        </p:nvSpPr>
        <p:spPr>
          <a:xfrm>
            <a:off x="2641600" y="3860800"/>
            <a:ext cx="1168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500" b="1">
                <a:solidFill>
                  <a:srgbClr val="0F1734"/>
                </a:solidFill>
                <a:latin typeface="Aptos" panose="020B0004020202020204" pitchFamily="34" charset="0"/>
              </a:rPr>
              <a:t>Provide inputs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692E72-DDFA-C010-63D0-3ACA41210C4C}"/>
              </a:ext>
            </a:extLst>
          </p:cNvPr>
          <p:cNvSpPr txBox="1"/>
          <p:nvPr/>
        </p:nvSpPr>
        <p:spPr>
          <a:xfrm>
            <a:off x="2514600" y="4292600"/>
            <a:ext cx="1422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300">
                <a:solidFill>
                  <a:srgbClr val="5D6C8E"/>
                </a:solidFill>
                <a:latin typeface="Aptos" panose="020B0004020202020204" pitchFamily="34" charset="0"/>
              </a:rPr>
              <a:t>Paste JD or upload PDF</a:t>
            </a:r>
            <a:endParaRPr lang="en-IN" sz="1300">
              <a:solidFill>
                <a:srgbClr val="5D6C8E"/>
              </a:solidFill>
              <a:latin typeface="Aptos" panose="020B0004020202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B301A57-F2AB-9FEF-E768-AB1F286F893C}"/>
              </a:ext>
            </a:extLst>
          </p:cNvPr>
          <p:cNvCxnSpPr/>
          <p:nvPr/>
        </p:nvCxnSpPr>
        <p:spPr>
          <a:xfrm>
            <a:off x="5664200" y="3149600"/>
            <a:ext cx="889000" cy="0"/>
          </a:xfrm>
          <a:prstGeom prst="line">
            <a:avLst/>
          </a:prstGeom>
          <a:ln w="25400">
            <a:solidFill>
              <a:srgbClr val="D7E0F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D3018A76-0AAD-6ED6-5D18-D908BB4277CF}"/>
              </a:ext>
            </a:extLst>
          </p:cNvPr>
          <p:cNvSpPr/>
          <p:nvPr/>
        </p:nvSpPr>
        <p:spPr>
          <a:xfrm>
            <a:off x="4597400" y="2667000"/>
            <a:ext cx="965200" cy="965200"/>
          </a:xfrm>
          <a:prstGeom prst="ellipse">
            <a:avLst/>
          </a:prstGeom>
          <a:solidFill>
            <a:srgbClr val="15B9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7F2963-D060-A4E0-B975-AD22CF3EFAAC}"/>
              </a:ext>
            </a:extLst>
          </p:cNvPr>
          <p:cNvSpPr txBox="1"/>
          <p:nvPr/>
        </p:nvSpPr>
        <p:spPr>
          <a:xfrm>
            <a:off x="4826000" y="29464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3077F5-5664-2A4F-DD7C-6D83107A1FB0}"/>
              </a:ext>
            </a:extLst>
          </p:cNvPr>
          <p:cNvSpPr txBox="1"/>
          <p:nvPr/>
        </p:nvSpPr>
        <p:spPr>
          <a:xfrm>
            <a:off x="4495800" y="3860800"/>
            <a:ext cx="1168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500" b="1">
                <a:solidFill>
                  <a:srgbClr val="0F1734"/>
                </a:solidFill>
                <a:latin typeface="Aptos" panose="020B0004020202020204" pitchFamily="34" charset="0"/>
              </a:rPr>
              <a:t>Run analysis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35F685-3A42-6274-9372-53788D63FF9F}"/>
              </a:ext>
            </a:extLst>
          </p:cNvPr>
          <p:cNvSpPr txBox="1"/>
          <p:nvPr/>
        </p:nvSpPr>
        <p:spPr>
          <a:xfrm>
            <a:off x="4368800" y="4292600"/>
            <a:ext cx="1422400" cy="92333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300">
                <a:solidFill>
                  <a:srgbClr val="5D6C8E"/>
                </a:solidFill>
                <a:latin typeface="Aptos" panose="020B0004020202020204" pitchFamily="34" charset="0"/>
              </a:rPr>
              <a:t>Choose depth and model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E26532A-6B9F-BDDD-5286-F002545C394C}"/>
              </a:ext>
            </a:extLst>
          </p:cNvPr>
          <p:cNvCxnSpPr/>
          <p:nvPr/>
        </p:nvCxnSpPr>
        <p:spPr>
          <a:xfrm>
            <a:off x="7518400" y="3149600"/>
            <a:ext cx="889000" cy="0"/>
          </a:xfrm>
          <a:prstGeom prst="line">
            <a:avLst/>
          </a:prstGeom>
          <a:ln w="25400">
            <a:solidFill>
              <a:srgbClr val="D7E0F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B5AEC336-5D9F-FDFF-33E8-4F54C72954F9}"/>
              </a:ext>
            </a:extLst>
          </p:cNvPr>
          <p:cNvSpPr/>
          <p:nvPr/>
        </p:nvSpPr>
        <p:spPr>
          <a:xfrm>
            <a:off x="6451600" y="2667000"/>
            <a:ext cx="965200" cy="965200"/>
          </a:xfrm>
          <a:prstGeom prst="ellipse">
            <a:avLst/>
          </a:prstGeom>
          <a:solidFill>
            <a:srgbClr val="21C29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70E69E-FA7C-B1A0-711E-F44E8C0F1452}"/>
              </a:ext>
            </a:extLst>
          </p:cNvPr>
          <p:cNvSpPr txBox="1"/>
          <p:nvPr/>
        </p:nvSpPr>
        <p:spPr>
          <a:xfrm>
            <a:off x="6680200" y="29464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2687EC-2234-BDB0-C352-C7878C29023D}"/>
              </a:ext>
            </a:extLst>
          </p:cNvPr>
          <p:cNvSpPr txBox="1"/>
          <p:nvPr/>
        </p:nvSpPr>
        <p:spPr>
          <a:xfrm>
            <a:off x="6350000" y="3860800"/>
            <a:ext cx="1168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500" b="1">
                <a:solidFill>
                  <a:srgbClr val="0F1734"/>
                </a:solidFill>
                <a:latin typeface="Aptos" panose="020B0004020202020204" pitchFamily="34" charset="0"/>
              </a:rPr>
              <a:t>Read the fit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DB3D0B7-0498-0E5B-658B-5284F2DA19EA}"/>
              </a:ext>
            </a:extLst>
          </p:cNvPr>
          <p:cNvSpPr txBox="1"/>
          <p:nvPr/>
        </p:nvSpPr>
        <p:spPr>
          <a:xfrm>
            <a:off x="6223000" y="4292600"/>
            <a:ext cx="1422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300">
                <a:solidFill>
                  <a:srgbClr val="5D6C8E"/>
                </a:solidFill>
                <a:latin typeface="Aptos" panose="020B0004020202020204" pitchFamily="34" charset="0"/>
              </a:rPr>
              <a:t>Score and skill groups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F395B04-6982-0272-EE17-6CEAEEE51504}"/>
              </a:ext>
            </a:extLst>
          </p:cNvPr>
          <p:cNvCxnSpPr/>
          <p:nvPr/>
        </p:nvCxnSpPr>
        <p:spPr>
          <a:xfrm>
            <a:off x="9372600" y="3149600"/>
            <a:ext cx="889000" cy="0"/>
          </a:xfrm>
          <a:prstGeom prst="line">
            <a:avLst/>
          </a:prstGeom>
          <a:ln w="25400">
            <a:solidFill>
              <a:srgbClr val="D7E0F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3B070956-CC3C-7C0C-E867-4A65EF437CB9}"/>
              </a:ext>
            </a:extLst>
          </p:cNvPr>
          <p:cNvSpPr/>
          <p:nvPr/>
        </p:nvSpPr>
        <p:spPr>
          <a:xfrm>
            <a:off x="8305800" y="2667000"/>
            <a:ext cx="965200" cy="965200"/>
          </a:xfrm>
          <a:prstGeom prst="ellipse">
            <a:avLst/>
          </a:prstGeom>
          <a:solidFill>
            <a:srgbClr val="EE8F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42BDF91-E9B6-C263-532D-2071296A1995}"/>
              </a:ext>
            </a:extLst>
          </p:cNvPr>
          <p:cNvSpPr txBox="1"/>
          <p:nvPr/>
        </p:nvSpPr>
        <p:spPr>
          <a:xfrm>
            <a:off x="8534400" y="29464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A20C2E9-D321-7387-238F-3FE845962586}"/>
              </a:ext>
            </a:extLst>
          </p:cNvPr>
          <p:cNvSpPr txBox="1"/>
          <p:nvPr/>
        </p:nvSpPr>
        <p:spPr>
          <a:xfrm>
            <a:off x="8204200" y="3860800"/>
            <a:ext cx="1168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500" b="1">
                <a:solidFill>
                  <a:srgbClr val="0F1734"/>
                </a:solidFill>
                <a:latin typeface="Aptos" panose="020B0004020202020204" pitchFamily="34" charset="0"/>
              </a:rPr>
              <a:t>Close gaps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56A0A7-00A0-B0B3-387D-1F3A82189E2A}"/>
              </a:ext>
            </a:extLst>
          </p:cNvPr>
          <p:cNvSpPr txBox="1"/>
          <p:nvPr/>
        </p:nvSpPr>
        <p:spPr>
          <a:xfrm>
            <a:off x="8077200" y="4292600"/>
            <a:ext cx="1422400" cy="92333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300">
                <a:solidFill>
                  <a:srgbClr val="5D6C8E"/>
                </a:solidFill>
                <a:latin typeface="Aptos" panose="020B0004020202020204" pitchFamily="34" charset="0"/>
              </a:rPr>
              <a:t>Follow prioritized actions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CF7E329-A7EC-3A7B-0899-7EE7C898453D}"/>
              </a:ext>
            </a:extLst>
          </p:cNvPr>
          <p:cNvSpPr/>
          <p:nvPr/>
        </p:nvSpPr>
        <p:spPr>
          <a:xfrm>
            <a:off x="10160000" y="2667000"/>
            <a:ext cx="965200" cy="965200"/>
          </a:xfrm>
          <a:prstGeom prst="ellipse">
            <a:avLst/>
          </a:prstGeom>
          <a:solidFill>
            <a:srgbClr val="F469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38E506E-70E5-66ED-1F5D-F7A68DF5C020}"/>
              </a:ext>
            </a:extLst>
          </p:cNvPr>
          <p:cNvSpPr txBox="1"/>
          <p:nvPr/>
        </p:nvSpPr>
        <p:spPr>
          <a:xfrm>
            <a:off x="10388600" y="29464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Aptos" panose="020B0004020202020204" pitchFamily="34" charset="0"/>
              </a:rPr>
              <a:t>06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3F3DD39-C2F8-A3B4-50E2-F94489F29EDC}"/>
              </a:ext>
            </a:extLst>
          </p:cNvPr>
          <p:cNvSpPr txBox="1"/>
          <p:nvPr/>
        </p:nvSpPr>
        <p:spPr>
          <a:xfrm>
            <a:off x="10058400" y="3860800"/>
            <a:ext cx="1168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500" b="1">
                <a:solidFill>
                  <a:srgbClr val="0F1734"/>
                </a:solidFill>
                <a:latin typeface="Aptos" panose="020B0004020202020204" pitchFamily="34" charset="0"/>
              </a:rPr>
              <a:t>Prepare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2176C0C-C091-B2E3-C6E7-81A9FFAFBB54}"/>
              </a:ext>
            </a:extLst>
          </p:cNvPr>
          <p:cNvSpPr txBox="1"/>
          <p:nvPr/>
        </p:nvSpPr>
        <p:spPr>
          <a:xfrm>
            <a:off x="9931400" y="4292600"/>
            <a:ext cx="1422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300">
                <a:solidFill>
                  <a:srgbClr val="5D6C8E"/>
                </a:solidFill>
                <a:latin typeface="Aptos" panose="020B0004020202020204" pitchFamily="34" charset="0"/>
              </a:rPr>
              <a:t>Practice role questions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225EE6C2-CC69-B0CA-FCA4-4A871B014B4D}"/>
              </a:ext>
            </a:extLst>
          </p:cNvPr>
          <p:cNvSpPr/>
          <p:nvPr/>
        </p:nvSpPr>
        <p:spPr>
          <a:xfrm>
            <a:off x="1066800" y="5207000"/>
            <a:ext cx="10058400" cy="76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D7BA447-6410-8D72-7FA9-21857DF043EC}"/>
              </a:ext>
            </a:extLst>
          </p:cNvPr>
          <p:cNvSpPr txBox="1"/>
          <p:nvPr/>
        </p:nvSpPr>
        <p:spPr>
          <a:xfrm>
            <a:off x="1371600" y="5461000"/>
            <a:ext cx="11176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200" b="1">
                <a:solidFill>
                  <a:srgbClr val="EC4968"/>
                </a:solidFill>
                <a:latin typeface="Aptos" panose="020B0004020202020204" pitchFamily="34" charset="0"/>
              </a:rPr>
              <a:t>Pain point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A3FD760-BF1B-EDC6-F6F6-49390A5DEFCA}"/>
              </a:ext>
            </a:extLst>
          </p:cNvPr>
          <p:cNvSpPr txBox="1"/>
          <p:nvPr/>
        </p:nvSpPr>
        <p:spPr>
          <a:xfrm>
            <a:off x="2616200" y="5410200"/>
            <a:ext cx="787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b="1">
                <a:solidFill>
                  <a:srgbClr val="0F1734"/>
                </a:solidFill>
                <a:latin typeface="Aptos" panose="020B0004020202020204" pitchFamily="34" charset="0"/>
              </a:rPr>
              <a:t>“I have a role in front of me, but I do not know what to fix first.”</a:t>
            </a:r>
            <a:endParaRPr lang="en-IN" sz="1900" b="1">
              <a:solidFill>
                <a:srgbClr val="0F1734"/>
              </a:solidFill>
              <a:latin typeface="Aptos" panose="020B00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50C40DC-E8B6-F6FA-9D64-42ACAED355E0}"/>
              </a:ext>
            </a:extLst>
          </p:cNvPr>
          <p:cNvSpPr txBox="1"/>
          <p:nvPr/>
        </p:nvSpPr>
        <p:spPr>
          <a:xfrm>
            <a:off x="1371600" y="6070600"/>
            <a:ext cx="939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5D6C8E"/>
                </a:solidFill>
                <a:latin typeface="Aptos" panose="020B0004020202020204" pitchFamily="34" charset="0"/>
              </a:rPr>
              <a:t>Product response: show the gap, rank the gap, and connect it to interview preparation.</a:t>
            </a:r>
            <a:endParaRPr lang="en-IN" sz="1400">
              <a:solidFill>
                <a:srgbClr val="5D6C8E"/>
              </a:solidFill>
              <a:latin typeface="Aptos" panose="020B00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BC96CA3-037B-BCBD-5B8B-4475A6110F14}"/>
              </a:ext>
            </a:extLst>
          </p:cNvPr>
          <p:cNvSpPr txBox="1"/>
          <p:nvPr/>
        </p:nvSpPr>
        <p:spPr>
          <a:xfrm>
            <a:off x="609600" y="65532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900">
                <a:solidFill>
                  <a:srgbClr val="5D6C8E"/>
                </a:solidFill>
                <a:latin typeface="Aptos" panose="020B0004020202020204" pitchFamily="34" charset="0"/>
              </a:rPr>
              <a:t>MSE-1 | KIET MCA | Personalized Career Mentor AI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653DCAD-6235-C824-5147-96BBDD227EB5}"/>
              </a:ext>
            </a:extLst>
          </p:cNvPr>
          <p:cNvSpPr txBox="1"/>
          <p:nvPr/>
        </p:nvSpPr>
        <p:spPr>
          <a:xfrm>
            <a:off x="11303000" y="6553200"/>
            <a:ext cx="279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900" b="1">
                <a:solidFill>
                  <a:srgbClr val="5D6C8E"/>
                </a:solidFill>
                <a:latin typeface="Aptos" panose="020B0004020202020204" pitchFamily="34" charset="0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430803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DF5E8C-5FBA-5BEA-7CDF-B1301DABDD5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F9946BF-91B9-B943-0649-5ED07ACDCD4A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5B43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BF65DA-150C-7C88-9B9D-2770A5740EB6}"/>
              </a:ext>
            </a:extLst>
          </p:cNvPr>
          <p:cNvSpPr txBox="1"/>
          <p:nvPr/>
        </p:nvSpPr>
        <p:spPr>
          <a:xfrm>
            <a:off x="609600" y="330200"/>
            <a:ext cx="3302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100" b="1">
                <a:solidFill>
                  <a:srgbClr val="5B43F2"/>
                </a:solidFill>
                <a:latin typeface="Aptos" panose="020B0004020202020204" pitchFamily="34" charset="0"/>
              </a:rPr>
              <a:t>METRIC 5 | REQUIREMENT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F95DF2-0980-B807-D8FD-0FC8027F9D0B}"/>
              </a:ext>
            </a:extLst>
          </p:cNvPr>
          <p:cNvSpPr txBox="1"/>
          <p:nvPr/>
        </p:nvSpPr>
        <p:spPr>
          <a:xfrm>
            <a:off x="609600" y="6350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3000" b="1">
                <a:solidFill>
                  <a:srgbClr val="0F1734"/>
                </a:solidFill>
                <a:latin typeface="Aptos" panose="020B0004020202020204" pitchFamily="34" charset="0"/>
              </a:rPr>
              <a:t>System requirements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A9C46D-DDDD-C11C-F72D-D3978FDFE701}"/>
              </a:ext>
            </a:extLst>
          </p:cNvPr>
          <p:cNvSpPr txBox="1"/>
          <p:nvPr/>
        </p:nvSpPr>
        <p:spPr>
          <a:xfrm>
            <a:off x="609600" y="12192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5D6C8E"/>
                </a:solidFill>
                <a:latin typeface="Aptos" panose="020B0004020202020204" pitchFamily="34" charset="0"/>
              </a:rPr>
              <a:t>The product requirements describe what the system does and how it should behave.</a:t>
            </a:r>
            <a:endParaRPr lang="en-IN" sz="1500">
              <a:solidFill>
                <a:srgbClr val="5D6C8E"/>
              </a:solidFill>
              <a:latin typeface="Aptos" panose="020B00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1F7B055-EB18-140B-D56B-6D0BD359E040}"/>
              </a:ext>
            </a:extLst>
          </p:cNvPr>
          <p:cNvCxnSpPr/>
          <p:nvPr/>
        </p:nvCxnSpPr>
        <p:spPr>
          <a:xfrm>
            <a:off x="609600" y="1625600"/>
            <a:ext cx="10972800" cy="0"/>
          </a:xfrm>
          <a:prstGeom prst="line">
            <a:avLst/>
          </a:prstGeom>
          <a:ln w="12700">
            <a:solidFill>
              <a:srgbClr val="D7E0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0F91B3A-69C4-BEFF-E2E8-D76842B59A85}"/>
              </a:ext>
            </a:extLst>
          </p:cNvPr>
          <p:cNvSpPr/>
          <p:nvPr/>
        </p:nvSpPr>
        <p:spPr>
          <a:xfrm>
            <a:off x="10414000" y="330200"/>
            <a:ext cx="1168400" cy="304800"/>
          </a:xfrm>
          <a:prstGeom prst="roundRect">
            <a:avLst/>
          </a:prstGeom>
          <a:solidFill>
            <a:srgbClr val="F2E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469D7A-6B9F-73B7-7930-A0461F1CCC58}"/>
              </a:ext>
            </a:extLst>
          </p:cNvPr>
          <p:cNvSpPr txBox="1"/>
          <p:nvPr/>
        </p:nvSpPr>
        <p:spPr>
          <a:xfrm>
            <a:off x="10541000" y="381000"/>
            <a:ext cx="914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 b="1">
                <a:solidFill>
                  <a:srgbClr val="5B43F2"/>
                </a:solidFill>
                <a:latin typeface="Aptos" panose="020B0004020202020204" pitchFamily="34" charset="0"/>
              </a:rPr>
              <a:t>METRIC 5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3C5CA94-1747-7359-8C69-43CAD88B1A62}"/>
              </a:ext>
            </a:extLst>
          </p:cNvPr>
          <p:cNvSpPr/>
          <p:nvPr/>
        </p:nvSpPr>
        <p:spPr>
          <a:xfrm>
            <a:off x="609600" y="1955800"/>
            <a:ext cx="5232400" cy="406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1630C3-1B06-91CC-3BD8-5AA2E3F807AF}"/>
              </a:ext>
            </a:extLst>
          </p:cNvPr>
          <p:cNvSpPr txBox="1"/>
          <p:nvPr/>
        </p:nvSpPr>
        <p:spPr>
          <a:xfrm>
            <a:off x="965200" y="2260600"/>
            <a:ext cx="419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2300" b="1">
                <a:solidFill>
                  <a:srgbClr val="5B43F2"/>
                </a:solidFill>
                <a:latin typeface="Aptos" panose="020B0004020202020204" pitchFamily="34" charset="0"/>
              </a:rPr>
              <a:t>Functional requirements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D514C2D-A759-31EB-C389-1082372BD2BE}"/>
              </a:ext>
            </a:extLst>
          </p:cNvPr>
          <p:cNvSpPr/>
          <p:nvPr/>
        </p:nvSpPr>
        <p:spPr>
          <a:xfrm>
            <a:off x="990600" y="2844800"/>
            <a:ext cx="304800" cy="304800"/>
          </a:xfrm>
          <a:prstGeom prst="ellipse">
            <a:avLst/>
          </a:prstGeom>
          <a:solidFill>
            <a:srgbClr val="F2E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2B378E-6AC6-2D4F-B59A-50D229F20E70}"/>
              </a:ext>
            </a:extLst>
          </p:cNvPr>
          <p:cNvSpPr txBox="1"/>
          <p:nvPr/>
        </p:nvSpPr>
        <p:spPr>
          <a:xfrm>
            <a:off x="1054100" y="2921000"/>
            <a:ext cx="1778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900" b="1">
                <a:solidFill>
                  <a:srgbClr val="5B43F2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5EB644-46C4-A741-5E6F-D4C3A9BF4EB2}"/>
              </a:ext>
            </a:extLst>
          </p:cNvPr>
          <p:cNvSpPr txBox="1"/>
          <p:nvPr/>
        </p:nvSpPr>
        <p:spPr>
          <a:xfrm>
            <a:off x="1473200" y="2844800"/>
            <a:ext cx="39878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A223C"/>
                </a:solidFill>
                <a:latin typeface="Aptos" panose="020B0004020202020204" pitchFamily="34" charset="0"/>
              </a:rPr>
              <a:t>Accept pasted job description and resume text</a:t>
            </a:r>
            <a:endParaRPr lang="en-IN" sz="1400">
              <a:solidFill>
                <a:srgbClr val="1A223C"/>
              </a:solidFill>
              <a:latin typeface="Aptos" panose="020B0004020202020204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D2AFED6-B75F-5524-F716-70D900B9C12B}"/>
              </a:ext>
            </a:extLst>
          </p:cNvPr>
          <p:cNvSpPr/>
          <p:nvPr/>
        </p:nvSpPr>
        <p:spPr>
          <a:xfrm>
            <a:off x="990600" y="3479800"/>
            <a:ext cx="304800" cy="304800"/>
          </a:xfrm>
          <a:prstGeom prst="ellipse">
            <a:avLst/>
          </a:prstGeom>
          <a:solidFill>
            <a:srgbClr val="F2E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FB8A92-F831-5DEC-3E2E-D8D3F144D695}"/>
              </a:ext>
            </a:extLst>
          </p:cNvPr>
          <p:cNvSpPr txBox="1"/>
          <p:nvPr/>
        </p:nvSpPr>
        <p:spPr>
          <a:xfrm>
            <a:off x="1054100" y="3556000"/>
            <a:ext cx="1778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900" b="1">
                <a:solidFill>
                  <a:srgbClr val="5B43F2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D7A1F9-1ED8-48C7-7119-736EC6622102}"/>
              </a:ext>
            </a:extLst>
          </p:cNvPr>
          <p:cNvSpPr txBox="1"/>
          <p:nvPr/>
        </p:nvSpPr>
        <p:spPr>
          <a:xfrm>
            <a:off x="1473200" y="3479800"/>
            <a:ext cx="39878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A223C"/>
                </a:solidFill>
                <a:latin typeface="Aptos" panose="020B0004020202020204" pitchFamily="34" charset="0"/>
              </a:rPr>
              <a:t>Upload text-based PDF and extract readable text</a:t>
            </a:r>
            <a:endParaRPr lang="en-IN" sz="1400">
              <a:solidFill>
                <a:srgbClr val="1A223C"/>
              </a:solidFill>
              <a:latin typeface="Aptos" panose="020B0004020202020204" pitchFamily="34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C97B85F-8DBF-90C4-871C-D63875FF05DB}"/>
              </a:ext>
            </a:extLst>
          </p:cNvPr>
          <p:cNvSpPr/>
          <p:nvPr/>
        </p:nvSpPr>
        <p:spPr>
          <a:xfrm>
            <a:off x="990600" y="4114800"/>
            <a:ext cx="304800" cy="304800"/>
          </a:xfrm>
          <a:prstGeom prst="ellipse">
            <a:avLst/>
          </a:prstGeom>
          <a:solidFill>
            <a:srgbClr val="F2E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EDB4B4-4988-B60A-D8BF-B7F70BA88DC5}"/>
              </a:ext>
            </a:extLst>
          </p:cNvPr>
          <p:cNvSpPr txBox="1"/>
          <p:nvPr/>
        </p:nvSpPr>
        <p:spPr>
          <a:xfrm>
            <a:off x="1054100" y="4191000"/>
            <a:ext cx="1778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900" b="1">
                <a:solidFill>
                  <a:srgbClr val="5B43F2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C062BA-CDEF-67A9-708F-4750D6C87934}"/>
              </a:ext>
            </a:extLst>
          </p:cNvPr>
          <p:cNvSpPr txBox="1"/>
          <p:nvPr/>
        </p:nvSpPr>
        <p:spPr>
          <a:xfrm>
            <a:off x="1473200" y="4114800"/>
            <a:ext cx="39878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A223C"/>
                </a:solidFill>
                <a:latin typeface="Aptos" panose="020B0004020202020204" pitchFamily="34" charset="0"/>
              </a:rPr>
              <a:t>Select model, analysis depth, and temperature</a:t>
            </a:r>
            <a:endParaRPr lang="en-IN" sz="1400">
              <a:solidFill>
                <a:srgbClr val="1A223C"/>
              </a:solidFill>
              <a:latin typeface="Aptos" panose="020B0004020202020204" pitchFamily="34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4D8DC74-E615-181C-90D3-F5CA7F4AEF24}"/>
              </a:ext>
            </a:extLst>
          </p:cNvPr>
          <p:cNvSpPr/>
          <p:nvPr/>
        </p:nvSpPr>
        <p:spPr>
          <a:xfrm>
            <a:off x="990600" y="4749800"/>
            <a:ext cx="304800" cy="304800"/>
          </a:xfrm>
          <a:prstGeom prst="ellipse">
            <a:avLst/>
          </a:prstGeom>
          <a:solidFill>
            <a:srgbClr val="F2E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075FFC9-D03B-B2F1-9C96-BB3DC855E9FF}"/>
              </a:ext>
            </a:extLst>
          </p:cNvPr>
          <p:cNvSpPr txBox="1"/>
          <p:nvPr/>
        </p:nvSpPr>
        <p:spPr>
          <a:xfrm>
            <a:off x="1054100" y="4826000"/>
            <a:ext cx="1778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900" b="1">
                <a:solidFill>
                  <a:srgbClr val="5B43F2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63DB4EA-5FBA-CD2C-3AA3-E021ABA28C47}"/>
              </a:ext>
            </a:extLst>
          </p:cNvPr>
          <p:cNvSpPr txBox="1"/>
          <p:nvPr/>
        </p:nvSpPr>
        <p:spPr>
          <a:xfrm>
            <a:off x="1473200" y="4749800"/>
            <a:ext cx="39878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A223C"/>
                </a:solidFill>
                <a:latin typeface="Aptos" panose="020B0004020202020204" pitchFamily="34" charset="0"/>
              </a:rPr>
              <a:t>Return validated match, skill-gap, and interview fields</a:t>
            </a:r>
            <a:endParaRPr lang="en-IN" sz="1400">
              <a:solidFill>
                <a:srgbClr val="1A223C"/>
              </a:solidFill>
              <a:latin typeface="Aptos" panose="020B0004020202020204" pitchFamily="34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4C9C790-E175-DF20-A3AE-1001850ABFD1}"/>
              </a:ext>
            </a:extLst>
          </p:cNvPr>
          <p:cNvSpPr/>
          <p:nvPr/>
        </p:nvSpPr>
        <p:spPr>
          <a:xfrm>
            <a:off x="990600" y="5384800"/>
            <a:ext cx="304800" cy="304800"/>
          </a:xfrm>
          <a:prstGeom prst="ellipse">
            <a:avLst/>
          </a:prstGeom>
          <a:solidFill>
            <a:srgbClr val="F2E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7D918F3-B5AC-E4BE-9B5D-108A5CAB615E}"/>
              </a:ext>
            </a:extLst>
          </p:cNvPr>
          <p:cNvSpPr txBox="1"/>
          <p:nvPr/>
        </p:nvSpPr>
        <p:spPr>
          <a:xfrm>
            <a:off x="1054100" y="5461000"/>
            <a:ext cx="1778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900" b="1">
                <a:solidFill>
                  <a:srgbClr val="5B43F2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60D9007-8FEC-4EE9-123B-16F10C9BA048}"/>
              </a:ext>
            </a:extLst>
          </p:cNvPr>
          <p:cNvSpPr txBox="1"/>
          <p:nvPr/>
        </p:nvSpPr>
        <p:spPr>
          <a:xfrm>
            <a:off x="1473200" y="5384800"/>
            <a:ext cx="3987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A223C"/>
                </a:solidFill>
                <a:latin typeface="Aptos" panose="020B0004020202020204" pitchFamily="34" charset="0"/>
              </a:rPr>
              <a:t>Download analysis as structured JSON</a:t>
            </a:r>
            <a:endParaRPr lang="en-IN" sz="1400">
              <a:solidFill>
                <a:srgbClr val="1A223C"/>
              </a:solidFill>
              <a:latin typeface="Aptos" panose="020B0004020202020204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289C32A-17F7-DE60-A885-5C5ADBAA2468}"/>
              </a:ext>
            </a:extLst>
          </p:cNvPr>
          <p:cNvSpPr/>
          <p:nvPr/>
        </p:nvSpPr>
        <p:spPr>
          <a:xfrm>
            <a:off x="6350000" y="1955800"/>
            <a:ext cx="5232400" cy="4064000"/>
          </a:xfrm>
          <a:prstGeom prst="roundRect">
            <a:avLst/>
          </a:prstGeom>
          <a:solidFill>
            <a:srgbClr val="0F17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548964-446F-49AA-216F-5E65A0192A6F}"/>
              </a:ext>
            </a:extLst>
          </p:cNvPr>
          <p:cNvSpPr txBox="1"/>
          <p:nvPr/>
        </p:nvSpPr>
        <p:spPr>
          <a:xfrm>
            <a:off x="6705600" y="2260600"/>
            <a:ext cx="419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2300" b="1">
                <a:solidFill>
                  <a:srgbClr val="FFFFFF"/>
                </a:solidFill>
                <a:latin typeface="Aptos" panose="020B0004020202020204" pitchFamily="34" charset="0"/>
              </a:rPr>
              <a:t>Operational requirements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0DC34F4-ACC6-A200-DCE0-62C38C53E0D2}"/>
              </a:ext>
            </a:extLst>
          </p:cNvPr>
          <p:cNvSpPr/>
          <p:nvPr/>
        </p:nvSpPr>
        <p:spPr>
          <a:xfrm>
            <a:off x="6731000" y="2844800"/>
            <a:ext cx="304800" cy="304800"/>
          </a:xfrm>
          <a:prstGeom prst="ellipse">
            <a:avLst/>
          </a:prstGeom>
          <a:solidFill>
            <a:srgbClr val="268E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A2FF0F0-504A-13F9-81CC-20BE65BC0056}"/>
              </a:ext>
            </a:extLst>
          </p:cNvPr>
          <p:cNvSpPr txBox="1"/>
          <p:nvPr/>
        </p:nvSpPr>
        <p:spPr>
          <a:xfrm>
            <a:off x="6794500" y="2921000"/>
            <a:ext cx="1778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900" b="1">
                <a:solidFill>
                  <a:srgbClr val="FFFFFF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3E1E835-768D-B5E5-B677-8DCAB4493274}"/>
              </a:ext>
            </a:extLst>
          </p:cNvPr>
          <p:cNvSpPr txBox="1"/>
          <p:nvPr/>
        </p:nvSpPr>
        <p:spPr>
          <a:xfrm>
            <a:off x="7213600" y="28448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FFFFFF"/>
                </a:solidFill>
                <a:latin typeface="Aptos" panose="020B0004020202020204" pitchFamily="34" charset="0"/>
              </a:rPr>
              <a:t>Responsive on desktop and mobile</a:t>
            </a:r>
            <a:endParaRPr lang="en-IN" sz="14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FFEB7A6-50E2-5A32-682B-B6C354DCD617}"/>
              </a:ext>
            </a:extLst>
          </p:cNvPr>
          <p:cNvSpPr/>
          <p:nvPr/>
        </p:nvSpPr>
        <p:spPr>
          <a:xfrm>
            <a:off x="6731000" y="3479800"/>
            <a:ext cx="304800" cy="304800"/>
          </a:xfrm>
          <a:prstGeom prst="ellipse">
            <a:avLst/>
          </a:prstGeom>
          <a:solidFill>
            <a:srgbClr val="268E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05F9DBF-1A64-29AC-90A8-C0965C66CE2E}"/>
              </a:ext>
            </a:extLst>
          </p:cNvPr>
          <p:cNvSpPr txBox="1"/>
          <p:nvPr/>
        </p:nvSpPr>
        <p:spPr>
          <a:xfrm>
            <a:off x="6794500" y="3556000"/>
            <a:ext cx="1778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900" b="1">
                <a:solidFill>
                  <a:srgbClr val="FFFFFF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20E0451-B779-A003-24ED-D03E3FEBE0D6}"/>
              </a:ext>
            </a:extLst>
          </p:cNvPr>
          <p:cNvSpPr txBox="1"/>
          <p:nvPr/>
        </p:nvSpPr>
        <p:spPr>
          <a:xfrm>
            <a:off x="7213600" y="3479800"/>
            <a:ext cx="3810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FFFFFF"/>
                </a:solidFill>
                <a:latin typeface="Aptos" panose="020B0004020202020204" pitchFamily="34" charset="0"/>
              </a:rPr>
              <a:t>Loading and error feedback during inference</a:t>
            </a:r>
            <a:endParaRPr lang="en-IN" sz="14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97CF71A-E53C-ECC8-23B5-9F3BFD86AEC2}"/>
              </a:ext>
            </a:extLst>
          </p:cNvPr>
          <p:cNvSpPr/>
          <p:nvPr/>
        </p:nvSpPr>
        <p:spPr>
          <a:xfrm>
            <a:off x="6731000" y="4114800"/>
            <a:ext cx="304800" cy="304800"/>
          </a:xfrm>
          <a:prstGeom prst="ellipse">
            <a:avLst/>
          </a:prstGeom>
          <a:solidFill>
            <a:srgbClr val="268E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5FA9176-46FA-8E9D-4B47-AFBD837057DC}"/>
              </a:ext>
            </a:extLst>
          </p:cNvPr>
          <p:cNvSpPr txBox="1"/>
          <p:nvPr/>
        </p:nvSpPr>
        <p:spPr>
          <a:xfrm>
            <a:off x="6794500" y="4191000"/>
            <a:ext cx="1778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900" b="1">
                <a:solidFill>
                  <a:srgbClr val="FFFFFF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B948326-7B77-1DB1-756A-CE533D7F1E50}"/>
              </a:ext>
            </a:extLst>
          </p:cNvPr>
          <p:cNvSpPr txBox="1"/>
          <p:nvPr/>
        </p:nvSpPr>
        <p:spPr>
          <a:xfrm>
            <a:off x="7213600" y="4114800"/>
            <a:ext cx="3810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FFFFFF"/>
                </a:solidFill>
                <a:latin typeface="Aptos" panose="020B0004020202020204" pitchFamily="34" charset="0"/>
              </a:rPr>
              <a:t>API key stays in environment configuration</a:t>
            </a:r>
            <a:endParaRPr lang="en-IN" sz="14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7F22670-D830-7D51-77C4-66C6FDD91ACD}"/>
              </a:ext>
            </a:extLst>
          </p:cNvPr>
          <p:cNvSpPr/>
          <p:nvPr/>
        </p:nvSpPr>
        <p:spPr>
          <a:xfrm>
            <a:off x="6731000" y="4749800"/>
            <a:ext cx="304800" cy="304800"/>
          </a:xfrm>
          <a:prstGeom prst="ellipse">
            <a:avLst/>
          </a:prstGeom>
          <a:solidFill>
            <a:srgbClr val="268E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4CA73FD-5711-4417-EA67-066639C40464}"/>
              </a:ext>
            </a:extLst>
          </p:cNvPr>
          <p:cNvSpPr txBox="1"/>
          <p:nvPr/>
        </p:nvSpPr>
        <p:spPr>
          <a:xfrm>
            <a:off x="6794500" y="4826000"/>
            <a:ext cx="1778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900" b="1">
                <a:solidFill>
                  <a:srgbClr val="FFFFFF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06D2576-B199-A088-4360-167BB588E00C}"/>
              </a:ext>
            </a:extLst>
          </p:cNvPr>
          <p:cNvSpPr txBox="1"/>
          <p:nvPr/>
        </p:nvSpPr>
        <p:spPr>
          <a:xfrm>
            <a:off x="7213600" y="4749800"/>
            <a:ext cx="3810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400">
                <a:solidFill>
                  <a:srgbClr val="FFFFFF"/>
                </a:solidFill>
                <a:latin typeface="Aptos" panose="020B0004020202020204" pitchFamily="34" charset="0"/>
              </a:rPr>
              <a:t>Modular components for maintainability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670C8FC1-43F7-9089-B4B4-55AD58D1D5F9}"/>
              </a:ext>
            </a:extLst>
          </p:cNvPr>
          <p:cNvSpPr/>
          <p:nvPr/>
        </p:nvSpPr>
        <p:spPr>
          <a:xfrm>
            <a:off x="6731000" y="5384800"/>
            <a:ext cx="304800" cy="304800"/>
          </a:xfrm>
          <a:prstGeom prst="ellipse">
            <a:avLst/>
          </a:prstGeom>
          <a:solidFill>
            <a:srgbClr val="268E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B79EE82-C13E-EFB9-B1C9-6EFDEFD0CD42}"/>
              </a:ext>
            </a:extLst>
          </p:cNvPr>
          <p:cNvSpPr txBox="1"/>
          <p:nvPr/>
        </p:nvSpPr>
        <p:spPr>
          <a:xfrm>
            <a:off x="6794500" y="5461000"/>
            <a:ext cx="1778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900" b="1">
                <a:solidFill>
                  <a:srgbClr val="FFFFFF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D1AD1BC-438C-398C-DA65-B87119A07B9A}"/>
              </a:ext>
            </a:extLst>
          </p:cNvPr>
          <p:cNvSpPr txBox="1"/>
          <p:nvPr/>
        </p:nvSpPr>
        <p:spPr>
          <a:xfrm>
            <a:off x="7213600" y="5384800"/>
            <a:ext cx="3810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FFFFFF"/>
                </a:solidFill>
                <a:latin typeface="Aptos" panose="020B0004020202020204" pitchFamily="34" charset="0"/>
              </a:rPr>
              <a:t>Manifest V3 compatibility for the extension</a:t>
            </a:r>
            <a:endParaRPr lang="en-IN" sz="14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268204A-49BD-5A3A-21A0-5ECD3C3D210C}"/>
              </a:ext>
            </a:extLst>
          </p:cNvPr>
          <p:cNvSpPr txBox="1"/>
          <p:nvPr/>
        </p:nvSpPr>
        <p:spPr>
          <a:xfrm>
            <a:off x="609600" y="65532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900">
                <a:solidFill>
                  <a:srgbClr val="5D6C8E"/>
                </a:solidFill>
                <a:latin typeface="Aptos" panose="020B0004020202020204" pitchFamily="34" charset="0"/>
              </a:rPr>
              <a:t>MSE-1 | KIET MCA | Personalized Career Mentor AI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DFCB8F3-8B1C-6A6E-63C6-E584555392C4}"/>
              </a:ext>
            </a:extLst>
          </p:cNvPr>
          <p:cNvSpPr txBox="1"/>
          <p:nvPr/>
        </p:nvSpPr>
        <p:spPr>
          <a:xfrm>
            <a:off x="11303000" y="6553200"/>
            <a:ext cx="279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900" b="1">
                <a:solidFill>
                  <a:srgbClr val="5D6C8E"/>
                </a:solidFill>
                <a:latin typeface="Aptos" panose="020B0004020202020204" pitchFamily="34" charset="0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62477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354405-FA64-8553-83C1-84D2E36AE5A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890AA39-33CD-1BCB-AD55-57C1C32C2E29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5B43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ED16A-F8C6-039D-C0CF-DFEBB6B4D8E2}"/>
              </a:ext>
            </a:extLst>
          </p:cNvPr>
          <p:cNvSpPr txBox="1"/>
          <p:nvPr/>
        </p:nvSpPr>
        <p:spPr>
          <a:xfrm>
            <a:off x="609600" y="330200"/>
            <a:ext cx="3302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100" b="1">
                <a:solidFill>
                  <a:srgbClr val="5B43F2"/>
                </a:solidFill>
                <a:latin typeface="Aptos" panose="020B0004020202020204" pitchFamily="34" charset="0"/>
              </a:rPr>
              <a:t>METRIC 5C | TECHNICAL REQUIREMENTS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E80A46-2EF1-48F8-0962-5FA3859618C2}"/>
              </a:ext>
            </a:extLst>
          </p:cNvPr>
          <p:cNvSpPr txBox="1"/>
          <p:nvPr/>
        </p:nvSpPr>
        <p:spPr>
          <a:xfrm>
            <a:off x="609600" y="6350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3000" b="1">
                <a:solidFill>
                  <a:srgbClr val="0F1734"/>
                </a:solidFill>
                <a:latin typeface="Aptos" panose="020B0004020202020204" pitchFamily="34" charset="0"/>
              </a:rPr>
              <a:t>System flow &amp; data movement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F2E411-B8AF-772A-979F-9F142CB9A3F3}"/>
              </a:ext>
            </a:extLst>
          </p:cNvPr>
          <p:cNvSpPr txBox="1"/>
          <p:nvPr/>
        </p:nvSpPr>
        <p:spPr>
          <a:xfrm>
            <a:off x="609600" y="12192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5D6C8E"/>
                </a:solidFill>
                <a:latin typeface="Aptos" panose="020B0004020202020204" pitchFamily="34" charset="0"/>
              </a:rPr>
              <a:t>Both the website and Chrome extension feed the same analysis path.</a:t>
            </a:r>
            <a:endParaRPr lang="en-IN" sz="1500">
              <a:solidFill>
                <a:srgbClr val="5D6C8E"/>
              </a:solidFill>
              <a:latin typeface="Aptos" panose="020B00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F4B7306-264D-8BA7-FC2B-E60F737FF2A0}"/>
              </a:ext>
            </a:extLst>
          </p:cNvPr>
          <p:cNvCxnSpPr/>
          <p:nvPr/>
        </p:nvCxnSpPr>
        <p:spPr>
          <a:xfrm>
            <a:off x="609600" y="1625600"/>
            <a:ext cx="10972800" cy="0"/>
          </a:xfrm>
          <a:prstGeom prst="line">
            <a:avLst/>
          </a:prstGeom>
          <a:ln w="12700">
            <a:solidFill>
              <a:srgbClr val="D7E0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1BADA2D-6E1F-00EA-4EC7-D7BB1B8C1140}"/>
              </a:ext>
            </a:extLst>
          </p:cNvPr>
          <p:cNvSpPr/>
          <p:nvPr/>
        </p:nvSpPr>
        <p:spPr>
          <a:xfrm>
            <a:off x="10414000" y="330200"/>
            <a:ext cx="1168400" cy="304800"/>
          </a:xfrm>
          <a:prstGeom prst="roundRect">
            <a:avLst/>
          </a:prstGeom>
          <a:solidFill>
            <a:srgbClr val="F2E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1AE553-DF92-18B1-6A93-D16F6DABDDC0}"/>
              </a:ext>
            </a:extLst>
          </p:cNvPr>
          <p:cNvSpPr txBox="1"/>
          <p:nvPr/>
        </p:nvSpPr>
        <p:spPr>
          <a:xfrm>
            <a:off x="10541000" y="381000"/>
            <a:ext cx="914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 b="1">
                <a:solidFill>
                  <a:srgbClr val="5B43F2"/>
                </a:solidFill>
                <a:latin typeface="Aptos" panose="020B0004020202020204" pitchFamily="34" charset="0"/>
              </a:rPr>
              <a:t>METRIC 5C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FD1186B-E702-A47D-3C70-9D6EA9C9AAB2}"/>
              </a:ext>
            </a:extLst>
          </p:cNvPr>
          <p:cNvSpPr/>
          <p:nvPr/>
        </p:nvSpPr>
        <p:spPr>
          <a:xfrm>
            <a:off x="609600" y="2794000"/>
            <a:ext cx="1701800" cy="990600"/>
          </a:xfrm>
          <a:prstGeom prst="roundRect">
            <a:avLst/>
          </a:prstGeom>
          <a:solidFill>
            <a:srgbClr val="F2EEFF"/>
          </a:solidFill>
          <a:ln w="12700">
            <a:solidFill>
              <a:srgbClr val="D7E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4024BB-D7AF-64F6-3A75-D3FB06EE4EC8}"/>
              </a:ext>
            </a:extLst>
          </p:cNvPr>
          <p:cNvSpPr txBox="1"/>
          <p:nvPr/>
        </p:nvSpPr>
        <p:spPr>
          <a:xfrm>
            <a:off x="736600" y="3022600"/>
            <a:ext cx="1447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600" b="1">
                <a:solidFill>
                  <a:srgbClr val="5B43F2"/>
                </a:solidFill>
                <a:latin typeface="Aptos" panose="020B0004020202020204" pitchFamily="34" charset="0"/>
              </a:rPr>
              <a:t>Candidate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B86932-FE48-7EF8-4657-048ECB7319D1}"/>
              </a:ext>
            </a:extLst>
          </p:cNvPr>
          <p:cNvSpPr txBox="1"/>
          <p:nvPr/>
        </p:nvSpPr>
        <p:spPr>
          <a:xfrm>
            <a:off x="736600" y="3378200"/>
            <a:ext cx="14478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>
                <a:solidFill>
                  <a:srgbClr val="5D6C8E"/>
                </a:solidFill>
                <a:latin typeface="Aptos" panose="020B0004020202020204" pitchFamily="34" charset="0"/>
              </a:rPr>
              <a:t>Resume + job description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F7B6B8D-444F-7783-48C6-584670B50B32}"/>
              </a:ext>
            </a:extLst>
          </p:cNvPr>
          <p:cNvSpPr/>
          <p:nvPr/>
        </p:nvSpPr>
        <p:spPr>
          <a:xfrm>
            <a:off x="2844800" y="2794000"/>
            <a:ext cx="1905000" cy="990600"/>
          </a:xfrm>
          <a:prstGeom prst="roundRect">
            <a:avLst/>
          </a:prstGeom>
          <a:solidFill>
            <a:srgbClr val="E9F4FF"/>
          </a:solidFill>
          <a:ln w="12700">
            <a:solidFill>
              <a:srgbClr val="D7E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A0A604-7DEC-EBEB-9E7B-D2DFDBB024C0}"/>
              </a:ext>
            </a:extLst>
          </p:cNvPr>
          <p:cNvSpPr txBox="1"/>
          <p:nvPr/>
        </p:nvSpPr>
        <p:spPr>
          <a:xfrm>
            <a:off x="2971800" y="30226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600" b="1">
                <a:solidFill>
                  <a:srgbClr val="268EDA"/>
                </a:solidFill>
                <a:latin typeface="Aptos" panose="020B0004020202020204" pitchFamily="34" charset="0"/>
              </a:rPr>
              <a:t>Next.js / React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61073A-96D1-5BDF-A1A8-0F3C67B219CC}"/>
              </a:ext>
            </a:extLst>
          </p:cNvPr>
          <p:cNvSpPr txBox="1"/>
          <p:nvPr/>
        </p:nvSpPr>
        <p:spPr>
          <a:xfrm>
            <a:off x="2971800" y="33782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>
                <a:solidFill>
                  <a:srgbClr val="5D6C8E"/>
                </a:solidFill>
                <a:latin typeface="Aptos" panose="020B0004020202020204" pitchFamily="34" charset="0"/>
              </a:rPr>
              <a:t>Input + controls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561F321-9F26-AA6A-275E-7A07070BD44F}"/>
              </a:ext>
            </a:extLst>
          </p:cNvPr>
          <p:cNvSpPr/>
          <p:nvPr/>
        </p:nvSpPr>
        <p:spPr>
          <a:xfrm>
            <a:off x="5283200" y="2794000"/>
            <a:ext cx="1905000" cy="990600"/>
          </a:xfrm>
          <a:prstGeom prst="roundRect">
            <a:avLst/>
          </a:prstGeom>
          <a:solidFill>
            <a:srgbClr val="E6FAF6"/>
          </a:solidFill>
          <a:ln w="12700">
            <a:solidFill>
              <a:srgbClr val="D7E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8CE5DD-F032-B7BD-B1B9-14BC3F7E4E5E}"/>
              </a:ext>
            </a:extLst>
          </p:cNvPr>
          <p:cNvSpPr txBox="1"/>
          <p:nvPr/>
        </p:nvSpPr>
        <p:spPr>
          <a:xfrm>
            <a:off x="5410200" y="30226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600" b="1">
                <a:solidFill>
                  <a:srgbClr val="21C294"/>
                </a:solidFill>
                <a:latin typeface="Aptos" panose="020B0004020202020204" pitchFamily="34" charset="0"/>
              </a:rPr>
              <a:t>FastAPI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8E5BF3-91E5-70C2-873C-AA3A2AAC4216}"/>
              </a:ext>
            </a:extLst>
          </p:cNvPr>
          <p:cNvSpPr txBox="1"/>
          <p:nvPr/>
        </p:nvSpPr>
        <p:spPr>
          <a:xfrm>
            <a:off x="5410200" y="3378200"/>
            <a:ext cx="1651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>
                <a:solidFill>
                  <a:srgbClr val="5D6C8E"/>
                </a:solidFill>
                <a:latin typeface="Aptos" panose="020B0004020202020204" pitchFamily="34" charset="0"/>
              </a:rPr>
              <a:t>Analysis endpoint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28B5633-7A86-E35A-08F3-878E2284DD37}"/>
              </a:ext>
            </a:extLst>
          </p:cNvPr>
          <p:cNvSpPr/>
          <p:nvPr/>
        </p:nvSpPr>
        <p:spPr>
          <a:xfrm>
            <a:off x="7721600" y="2794000"/>
            <a:ext cx="1905000" cy="990600"/>
          </a:xfrm>
          <a:prstGeom prst="roundRect">
            <a:avLst/>
          </a:prstGeom>
          <a:solidFill>
            <a:srgbClr val="FFF6E4"/>
          </a:solidFill>
          <a:ln w="12700">
            <a:solidFill>
              <a:srgbClr val="D7E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25ACD5-7481-F13D-FDC8-972A5753BFBE}"/>
              </a:ext>
            </a:extLst>
          </p:cNvPr>
          <p:cNvSpPr txBox="1"/>
          <p:nvPr/>
        </p:nvSpPr>
        <p:spPr>
          <a:xfrm>
            <a:off x="7848600" y="3022600"/>
            <a:ext cx="1651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600" b="1">
                <a:solidFill>
                  <a:srgbClr val="EE8F22"/>
                </a:solidFill>
                <a:latin typeface="Aptos" panose="020B0004020202020204" pitchFamily="34" charset="0"/>
              </a:rPr>
              <a:t>LangChain + Groq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1176676-508A-E63D-9A9A-0F2EDBE2FCEC}"/>
              </a:ext>
            </a:extLst>
          </p:cNvPr>
          <p:cNvSpPr txBox="1"/>
          <p:nvPr/>
        </p:nvSpPr>
        <p:spPr>
          <a:xfrm>
            <a:off x="7848600" y="3378200"/>
            <a:ext cx="1651000" cy="92333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>
                <a:solidFill>
                  <a:srgbClr val="5D6C8E"/>
                </a:solidFill>
                <a:latin typeface="Aptos" panose="020B0004020202020204" pitchFamily="34" charset="0"/>
              </a:rPr>
              <a:t>Role-constrained prompt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1A6FF39-09DF-4C07-CB1F-D45D24F97DD6}"/>
              </a:ext>
            </a:extLst>
          </p:cNvPr>
          <p:cNvSpPr/>
          <p:nvPr/>
        </p:nvSpPr>
        <p:spPr>
          <a:xfrm>
            <a:off x="10160000" y="2794000"/>
            <a:ext cx="1422400" cy="990600"/>
          </a:xfrm>
          <a:prstGeom prst="roundRect">
            <a:avLst/>
          </a:prstGeom>
          <a:solidFill>
            <a:srgbClr val="FFEFF6"/>
          </a:solidFill>
          <a:ln w="12700">
            <a:solidFill>
              <a:srgbClr val="D7E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01A8C9-8145-DC90-8C60-D07C6324D3ED}"/>
              </a:ext>
            </a:extLst>
          </p:cNvPr>
          <p:cNvSpPr txBox="1"/>
          <p:nvPr/>
        </p:nvSpPr>
        <p:spPr>
          <a:xfrm>
            <a:off x="10287000" y="3022600"/>
            <a:ext cx="1168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600" b="1">
                <a:solidFill>
                  <a:srgbClr val="F469A6"/>
                </a:solidFill>
                <a:latin typeface="Aptos" panose="020B0004020202020204" pitchFamily="34" charset="0"/>
              </a:rPr>
              <a:t>Report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43964C-AF7C-B80D-EFE1-1C348B765488}"/>
              </a:ext>
            </a:extLst>
          </p:cNvPr>
          <p:cNvSpPr txBox="1"/>
          <p:nvPr/>
        </p:nvSpPr>
        <p:spPr>
          <a:xfrm>
            <a:off x="10287000" y="3378200"/>
            <a:ext cx="1168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>
                <a:solidFill>
                  <a:srgbClr val="5D6C8E"/>
                </a:solidFill>
                <a:latin typeface="Aptos" panose="020B0004020202020204" pitchFamily="34" charset="0"/>
              </a:rPr>
              <a:t>Validated JSON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E155F51-C2AD-B9EA-AA76-DA1D20F7625C}"/>
              </a:ext>
            </a:extLst>
          </p:cNvPr>
          <p:cNvCxnSpPr/>
          <p:nvPr/>
        </p:nvCxnSpPr>
        <p:spPr>
          <a:xfrm>
            <a:off x="2311400" y="3289300"/>
            <a:ext cx="533400" cy="0"/>
          </a:xfrm>
          <a:prstGeom prst="line">
            <a:avLst/>
          </a:prstGeom>
          <a:ln w="25400">
            <a:solidFill>
              <a:srgbClr val="5B43F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9D68F6C-A1C4-A0B5-AA24-1E7B326A080C}"/>
              </a:ext>
            </a:extLst>
          </p:cNvPr>
          <p:cNvCxnSpPr/>
          <p:nvPr/>
        </p:nvCxnSpPr>
        <p:spPr>
          <a:xfrm>
            <a:off x="4749800" y="3289300"/>
            <a:ext cx="533400" cy="0"/>
          </a:xfrm>
          <a:prstGeom prst="line">
            <a:avLst/>
          </a:prstGeom>
          <a:ln w="25400">
            <a:solidFill>
              <a:srgbClr val="5B43F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99ABA76-727F-E8DA-E29F-C5F22B590DA6}"/>
              </a:ext>
            </a:extLst>
          </p:cNvPr>
          <p:cNvCxnSpPr/>
          <p:nvPr/>
        </p:nvCxnSpPr>
        <p:spPr>
          <a:xfrm>
            <a:off x="7188200" y="3289300"/>
            <a:ext cx="533400" cy="0"/>
          </a:xfrm>
          <a:prstGeom prst="line">
            <a:avLst/>
          </a:prstGeom>
          <a:ln w="25400">
            <a:solidFill>
              <a:srgbClr val="5B43F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D568E94-1011-B5CA-317D-962CA0692D60}"/>
              </a:ext>
            </a:extLst>
          </p:cNvPr>
          <p:cNvCxnSpPr/>
          <p:nvPr/>
        </p:nvCxnSpPr>
        <p:spPr>
          <a:xfrm>
            <a:off x="9626600" y="3289300"/>
            <a:ext cx="533400" cy="0"/>
          </a:xfrm>
          <a:prstGeom prst="line">
            <a:avLst/>
          </a:prstGeom>
          <a:ln w="25400">
            <a:solidFill>
              <a:srgbClr val="5B43F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57FCE7A-A280-AD6E-2FFD-753F5575EAF9}"/>
              </a:ext>
            </a:extLst>
          </p:cNvPr>
          <p:cNvSpPr/>
          <p:nvPr/>
        </p:nvSpPr>
        <p:spPr>
          <a:xfrm>
            <a:off x="2844800" y="4394200"/>
            <a:ext cx="1905000" cy="78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8B4EB34-2D35-47F0-927D-2AEBCB34AD86}"/>
              </a:ext>
            </a:extLst>
          </p:cNvPr>
          <p:cNvSpPr txBox="1"/>
          <p:nvPr/>
        </p:nvSpPr>
        <p:spPr>
          <a:xfrm>
            <a:off x="3022600" y="4584700"/>
            <a:ext cx="1549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500" b="1">
                <a:solidFill>
                  <a:srgbClr val="0F1734"/>
                </a:solidFill>
                <a:latin typeface="Aptos" panose="020B0004020202020204" pitchFamily="34" charset="0"/>
              </a:rPr>
              <a:t>Optional PDF</a:t>
            </a:r>
          </a:p>
          <a:p>
            <a:pPr algn="ctr"/>
            <a:r>
              <a:rPr lang="en-IN" sz="1500" b="1">
                <a:solidFill>
                  <a:srgbClr val="0F1734"/>
                </a:solidFill>
                <a:latin typeface="Aptos" panose="020B0004020202020204" pitchFamily="34" charset="0"/>
              </a:rPr>
              <a:t>text extraction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D0CAA23-C0D5-68DA-6D23-A1BD5CE0612C}"/>
              </a:ext>
            </a:extLst>
          </p:cNvPr>
          <p:cNvCxnSpPr/>
          <p:nvPr/>
        </p:nvCxnSpPr>
        <p:spPr>
          <a:xfrm flipV="1">
            <a:off x="3797300" y="3784600"/>
            <a:ext cx="0" cy="609600"/>
          </a:xfrm>
          <a:prstGeom prst="line">
            <a:avLst/>
          </a:prstGeom>
          <a:ln w="19050">
            <a:solidFill>
              <a:srgbClr val="268E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8011DE4-9C15-93C5-9A31-50272E7504BC}"/>
              </a:ext>
            </a:extLst>
          </p:cNvPr>
          <p:cNvSpPr/>
          <p:nvPr/>
        </p:nvSpPr>
        <p:spPr>
          <a:xfrm>
            <a:off x="609600" y="4394200"/>
            <a:ext cx="1701800" cy="78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2F67DD4-26CB-14F5-2A94-EE2C1F8467D3}"/>
              </a:ext>
            </a:extLst>
          </p:cNvPr>
          <p:cNvSpPr txBox="1"/>
          <p:nvPr/>
        </p:nvSpPr>
        <p:spPr>
          <a:xfrm>
            <a:off x="762000" y="4584700"/>
            <a:ext cx="1397000" cy="120032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400" b="1">
                <a:solidFill>
                  <a:srgbClr val="0F1734"/>
                </a:solidFill>
                <a:latin typeface="Aptos" panose="020B0004020202020204" pitchFamily="34" charset="0"/>
              </a:rPr>
              <a:t>Chrome extension</a:t>
            </a:r>
          </a:p>
          <a:p>
            <a:pPr algn="ctr"/>
            <a:r>
              <a:rPr lang="en-US" sz="1400" b="1">
                <a:solidFill>
                  <a:srgbClr val="0F1734"/>
                </a:solidFill>
                <a:latin typeface="Aptos" panose="020B0004020202020204" pitchFamily="34" charset="0"/>
              </a:rPr>
              <a:t>LinkedIn job page</a:t>
            </a:r>
            <a:endParaRPr lang="en-IN" sz="1400" b="1">
              <a:solidFill>
                <a:srgbClr val="0F1734"/>
              </a:solidFill>
              <a:latin typeface="Aptos" panose="020B0004020202020204" pitchFamily="34" charset="0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3B9D110-49FC-E064-54AC-7AF48B6BFE05}"/>
              </a:ext>
            </a:extLst>
          </p:cNvPr>
          <p:cNvCxnSpPr/>
          <p:nvPr/>
        </p:nvCxnSpPr>
        <p:spPr>
          <a:xfrm flipV="1">
            <a:off x="1460500" y="3784600"/>
            <a:ext cx="0" cy="609600"/>
          </a:xfrm>
          <a:prstGeom prst="line">
            <a:avLst/>
          </a:prstGeom>
          <a:ln w="19050">
            <a:solidFill>
              <a:srgbClr val="F469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A44A98D-3CC9-43C2-2218-D972C7D305AB}"/>
              </a:ext>
            </a:extLst>
          </p:cNvPr>
          <p:cNvSpPr txBox="1"/>
          <p:nvPr/>
        </p:nvSpPr>
        <p:spPr>
          <a:xfrm>
            <a:off x="609600" y="56642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5D6C8E"/>
                </a:solidFill>
                <a:latin typeface="Aptos" panose="020B0004020202020204" pitchFamily="34" charset="0"/>
              </a:rPr>
              <a:t>Pydantic schema validation keeps the AI response structured before it reaches the dashboard.</a:t>
            </a:r>
            <a:endParaRPr lang="en-IN" sz="1600">
              <a:solidFill>
                <a:srgbClr val="5D6C8E"/>
              </a:solidFill>
              <a:latin typeface="Aptos" panose="020B00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65E033D-9E49-E004-61DD-2716EBBE6145}"/>
              </a:ext>
            </a:extLst>
          </p:cNvPr>
          <p:cNvSpPr txBox="1"/>
          <p:nvPr/>
        </p:nvSpPr>
        <p:spPr>
          <a:xfrm>
            <a:off x="609600" y="65532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900">
                <a:solidFill>
                  <a:srgbClr val="5D6C8E"/>
                </a:solidFill>
                <a:latin typeface="Aptos" panose="020B0004020202020204" pitchFamily="34" charset="0"/>
              </a:rPr>
              <a:t>MSE-1 | KIET MCA | Personalized Career Mentor AI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91DC6AE-F91A-05F8-DEB2-D60616E466F2}"/>
              </a:ext>
            </a:extLst>
          </p:cNvPr>
          <p:cNvSpPr txBox="1"/>
          <p:nvPr/>
        </p:nvSpPr>
        <p:spPr>
          <a:xfrm>
            <a:off x="11303000" y="6553200"/>
            <a:ext cx="279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900" b="1">
                <a:solidFill>
                  <a:srgbClr val="5D6C8E"/>
                </a:solidFill>
                <a:latin typeface="Aptos" panose="020B0004020202020204" pitchFamily="34" charset="0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511352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1C32C2-B5A6-5052-1687-D3FA62CF836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81022B1-A078-D216-EAC4-866F1DA49248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5B43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1531DB-1DCA-E231-378B-BD9B028F5751}"/>
              </a:ext>
            </a:extLst>
          </p:cNvPr>
          <p:cNvSpPr txBox="1"/>
          <p:nvPr/>
        </p:nvSpPr>
        <p:spPr>
          <a:xfrm>
            <a:off x="609600" y="330200"/>
            <a:ext cx="3302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100" b="1">
                <a:solidFill>
                  <a:srgbClr val="5B43F2"/>
                </a:solidFill>
                <a:latin typeface="Aptos" panose="020B0004020202020204" pitchFamily="34" charset="0"/>
              </a:rPr>
              <a:t>METRIC 6 | INTERPRETATION &amp; MODELING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02FBF3-9330-5E6F-413A-2B90DFED2FED}"/>
              </a:ext>
            </a:extLst>
          </p:cNvPr>
          <p:cNvSpPr txBox="1"/>
          <p:nvPr/>
        </p:nvSpPr>
        <p:spPr>
          <a:xfrm>
            <a:off x="609600" y="6350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3000" b="1">
                <a:solidFill>
                  <a:srgbClr val="0F1734"/>
                </a:solidFill>
                <a:latin typeface="Aptos" panose="020B0004020202020204" pitchFamily="34" charset="0"/>
              </a:rPr>
              <a:t>System model &amp; AI method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DBD43B-F238-70A9-DE2F-6BF48B21821D}"/>
              </a:ext>
            </a:extLst>
          </p:cNvPr>
          <p:cNvSpPr txBox="1"/>
          <p:nvPr/>
        </p:nvSpPr>
        <p:spPr>
          <a:xfrm>
            <a:off x="609600" y="12192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5D6C8E"/>
                </a:solidFill>
                <a:latin typeface="Aptos" panose="020B0004020202020204" pitchFamily="34" charset="0"/>
              </a:rPr>
              <a:t>The design separates the user, application logic, and analysis data so the result stays explainable.</a:t>
            </a:r>
            <a:endParaRPr lang="en-IN" sz="1500">
              <a:solidFill>
                <a:srgbClr val="5D6C8E"/>
              </a:solidFill>
              <a:latin typeface="Aptos" panose="020B00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D7D16FD-46C9-E1D6-673E-98008EA780E6}"/>
              </a:ext>
            </a:extLst>
          </p:cNvPr>
          <p:cNvCxnSpPr/>
          <p:nvPr/>
        </p:nvCxnSpPr>
        <p:spPr>
          <a:xfrm>
            <a:off x="609600" y="1625600"/>
            <a:ext cx="10972800" cy="0"/>
          </a:xfrm>
          <a:prstGeom prst="line">
            <a:avLst/>
          </a:prstGeom>
          <a:ln w="12700">
            <a:solidFill>
              <a:srgbClr val="D7E0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549C87D-13B6-92F0-EB89-3C3827E0AF07}"/>
              </a:ext>
            </a:extLst>
          </p:cNvPr>
          <p:cNvSpPr/>
          <p:nvPr/>
        </p:nvSpPr>
        <p:spPr>
          <a:xfrm>
            <a:off x="10414000" y="330200"/>
            <a:ext cx="1168400" cy="304800"/>
          </a:xfrm>
          <a:prstGeom prst="roundRect">
            <a:avLst/>
          </a:prstGeom>
          <a:solidFill>
            <a:srgbClr val="F2E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280B8B-7341-0710-7F13-F9B976A0D052}"/>
              </a:ext>
            </a:extLst>
          </p:cNvPr>
          <p:cNvSpPr txBox="1"/>
          <p:nvPr/>
        </p:nvSpPr>
        <p:spPr>
          <a:xfrm>
            <a:off x="10541000" y="381000"/>
            <a:ext cx="914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 b="1">
                <a:solidFill>
                  <a:srgbClr val="5B43F2"/>
                </a:solidFill>
                <a:latin typeface="Aptos" panose="020B0004020202020204" pitchFamily="34" charset="0"/>
              </a:rPr>
              <a:t>METRIC 6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53B354C-37CC-9DE5-AFEE-457FED7515A9}"/>
              </a:ext>
            </a:extLst>
          </p:cNvPr>
          <p:cNvSpPr/>
          <p:nvPr/>
        </p:nvSpPr>
        <p:spPr>
          <a:xfrm>
            <a:off x="609600" y="2184400"/>
            <a:ext cx="3200400" cy="2514600"/>
          </a:xfrm>
          <a:prstGeom prst="roundRect">
            <a:avLst/>
          </a:prstGeom>
          <a:solidFill>
            <a:srgbClr val="F2EEFF"/>
          </a:solidFill>
          <a:ln w="12700">
            <a:solidFill>
              <a:srgbClr val="D7E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678D17-AD94-F9B2-4AC4-091257BB4A13}"/>
              </a:ext>
            </a:extLst>
          </p:cNvPr>
          <p:cNvSpPr txBox="1"/>
          <p:nvPr/>
        </p:nvSpPr>
        <p:spPr>
          <a:xfrm>
            <a:off x="889000" y="2489200"/>
            <a:ext cx="2641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2200" b="1">
                <a:solidFill>
                  <a:srgbClr val="5B43F2"/>
                </a:solidFill>
                <a:latin typeface="Aptos" panose="020B0004020202020204" pitchFamily="34" charset="0"/>
              </a:rPr>
              <a:t>User model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BECDB26-FD8F-0B32-404F-F869B0DC0F73}"/>
              </a:ext>
            </a:extLst>
          </p:cNvPr>
          <p:cNvSpPr/>
          <p:nvPr/>
        </p:nvSpPr>
        <p:spPr>
          <a:xfrm>
            <a:off x="914400" y="3124200"/>
            <a:ext cx="228600" cy="2286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0A3FA6-6CE6-0965-5843-BC35B3034174}"/>
              </a:ext>
            </a:extLst>
          </p:cNvPr>
          <p:cNvSpPr txBox="1"/>
          <p:nvPr/>
        </p:nvSpPr>
        <p:spPr>
          <a:xfrm>
            <a:off x="965200" y="3149600"/>
            <a:ext cx="127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900" b="1">
                <a:solidFill>
                  <a:srgbClr val="5B43F2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DDE192-A263-C28C-CAFD-B9C495166229}"/>
              </a:ext>
            </a:extLst>
          </p:cNvPr>
          <p:cNvSpPr txBox="1"/>
          <p:nvPr/>
        </p:nvSpPr>
        <p:spPr>
          <a:xfrm>
            <a:off x="1270000" y="31115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1A223C"/>
                </a:solidFill>
                <a:latin typeface="Aptos" panose="020B0004020202020204" pitchFamily="34" charset="0"/>
              </a:rPr>
              <a:t>Resume text or PDF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9511179-39A0-2D2A-AAE6-2FFFA2F5B04B}"/>
              </a:ext>
            </a:extLst>
          </p:cNvPr>
          <p:cNvSpPr/>
          <p:nvPr/>
        </p:nvSpPr>
        <p:spPr>
          <a:xfrm>
            <a:off x="914400" y="3581400"/>
            <a:ext cx="228600" cy="2286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3814A2-5946-160E-AAE6-09B63BC82870}"/>
              </a:ext>
            </a:extLst>
          </p:cNvPr>
          <p:cNvSpPr txBox="1"/>
          <p:nvPr/>
        </p:nvSpPr>
        <p:spPr>
          <a:xfrm>
            <a:off x="965200" y="3606800"/>
            <a:ext cx="127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900" b="1">
                <a:solidFill>
                  <a:srgbClr val="5B43F2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67808C-2569-2E0C-A35D-20BC68DDD3D3}"/>
              </a:ext>
            </a:extLst>
          </p:cNvPr>
          <p:cNvSpPr txBox="1"/>
          <p:nvPr/>
        </p:nvSpPr>
        <p:spPr>
          <a:xfrm>
            <a:off x="1270000" y="35687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1A223C"/>
                </a:solidFill>
                <a:latin typeface="Aptos" panose="020B0004020202020204" pitchFamily="34" charset="0"/>
              </a:rPr>
              <a:t>Target job description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DE7F169-DB1C-3F05-6546-B0A5E379E764}"/>
              </a:ext>
            </a:extLst>
          </p:cNvPr>
          <p:cNvSpPr/>
          <p:nvPr/>
        </p:nvSpPr>
        <p:spPr>
          <a:xfrm>
            <a:off x="914400" y="4038600"/>
            <a:ext cx="228600" cy="2286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F6D3F6-D576-5080-34B7-E0B65A639B1A}"/>
              </a:ext>
            </a:extLst>
          </p:cNvPr>
          <p:cNvSpPr txBox="1"/>
          <p:nvPr/>
        </p:nvSpPr>
        <p:spPr>
          <a:xfrm>
            <a:off x="965200" y="4064000"/>
            <a:ext cx="127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900" b="1">
                <a:solidFill>
                  <a:srgbClr val="5B43F2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32EB0F-3AB1-BA8D-CFC1-CD690275B945}"/>
              </a:ext>
            </a:extLst>
          </p:cNvPr>
          <p:cNvSpPr txBox="1"/>
          <p:nvPr/>
        </p:nvSpPr>
        <p:spPr>
          <a:xfrm>
            <a:off x="1270000" y="4025900"/>
            <a:ext cx="2286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1A223C"/>
                </a:solidFill>
                <a:latin typeface="Aptos" panose="020B0004020202020204" pitchFamily="34" charset="0"/>
              </a:rPr>
              <a:t>Model + depth controls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49CC70F-6D3E-C4E9-848D-05F80413FB68}"/>
              </a:ext>
            </a:extLst>
          </p:cNvPr>
          <p:cNvSpPr/>
          <p:nvPr/>
        </p:nvSpPr>
        <p:spPr>
          <a:xfrm>
            <a:off x="4191000" y="2184400"/>
            <a:ext cx="3200400" cy="2514600"/>
          </a:xfrm>
          <a:prstGeom prst="roundRect">
            <a:avLst/>
          </a:prstGeom>
          <a:solidFill>
            <a:srgbClr val="E9F4FF"/>
          </a:solidFill>
          <a:ln w="12700">
            <a:solidFill>
              <a:srgbClr val="D7E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FF57603-45A6-916F-4E89-28318C68B24B}"/>
              </a:ext>
            </a:extLst>
          </p:cNvPr>
          <p:cNvSpPr txBox="1"/>
          <p:nvPr/>
        </p:nvSpPr>
        <p:spPr>
          <a:xfrm>
            <a:off x="4470400" y="2489200"/>
            <a:ext cx="2641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2200" b="1">
                <a:solidFill>
                  <a:srgbClr val="268EDA"/>
                </a:solidFill>
                <a:latin typeface="Aptos" panose="020B0004020202020204" pitchFamily="34" charset="0"/>
              </a:rPr>
              <a:t>Application model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89651C5-31A1-5CB7-37AB-0058DD490FF1}"/>
              </a:ext>
            </a:extLst>
          </p:cNvPr>
          <p:cNvSpPr/>
          <p:nvPr/>
        </p:nvSpPr>
        <p:spPr>
          <a:xfrm>
            <a:off x="4495800" y="3124200"/>
            <a:ext cx="228600" cy="2286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56EB26-938C-8508-4188-A10FEC4B1A6E}"/>
              </a:ext>
            </a:extLst>
          </p:cNvPr>
          <p:cNvSpPr txBox="1"/>
          <p:nvPr/>
        </p:nvSpPr>
        <p:spPr>
          <a:xfrm>
            <a:off x="4546600" y="3149600"/>
            <a:ext cx="127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900" b="1">
                <a:solidFill>
                  <a:srgbClr val="268EDA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FE9E97B-0BB1-CBE7-FFAD-10777FBD6F74}"/>
              </a:ext>
            </a:extLst>
          </p:cNvPr>
          <p:cNvSpPr txBox="1"/>
          <p:nvPr/>
        </p:nvSpPr>
        <p:spPr>
          <a:xfrm>
            <a:off x="4851400" y="31115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1A223C"/>
                </a:solidFill>
                <a:latin typeface="Aptos" panose="020B0004020202020204" pitchFamily="34" charset="0"/>
              </a:rPr>
              <a:t>Responsive Next.js UI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5A2A01B-431C-E456-E7FD-E83BAF756DEA}"/>
              </a:ext>
            </a:extLst>
          </p:cNvPr>
          <p:cNvSpPr/>
          <p:nvPr/>
        </p:nvSpPr>
        <p:spPr>
          <a:xfrm>
            <a:off x="4495800" y="3581400"/>
            <a:ext cx="228600" cy="2286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B0BF30-93D6-820C-1782-2E2F983CB0CE}"/>
              </a:ext>
            </a:extLst>
          </p:cNvPr>
          <p:cNvSpPr txBox="1"/>
          <p:nvPr/>
        </p:nvSpPr>
        <p:spPr>
          <a:xfrm>
            <a:off x="4546600" y="3606800"/>
            <a:ext cx="127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900" b="1">
                <a:solidFill>
                  <a:srgbClr val="268EDA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8B62533-36C7-3F2B-E7A0-D018979FB33B}"/>
              </a:ext>
            </a:extLst>
          </p:cNvPr>
          <p:cNvSpPr txBox="1"/>
          <p:nvPr/>
        </p:nvSpPr>
        <p:spPr>
          <a:xfrm>
            <a:off x="4851400" y="35687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1A223C"/>
                </a:solidFill>
                <a:latin typeface="Aptos" panose="020B0004020202020204" pitchFamily="34" charset="0"/>
              </a:rPr>
              <a:t>FastAPI routes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5530BF0-0E82-0FB9-7C5C-F4A33BB07B31}"/>
              </a:ext>
            </a:extLst>
          </p:cNvPr>
          <p:cNvSpPr/>
          <p:nvPr/>
        </p:nvSpPr>
        <p:spPr>
          <a:xfrm>
            <a:off x="4495800" y="4038600"/>
            <a:ext cx="228600" cy="2286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9D97570-7816-52FF-5ACB-7FB761424B2A}"/>
              </a:ext>
            </a:extLst>
          </p:cNvPr>
          <p:cNvSpPr txBox="1"/>
          <p:nvPr/>
        </p:nvSpPr>
        <p:spPr>
          <a:xfrm>
            <a:off x="4546600" y="4064000"/>
            <a:ext cx="127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900" b="1">
                <a:solidFill>
                  <a:srgbClr val="268EDA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8AE01A5-75D4-3D08-78F8-A383BD921FF8}"/>
              </a:ext>
            </a:extLst>
          </p:cNvPr>
          <p:cNvSpPr txBox="1"/>
          <p:nvPr/>
        </p:nvSpPr>
        <p:spPr>
          <a:xfrm>
            <a:off x="4851400" y="4025900"/>
            <a:ext cx="2286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1A223C"/>
                </a:solidFill>
                <a:latin typeface="Aptos" panose="020B0004020202020204" pitchFamily="34" charset="0"/>
              </a:rPr>
              <a:t>Chrome extension entry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0ED1C9D-D0F1-71D4-A5F8-5AE0E558D1AB}"/>
              </a:ext>
            </a:extLst>
          </p:cNvPr>
          <p:cNvSpPr/>
          <p:nvPr/>
        </p:nvSpPr>
        <p:spPr>
          <a:xfrm>
            <a:off x="7772400" y="2184400"/>
            <a:ext cx="3200400" cy="2514600"/>
          </a:xfrm>
          <a:prstGeom prst="roundRect">
            <a:avLst/>
          </a:prstGeom>
          <a:solidFill>
            <a:srgbClr val="E6FAF6"/>
          </a:solidFill>
          <a:ln w="12700">
            <a:solidFill>
              <a:srgbClr val="D7E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9A5CFA3-1D1E-364F-F986-1E75469BB1AB}"/>
              </a:ext>
            </a:extLst>
          </p:cNvPr>
          <p:cNvSpPr txBox="1"/>
          <p:nvPr/>
        </p:nvSpPr>
        <p:spPr>
          <a:xfrm>
            <a:off x="8051800" y="2489200"/>
            <a:ext cx="2641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2200" b="1">
                <a:solidFill>
                  <a:srgbClr val="21C294"/>
                </a:solidFill>
                <a:latin typeface="Aptos" panose="020B0004020202020204" pitchFamily="34" charset="0"/>
              </a:rPr>
              <a:t>Data model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E0FF9A4-5DAB-A173-09A3-735C778D3DCD}"/>
              </a:ext>
            </a:extLst>
          </p:cNvPr>
          <p:cNvSpPr/>
          <p:nvPr/>
        </p:nvSpPr>
        <p:spPr>
          <a:xfrm>
            <a:off x="8077200" y="3124200"/>
            <a:ext cx="228600" cy="2286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AC0F179-DC84-06D6-84C5-174311BCB87C}"/>
              </a:ext>
            </a:extLst>
          </p:cNvPr>
          <p:cNvSpPr txBox="1"/>
          <p:nvPr/>
        </p:nvSpPr>
        <p:spPr>
          <a:xfrm>
            <a:off x="8128000" y="3149600"/>
            <a:ext cx="127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900" b="1">
                <a:solidFill>
                  <a:srgbClr val="21C294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40A2978-1B3E-96C5-8F6D-A35CCD6B2E8D}"/>
              </a:ext>
            </a:extLst>
          </p:cNvPr>
          <p:cNvSpPr txBox="1"/>
          <p:nvPr/>
        </p:nvSpPr>
        <p:spPr>
          <a:xfrm>
            <a:off x="8432800" y="3111500"/>
            <a:ext cx="2286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1A223C"/>
                </a:solidFill>
                <a:latin typeface="Aptos" panose="020B0004020202020204" pitchFamily="34" charset="0"/>
              </a:rPr>
              <a:t>Matched / missing skills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0EED7A7-DB13-8E8F-3ED0-A56AC3960566}"/>
              </a:ext>
            </a:extLst>
          </p:cNvPr>
          <p:cNvSpPr/>
          <p:nvPr/>
        </p:nvSpPr>
        <p:spPr>
          <a:xfrm>
            <a:off x="8077200" y="3581400"/>
            <a:ext cx="228600" cy="2286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C8691A8-7218-4628-2C0C-1B750E4F6F2B}"/>
              </a:ext>
            </a:extLst>
          </p:cNvPr>
          <p:cNvSpPr txBox="1"/>
          <p:nvPr/>
        </p:nvSpPr>
        <p:spPr>
          <a:xfrm>
            <a:off x="8128000" y="3606800"/>
            <a:ext cx="127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900" b="1">
                <a:solidFill>
                  <a:srgbClr val="21C294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B1D47DD-E674-BE8A-1E9D-12BD6ADE12C2}"/>
              </a:ext>
            </a:extLst>
          </p:cNvPr>
          <p:cNvSpPr txBox="1"/>
          <p:nvPr/>
        </p:nvSpPr>
        <p:spPr>
          <a:xfrm>
            <a:off x="8432800" y="35687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1A223C"/>
                </a:solidFill>
                <a:latin typeface="Aptos" panose="020B0004020202020204" pitchFamily="34" charset="0"/>
              </a:rPr>
              <a:t>Score + assessments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EDF12A3-08CE-3E3E-271E-02D6A84C5009}"/>
              </a:ext>
            </a:extLst>
          </p:cNvPr>
          <p:cNvSpPr/>
          <p:nvPr/>
        </p:nvSpPr>
        <p:spPr>
          <a:xfrm>
            <a:off x="8077200" y="4038600"/>
            <a:ext cx="228600" cy="2286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52B0968-4879-CAC2-E851-22C9393D9901}"/>
              </a:ext>
            </a:extLst>
          </p:cNvPr>
          <p:cNvSpPr txBox="1"/>
          <p:nvPr/>
        </p:nvSpPr>
        <p:spPr>
          <a:xfrm>
            <a:off x="8128000" y="4064000"/>
            <a:ext cx="127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900" b="1">
                <a:solidFill>
                  <a:srgbClr val="21C294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608107C-11F0-7A00-49C0-E9564087BEAC}"/>
              </a:ext>
            </a:extLst>
          </p:cNvPr>
          <p:cNvSpPr txBox="1"/>
          <p:nvPr/>
        </p:nvSpPr>
        <p:spPr>
          <a:xfrm>
            <a:off x="8432800" y="4025900"/>
            <a:ext cx="2286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1A223C"/>
                </a:solidFill>
                <a:latin typeface="Aptos" panose="020B0004020202020204" pitchFamily="34" charset="0"/>
              </a:rPr>
              <a:t>Actions + interview prompts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6DE78ECF-6FA9-9A6B-3F4E-F9DBC108442A}"/>
              </a:ext>
            </a:extLst>
          </p:cNvPr>
          <p:cNvSpPr/>
          <p:nvPr/>
        </p:nvSpPr>
        <p:spPr>
          <a:xfrm>
            <a:off x="609600" y="5130800"/>
            <a:ext cx="10363200" cy="711200"/>
          </a:xfrm>
          <a:prstGeom prst="roundRect">
            <a:avLst/>
          </a:prstGeom>
          <a:solidFill>
            <a:srgbClr val="0F17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A2E9492-3ACF-102B-949F-319513CFF847}"/>
              </a:ext>
            </a:extLst>
          </p:cNvPr>
          <p:cNvSpPr txBox="1"/>
          <p:nvPr/>
        </p:nvSpPr>
        <p:spPr>
          <a:xfrm>
            <a:off x="914400" y="5372100"/>
            <a:ext cx="97536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600" b="1">
                <a:solidFill>
                  <a:srgbClr val="FFFFFF"/>
                </a:solidFill>
                <a:latin typeface="Aptos" panose="020B0004020202020204" pitchFamily="34" charset="0"/>
              </a:rPr>
              <a:t>Role-constrained prompt  →  Groq-hosted Llama model  →  JSON schema validation  →  action-oriented report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586822D-1549-5F5C-AC0E-48E5E6C082DD}"/>
              </a:ext>
            </a:extLst>
          </p:cNvPr>
          <p:cNvSpPr txBox="1"/>
          <p:nvPr/>
        </p:nvSpPr>
        <p:spPr>
          <a:xfrm>
            <a:off x="609600" y="65532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900">
                <a:solidFill>
                  <a:srgbClr val="5D6C8E"/>
                </a:solidFill>
                <a:latin typeface="Aptos" panose="020B0004020202020204" pitchFamily="34" charset="0"/>
              </a:rPr>
              <a:t>MSE-1 | KIET MCA | Personalized Career Mentor AI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E97FBD1-188B-669F-058F-D91E7A58BE51}"/>
              </a:ext>
            </a:extLst>
          </p:cNvPr>
          <p:cNvSpPr txBox="1"/>
          <p:nvPr/>
        </p:nvSpPr>
        <p:spPr>
          <a:xfrm>
            <a:off x="11303000" y="6553200"/>
            <a:ext cx="279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900" b="1">
                <a:solidFill>
                  <a:srgbClr val="5D6C8E"/>
                </a:solidFill>
                <a:latin typeface="Aptos" panose="020B0004020202020204" pitchFamily="34" charset="0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617731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E3E6C8-2AA9-3DB5-54B1-0986EFA92DE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7578933-CC61-8FFB-0578-5820BD3182B0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5B43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074949-6B33-B1B6-A312-219547EA3C49}"/>
              </a:ext>
            </a:extLst>
          </p:cNvPr>
          <p:cNvSpPr txBox="1"/>
          <p:nvPr/>
        </p:nvSpPr>
        <p:spPr>
          <a:xfrm>
            <a:off x="609600" y="330200"/>
            <a:ext cx="330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100" b="1">
                <a:solidFill>
                  <a:srgbClr val="5B43F2"/>
                </a:solidFill>
                <a:latin typeface="Aptos" panose="020B0004020202020204" pitchFamily="34" charset="0"/>
              </a:rPr>
              <a:t>INTERFACE &amp; OUTPUT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94E186-24D7-88C8-50D8-F348781D1433}"/>
              </a:ext>
            </a:extLst>
          </p:cNvPr>
          <p:cNvSpPr txBox="1"/>
          <p:nvPr/>
        </p:nvSpPr>
        <p:spPr>
          <a:xfrm>
            <a:off x="609600" y="6350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3000" b="1">
                <a:solidFill>
                  <a:srgbClr val="0F1734"/>
                </a:solidFill>
                <a:latin typeface="Aptos" panose="020B0004020202020204" pitchFamily="34" charset="0"/>
              </a:rPr>
              <a:t>Product evidence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189996-1F8C-2EEB-F2FF-135E133F8A95}"/>
              </a:ext>
            </a:extLst>
          </p:cNvPr>
          <p:cNvSpPr txBox="1"/>
          <p:nvPr/>
        </p:nvSpPr>
        <p:spPr>
          <a:xfrm>
            <a:off x="609600" y="12192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5D6C8E"/>
                </a:solidFill>
                <a:latin typeface="Aptos" panose="020B0004020202020204" pitchFamily="34" charset="0"/>
              </a:rPr>
              <a:t>The interface is designed to make a complex analysis easy to scan and act on.</a:t>
            </a:r>
            <a:endParaRPr lang="en-IN" sz="1500">
              <a:solidFill>
                <a:srgbClr val="5D6C8E"/>
              </a:solidFill>
              <a:latin typeface="Aptos" panose="020B00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BA40548-5ADF-EC48-20C3-06D743AB1F60}"/>
              </a:ext>
            </a:extLst>
          </p:cNvPr>
          <p:cNvCxnSpPr/>
          <p:nvPr/>
        </p:nvCxnSpPr>
        <p:spPr>
          <a:xfrm>
            <a:off x="609600" y="1625600"/>
            <a:ext cx="10972800" cy="0"/>
          </a:xfrm>
          <a:prstGeom prst="line">
            <a:avLst/>
          </a:prstGeom>
          <a:ln w="12700">
            <a:solidFill>
              <a:srgbClr val="D7E0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080B613-2BC4-DD18-2113-4A5983124540}"/>
              </a:ext>
            </a:extLst>
          </p:cNvPr>
          <p:cNvSpPr/>
          <p:nvPr/>
        </p:nvSpPr>
        <p:spPr>
          <a:xfrm>
            <a:off x="9601200" y="330200"/>
            <a:ext cx="1981200" cy="304800"/>
          </a:xfrm>
          <a:prstGeom prst="roundRect">
            <a:avLst/>
          </a:prstGeom>
          <a:solidFill>
            <a:srgbClr val="E9F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50FAD0-D8D6-ECE9-B9AF-975A786E5264}"/>
              </a:ext>
            </a:extLst>
          </p:cNvPr>
          <p:cNvSpPr txBox="1"/>
          <p:nvPr/>
        </p:nvSpPr>
        <p:spPr>
          <a:xfrm>
            <a:off x="9728200" y="381000"/>
            <a:ext cx="17272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 b="1">
                <a:solidFill>
                  <a:srgbClr val="268EDA"/>
                </a:solidFill>
                <a:latin typeface="Aptos" panose="020B0004020202020204" pitchFamily="34" charset="0"/>
              </a:rPr>
              <a:t>REPRESENTATIVE UI DIRECTION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B2E36B8-8AAE-AB92-FC7E-BDCC08A6E5B6}"/>
              </a:ext>
            </a:extLst>
          </p:cNvPr>
          <p:cNvSpPr/>
          <p:nvPr/>
        </p:nvSpPr>
        <p:spPr>
          <a:xfrm>
            <a:off x="609600" y="1955800"/>
            <a:ext cx="6197600" cy="3733800"/>
          </a:xfrm>
          <a:prstGeom prst="roundRect">
            <a:avLst/>
          </a:prstGeom>
          <a:solidFill>
            <a:srgbClr val="0F17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301D2F7-0959-CD85-0A2C-4F7903E07EA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057400"/>
            <a:ext cx="5994400" cy="35306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C807692-FDE0-9431-B5DC-5EA82EA341CF}"/>
              </a:ext>
            </a:extLst>
          </p:cNvPr>
          <p:cNvSpPr txBox="1"/>
          <p:nvPr/>
        </p:nvSpPr>
        <p:spPr>
          <a:xfrm>
            <a:off x="965200" y="2235200"/>
            <a:ext cx="2667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200" b="1">
                <a:solidFill>
                  <a:srgbClr val="FFFFFF"/>
                </a:solidFill>
                <a:latin typeface="Aptos" panose="020B0004020202020204" pitchFamily="34" charset="0"/>
              </a:rPr>
              <a:t>Resume Matcher AI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E4AD66F-0AE2-0852-5BEB-E221D8AAA184}"/>
              </a:ext>
            </a:extLst>
          </p:cNvPr>
          <p:cNvSpPr/>
          <p:nvPr/>
        </p:nvSpPr>
        <p:spPr>
          <a:xfrm>
            <a:off x="965200" y="5130800"/>
            <a:ext cx="1854200" cy="304800"/>
          </a:xfrm>
          <a:prstGeom prst="roundRect">
            <a:avLst/>
          </a:prstGeom>
          <a:solidFill>
            <a:srgbClr val="F2E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28C7D4-64F4-CD69-9AE4-1061418872B7}"/>
              </a:ext>
            </a:extLst>
          </p:cNvPr>
          <p:cNvSpPr txBox="1"/>
          <p:nvPr/>
        </p:nvSpPr>
        <p:spPr>
          <a:xfrm>
            <a:off x="1092200" y="5181600"/>
            <a:ext cx="16002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 b="1">
                <a:solidFill>
                  <a:srgbClr val="5B43F2"/>
                </a:solidFill>
                <a:latin typeface="Aptos" panose="020B0004020202020204" pitchFamily="34" charset="0"/>
              </a:rPr>
              <a:t>AI CAREER OPTIMIZATION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1527D4-92A3-AB53-E74F-26619403746E}"/>
              </a:ext>
            </a:extLst>
          </p:cNvPr>
          <p:cNvSpPr txBox="1"/>
          <p:nvPr/>
        </p:nvSpPr>
        <p:spPr>
          <a:xfrm>
            <a:off x="7239000" y="2032000"/>
            <a:ext cx="4064000" cy="120032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b="1">
                <a:solidFill>
                  <a:srgbClr val="0F1734"/>
                </a:solidFill>
                <a:latin typeface="Aptos" panose="020B0004020202020204" pitchFamily="34" charset="0"/>
              </a:rPr>
              <a:t>A visual language inspired by the supplied project screens: light network background, rounded white cards, navy ink, and blue-violet accents.</a:t>
            </a:r>
            <a:endParaRPr lang="en-IN" b="1">
              <a:solidFill>
                <a:srgbClr val="0F1734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CA5CCEC-A8F9-EF34-E804-F10A2B167E86}"/>
              </a:ext>
            </a:extLst>
          </p:cNvPr>
          <p:cNvSpPr/>
          <p:nvPr/>
        </p:nvSpPr>
        <p:spPr>
          <a:xfrm>
            <a:off x="7239000" y="3606800"/>
            <a:ext cx="4064000" cy="736600"/>
          </a:xfrm>
          <a:prstGeom prst="roundRect">
            <a:avLst/>
          </a:prstGeom>
          <a:solidFill>
            <a:srgbClr val="F2EEFF"/>
          </a:solidFill>
          <a:ln w="12700">
            <a:solidFill>
              <a:srgbClr val="D7E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23E8AB-58B2-DEBC-3ACC-CC85E721135F}"/>
              </a:ext>
            </a:extLst>
          </p:cNvPr>
          <p:cNvSpPr txBox="1"/>
          <p:nvPr/>
        </p:nvSpPr>
        <p:spPr>
          <a:xfrm>
            <a:off x="7518400" y="3733800"/>
            <a:ext cx="1600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600" b="1">
                <a:solidFill>
                  <a:srgbClr val="5B43F2"/>
                </a:solidFill>
                <a:latin typeface="Aptos" panose="020B0004020202020204" pitchFamily="34" charset="0"/>
              </a:rPr>
              <a:t>Match score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E37586-D95F-FCEC-59D5-70E5AC277EE9}"/>
              </a:ext>
            </a:extLst>
          </p:cNvPr>
          <p:cNvSpPr txBox="1"/>
          <p:nvPr/>
        </p:nvSpPr>
        <p:spPr>
          <a:xfrm>
            <a:off x="9245600" y="3733800"/>
            <a:ext cx="1803400" cy="92333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>
                <a:solidFill>
                  <a:srgbClr val="5D6C8E"/>
                </a:solidFill>
                <a:latin typeface="Aptos" panose="020B0004020202020204" pitchFamily="34" charset="0"/>
              </a:rPr>
              <a:t>A single alignment signal for the role</a:t>
            </a:r>
            <a:endParaRPr lang="en-IN" sz="1200">
              <a:solidFill>
                <a:srgbClr val="5D6C8E"/>
              </a:solidFill>
              <a:latin typeface="Aptos" panose="020B000402020202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971529C-83B5-B21E-5165-1771062A528B}"/>
              </a:ext>
            </a:extLst>
          </p:cNvPr>
          <p:cNvSpPr/>
          <p:nvPr/>
        </p:nvSpPr>
        <p:spPr>
          <a:xfrm>
            <a:off x="7239000" y="4495800"/>
            <a:ext cx="4064000" cy="736600"/>
          </a:xfrm>
          <a:prstGeom prst="roundRect">
            <a:avLst/>
          </a:prstGeom>
          <a:solidFill>
            <a:srgbClr val="E6FAF6"/>
          </a:solidFill>
          <a:ln w="12700">
            <a:solidFill>
              <a:srgbClr val="D7E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5BA9DF-4154-2419-7F0B-1DF0633C3F55}"/>
              </a:ext>
            </a:extLst>
          </p:cNvPr>
          <p:cNvSpPr txBox="1"/>
          <p:nvPr/>
        </p:nvSpPr>
        <p:spPr>
          <a:xfrm>
            <a:off x="7518400" y="4622800"/>
            <a:ext cx="1600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600" b="1">
                <a:solidFill>
                  <a:srgbClr val="21C294"/>
                </a:solidFill>
                <a:latin typeface="Aptos" panose="020B0004020202020204" pitchFamily="34" charset="0"/>
              </a:rPr>
              <a:t>Skill groups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0C15047-5A5E-C206-C6CC-47E031017E40}"/>
              </a:ext>
            </a:extLst>
          </p:cNvPr>
          <p:cNvSpPr txBox="1"/>
          <p:nvPr/>
        </p:nvSpPr>
        <p:spPr>
          <a:xfrm>
            <a:off x="9245600" y="4622800"/>
            <a:ext cx="1803400" cy="92333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>
                <a:solidFill>
                  <a:srgbClr val="5D6C8E"/>
                </a:solidFill>
                <a:latin typeface="Aptos" panose="020B0004020202020204" pitchFamily="34" charset="0"/>
              </a:rPr>
              <a:t>Matched, missing, and transferable skills</a:t>
            </a:r>
            <a:endParaRPr lang="en-IN" sz="1200">
              <a:solidFill>
                <a:srgbClr val="5D6C8E"/>
              </a:solidFill>
              <a:latin typeface="Aptos" panose="020B0004020202020204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8C943FF-D3FD-84AE-F121-5AB17B68DC28}"/>
              </a:ext>
            </a:extLst>
          </p:cNvPr>
          <p:cNvSpPr/>
          <p:nvPr/>
        </p:nvSpPr>
        <p:spPr>
          <a:xfrm>
            <a:off x="7239000" y="5384800"/>
            <a:ext cx="4064000" cy="736600"/>
          </a:xfrm>
          <a:prstGeom prst="roundRect">
            <a:avLst/>
          </a:prstGeom>
          <a:solidFill>
            <a:srgbClr val="FFF6E4"/>
          </a:solidFill>
          <a:ln w="12700">
            <a:solidFill>
              <a:srgbClr val="D7E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497FB3D-28E3-A459-C92A-E70DEF1A064E}"/>
              </a:ext>
            </a:extLst>
          </p:cNvPr>
          <p:cNvSpPr txBox="1"/>
          <p:nvPr/>
        </p:nvSpPr>
        <p:spPr>
          <a:xfrm>
            <a:off x="7518400" y="5511800"/>
            <a:ext cx="16002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600" b="1">
                <a:solidFill>
                  <a:srgbClr val="EE8F22"/>
                </a:solidFill>
                <a:latin typeface="Aptos" panose="020B0004020202020204" pitchFamily="34" charset="0"/>
              </a:rPr>
              <a:t>Action roadmap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4C2652D-CF01-AA1F-22F2-003F4F4B7E4D}"/>
              </a:ext>
            </a:extLst>
          </p:cNvPr>
          <p:cNvSpPr txBox="1"/>
          <p:nvPr/>
        </p:nvSpPr>
        <p:spPr>
          <a:xfrm>
            <a:off x="9245600" y="5511800"/>
            <a:ext cx="1803400" cy="120032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>
                <a:solidFill>
                  <a:srgbClr val="5D6C8E"/>
                </a:solidFill>
                <a:latin typeface="Aptos" panose="020B0004020202020204" pitchFamily="34" charset="0"/>
              </a:rPr>
              <a:t>Prioritized improvements and interview prep</a:t>
            </a:r>
            <a:endParaRPr lang="en-IN" sz="1200">
              <a:solidFill>
                <a:srgbClr val="5D6C8E"/>
              </a:solidFill>
              <a:latin typeface="Aptos" panose="020B00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DCFE0C0-5313-F657-A00E-17E1482C5397}"/>
              </a:ext>
            </a:extLst>
          </p:cNvPr>
          <p:cNvSpPr txBox="1"/>
          <p:nvPr/>
        </p:nvSpPr>
        <p:spPr>
          <a:xfrm>
            <a:off x="609600" y="65532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900">
                <a:solidFill>
                  <a:srgbClr val="5D6C8E"/>
                </a:solidFill>
                <a:latin typeface="Aptos" panose="020B0004020202020204" pitchFamily="34" charset="0"/>
              </a:rPr>
              <a:t>MSE-1 | KIET MCA | Personalized Career Mentor AI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F42236C-EAB8-D939-3C65-C0F3FBDBD332}"/>
              </a:ext>
            </a:extLst>
          </p:cNvPr>
          <p:cNvSpPr txBox="1"/>
          <p:nvPr/>
        </p:nvSpPr>
        <p:spPr>
          <a:xfrm>
            <a:off x="11303000" y="6553200"/>
            <a:ext cx="279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900" b="1">
                <a:solidFill>
                  <a:srgbClr val="5D6C8E"/>
                </a:solidFill>
                <a:latin typeface="Aptos" panose="020B0004020202020204" pitchFamily="34" charset="0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727693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13FAD5-2BE0-8D65-9984-B68F10BE74F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F131D92-6772-72D4-4D95-1FD9187E1791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5B43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392A0F-A279-3C83-9544-E85A3723234A}"/>
              </a:ext>
            </a:extLst>
          </p:cNvPr>
          <p:cNvSpPr txBox="1"/>
          <p:nvPr/>
        </p:nvSpPr>
        <p:spPr>
          <a:xfrm>
            <a:off x="609600" y="330200"/>
            <a:ext cx="330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100" b="1">
                <a:solidFill>
                  <a:srgbClr val="5B43F2"/>
                </a:solidFill>
                <a:latin typeface="Aptos" panose="020B0004020202020204" pitchFamily="34" charset="0"/>
              </a:rPr>
              <a:t>IMPLEMENTATION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E22483-A55E-6AEE-09FD-1FA8732B54FC}"/>
              </a:ext>
            </a:extLst>
          </p:cNvPr>
          <p:cNvSpPr txBox="1"/>
          <p:nvPr/>
        </p:nvSpPr>
        <p:spPr>
          <a:xfrm>
            <a:off x="609600" y="6350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3000" b="1">
                <a:solidFill>
                  <a:srgbClr val="0F1734"/>
                </a:solidFill>
                <a:latin typeface="Aptos" panose="020B0004020202020204" pitchFamily="34" charset="0"/>
              </a:rPr>
              <a:t>Technology stack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20161A-5041-B510-57F0-6F14E97CFA9C}"/>
              </a:ext>
            </a:extLst>
          </p:cNvPr>
          <p:cNvSpPr txBox="1"/>
          <p:nvPr/>
        </p:nvSpPr>
        <p:spPr>
          <a:xfrm>
            <a:off x="609600" y="12192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5D6C8E"/>
                </a:solidFill>
                <a:latin typeface="Aptos" panose="020B0004020202020204" pitchFamily="34" charset="0"/>
              </a:rPr>
              <a:t>A component-based client-server design connects the user experience to a validated AI service.</a:t>
            </a:r>
            <a:endParaRPr lang="en-IN" sz="1500">
              <a:solidFill>
                <a:srgbClr val="5D6C8E"/>
              </a:solidFill>
              <a:latin typeface="Aptos" panose="020B00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7BE96E4-C82E-0C3E-737F-1AC4AEBAF290}"/>
              </a:ext>
            </a:extLst>
          </p:cNvPr>
          <p:cNvCxnSpPr/>
          <p:nvPr/>
        </p:nvCxnSpPr>
        <p:spPr>
          <a:xfrm>
            <a:off x="609600" y="1625600"/>
            <a:ext cx="10972800" cy="0"/>
          </a:xfrm>
          <a:prstGeom prst="line">
            <a:avLst/>
          </a:prstGeom>
          <a:ln w="12700">
            <a:solidFill>
              <a:srgbClr val="D7E0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8E33D02-43F7-4185-A24D-2139B82B6946}"/>
              </a:ext>
            </a:extLst>
          </p:cNvPr>
          <p:cNvSpPr/>
          <p:nvPr/>
        </p:nvSpPr>
        <p:spPr>
          <a:xfrm>
            <a:off x="10236200" y="330200"/>
            <a:ext cx="1346200" cy="304800"/>
          </a:xfrm>
          <a:prstGeom prst="roundRect">
            <a:avLst/>
          </a:prstGeom>
          <a:solidFill>
            <a:srgbClr val="E6FA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34C646-6050-AD31-CCE4-9E40E00B16AA}"/>
              </a:ext>
            </a:extLst>
          </p:cNvPr>
          <p:cNvSpPr txBox="1"/>
          <p:nvPr/>
        </p:nvSpPr>
        <p:spPr>
          <a:xfrm>
            <a:off x="10363200" y="381000"/>
            <a:ext cx="10922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 b="1">
                <a:solidFill>
                  <a:srgbClr val="21C294"/>
                </a:solidFill>
                <a:latin typeface="Aptos" panose="020B0004020202020204" pitchFamily="34" charset="0"/>
              </a:rPr>
              <a:t>BUILD &amp; DEPLOY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A99CE4E-3FAB-6215-FC2A-65B21FC50D37}"/>
              </a:ext>
            </a:extLst>
          </p:cNvPr>
          <p:cNvSpPr/>
          <p:nvPr/>
        </p:nvSpPr>
        <p:spPr>
          <a:xfrm>
            <a:off x="609600" y="2032000"/>
            <a:ext cx="10972800" cy="584200"/>
          </a:xfrm>
          <a:prstGeom prst="roundRect">
            <a:avLst/>
          </a:prstGeom>
          <a:solidFill>
            <a:srgbClr val="F2EEFF"/>
          </a:solidFill>
          <a:ln w="12700">
            <a:solidFill>
              <a:srgbClr val="D7E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BBF1ABE-9ED3-333F-ECBE-75DC368A09F5}"/>
              </a:ext>
            </a:extLst>
          </p:cNvPr>
          <p:cNvSpPr/>
          <p:nvPr/>
        </p:nvSpPr>
        <p:spPr>
          <a:xfrm>
            <a:off x="812800" y="2171700"/>
            <a:ext cx="1320800" cy="304800"/>
          </a:xfrm>
          <a:prstGeom prst="roundRect">
            <a:avLst/>
          </a:prstGeom>
          <a:solidFill>
            <a:srgbClr val="F2E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1C4E14-61A9-359A-CEEC-B6233C8289D5}"/>
              </a:ext>
            </a:extLst>
          </p:cNvPr>
          <p:cNvSpPr txBox="1"/>
          <p:nvPr/>
        </p:nvSpPr>
        <p:spPr>
          <a:xfrm>
            <a:off x="939800" y="2222500"/>
            <a:ext cx="1066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 b="1">
                <a:solidFill>
                  <a:srgbClr val="5B43F2"/>
                </a:solidFill>
                <a:latin typeface="Aptos" panose="020B0004020202020204" pitchFamily="34" charset="0"/>
              </a:rPr>
              <a:t>Frontend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CFBA56-6AA1-511D-3C54-0D45767753D5}"/>
              </a:ext>
            </a:extLst>
          </p:cNvPr>
          <p:cNvSpPr txBox="1"/>
          <p:nvPr/>
        </p:nvSpPr>
        <p:spPr>
          <a:xfrm>
            <a:off x="2387600" y="2209800"/>
            <a:ext cx="8839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0F1734"/>
                </a:solidFill>
                <a:latin typeface="Aptos" panose="020B0004020202020204" pitchFamily="34" charset="0"/>
              </a:rPr>
              <a:t>Next.js 16  |  React 18  |  JSX/CSS  |  Framer Motion  |  Recharts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0D00C47-EB67-D319-2D45-C800563A492A}"/>
              </a:ext>
            </a:extLst>
          </p:cNvPr>
          <p:cNvSpPr/>
          <p:nvPr/>
        </p:nvSpPr>
        <p:spPr>
          <a:xfrm>
            <a:off x="609600" y="2819400"/>
            <a:ext cx="10972800" cy="584200"/>
          </a:xfrm>
          <a:prstGeom prst="roundRect">
            <a:avLst/>
          </a:prstGeom>
          <a:solidFill>
            <a:srgbClr val="E9F4FF"/>
          </a:solidFill>
          <a:ln w="12700">
            <a:solidFill>
              <a:srgbClr val="D7E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67C2E2F-06AB-8C24-65C6-1D34748E9BB4}"/>
              </a:ext>
            </a:extLst>
          </p:cNvPr>
          <p:cNvSpPr/>
          <p:nvPr/>
        </p:nvSpPr>
        <p:spPr>
          <a:xfrm>
            <a:off x="812800" y="2959100"/>
            <a:ext cx="1320800" cy="304800"/>
          </a:xfrm>
          <a:prstGeom prst="roundRect">
            <a:avLst/>
          </a:prstGeom>
          <a:solidFill>
            <a:srgbClr val="E9F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D32F26-2EDE-339D-2CDD-0ACD0D0FFC33}"/>
              </a:ext>
            </a:extLst>
          </p:cNvPr>
          <p:cNvSpPr txBox="1"/>
          <p:nvPr/>
        </p:nvSpPr>
        <p:spPr>
          <a:xfrm>
            <a:off x="939800" y="3009900"/>
            <a:ext cx="1066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 b="1">
                <a:solidFill>
                  <a:srgbClr val="268EDA"/>
                </a:solidFill>
                <a:latin typeface="Aptos" panose="020B0004020202020204" pitchFamily="34" charset="0"/>
              </a:rPr>
              <a:t>Backend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523B23-2CF8-5B31-5C77-FC2976D2FB06}"/>
              </a:ext>
            </a:extLst>
          </p:cNvPr>
          <p:cNvSpPr txBox="1"/>
          <p:nvPr/>
        </p:nvSpPr>
        <p:spPr>
          <a:xfrm>
            <a:off x="2387600" y="2997200"/>
            <a:ext cx="8839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0F1734"/>
                </a:solidFill>
                <a:latin typeface="Aptos" panose="020B0004020202020204" pitchFamily="34" charset="0"/>
              </a:rPr>
              <a:t>Python  |  FastAPI  |  Uvicorn  |  Pydantic  |  pypdf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5DFBF2E-ECF9-58BA-47E5-9B7F6A767E33}"/>
              </a:ext>
            </a:extLst>
          </p:cNvPr>
          <p:cNvSpPr/>
          <p:nvPr/>
        </p:nvSpPr>
        <p:spPr>
          <a:xfrm>
            <a:off x="609600" y="3606800"/>
            <a:ext cx="10972800" cy="584200"/>
          </a:xfrm>
          <a:prstGeom prst="roundRect">
            <a:avLst/>
          </a:prstGeom>
          <a:solidFill>
            <a:srgbClr val="E6FAF6"/>
          </a:solidFill>
          <a:ln w="12700">
            <a:solidFill>
              <a:srgbClr val="D7E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3662AD5-D9FE-2186-FB42-705CB3C18743}"/>
              </a:ext>
            </a:extLst>
          </p:cNvPr>
          <p:cNvSpPr/>
          <p:nvPr/>
        </p:nvSpPr>
        <p:spPr>
          <a:xfrm>
            <a:off x="812800" y="3746500"/>
            <a:ext cx="1320800" cy="304800"/>
          </a:xfrm>
          <a:prstGeom prst="roundRect">
            <a:avLst/>
          </a:prstGeom>
          <a:solidFill>
            <a:srgbClr val="E6FA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CC33CC-B562-7ED5-9B65-B9EC6D610D50}"/>
              </a:ext>
            </a:extLst>
          </p:cNvPr>
          <p:cNvSpPr txBox="1"/>
          <p:nvPr/>
        </p:nvSpPr>
        <p:spPr>
          <a:xfrm>
            <a:off x="939800" y="3797300"/>
            <a:ext cx="10668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 b="1">
                <a:solidFill>
                  <a:srgbClr val="15B9DC"/>
                </a:solidFill>
                <a:latin typeface="Aptos" panose="020B0004020202020204" pitchFamily="34" charset="0"/>
              </a:rPr>
              <a:t>AI service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F6BE42C-A2DC-DA68-0084-B3AA9F5A009F}"/>
              </a:ext>
            </a:extLst>
          </p:cNvPr>
          <p:cNvSpPr txBox="1"/>
          <p:nvPr/>
        </p:nvSpPr>
        <p:spPr>
          <a:xfrm>
            <a:off x="2387600" y="3784600"/>
            <a:ext cx="8839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0F1734"/>
                </a:solidFill>
                <a:latin typeface="Aptos" panose="020B0004020202020204" pitchFamily="34" charset="0"/>
              </a:rPr>
              <a:t>LangChain  |  langchain-groq  |  Groq-hosted Llama models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5F82AB9-F86C-5A0B-1357-61BA62650A94}"/>
              </a:ext>
            </a:extLst>
          </p:cNvPr>
          <p:cNvSpPr/>
          <p:nvPr/>
        </p:nvSpPr>
        <p:spPr>
          <a:xfrm>
            <a:off x="609600" y="4394200"/>
            <a:ext cx="10972800" cy="584200"/>
          </a:xfrm>
          <a:prstGeom prst="roundRect">
            <a:avLst/>
          </a:prstGeom>
          <a:solidFill>
            <a:srgbClr val="FFF6E4"/>
          </a:solidFill>
          <a:ln w="12700">
            <a:solidFill>
              <a:srgbClr val="D7E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F025604-0569-1A6C-C3CE-7EB69E9114A8}"/>
              </a:ext>
            </a:extLst>
          </p:cNvPr>
          <p:cNvSpPr/>
          <p:nvPr/>
        </p:nvSpPr>
        <p:spPr>
          <a:xfrm>
            <a:off x="812800" y="4533900"/>
            <a:ext cx="1320800" cy="304800"/>
          </a:xfrm>
          <a:prstGeom prst="roundRect">
            <a:avLst/>
          </a:prstGeom>
          <a:solidFill>
            <a:srgbClr val="FFF6E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EDD9BE-8192-1D09-FB03-10A9697A2CFA}"/>
              </a:ext>
            </a:extLst>
          </p:cNvPr>
          <p:cNvSpPr txBox="1"/>
          <p:nvPr/>
        </p:nvSpPr>
        <p:spPr>
          <a:xfrm>
            <a:off x="939800" y="4584700"/>
            <a:ext cx="10668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 b="1">
                <a:solidFill>
                  <a:srgbClr val="EE8F22"/>
                </a:solidFill>
                <a:latin typeface="Aptos" panose="020B0004020202020204" pitchFamily="34" charset="0"/>
              </a:rPr>
              <a:t>Extension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0DF3B0E-2436-5CF6-1171-9F4514625E1C}"/>
              </a:ext>
            </a:extLst>
          </p:cNvPr>
          <p:cNvSpPr txBox="1"/>
          <p:nvPr/>
        </p:nvSpPr>
        <p:spPr>
          <a:xfrm>
            <a:off x="2387600" y="4572000"/>
            <a:ext cx="8839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0F1734"/>
                </a:solidFill>
                <a:latin typeface="Aptos" panose="020B0004020202020204" pitchFamily="34" charset="0"/>
              </a:rPr>
              <a:t>Chrome Manifest V3  |  local storage  |  LinkedIn page extraction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D0B6E42-D60E-3711-AC5F-DF7A51E1DB39}"/>
              </a:ext>
            </a:extLst>
          </p:cNvPr>
          <p:cNvSpPr/>
          <p:nvPr/>
        </p:nvSpPr>
        <p:spPr>
          <a:xfrm>
            <a:off x="609600" y="5181600"/>
            <a:ext cx="10972800" cy="584200"/>
          </a:xfrm>
          <a:prstGeom prst="roundRect">
            <a:avLst/>
          </a:prstGeom>
          <a:solidFill>
            <a:srgbClr val="FFEFF6"/>
          </a:solidFill>
          <a:ln w="12700">
            <a:solidFill>
              <a:srgbClr val="D7E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BE5A602-4387-2FE7-8CC5-F2D24842FDDA}"/>
              </a:ext>
            </a:extLst>
          </p:cNvPr>
          <p:cNvSpPr/>
          <p:nvPr/>
        </p:nvSpPr>
        <p:spPr>
          <a:xfrm>
            <a:off x="812800" y="5321300"/>
            <a:ext cx="1320800" cy="304800"/>
          </a:xfrm>
          <a:prstGeom prst="roundRect">
            <a:avLst/>
          </a:prstGeom>
          <a:solidFill>
            <a:srgbClr val="FFEF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4C8B6C3-34CC-F89D-AF2F-59D62D532B97}"/>
              </a:ext>
            </a:extLst>
          </p:cNvPr>
          <p:cNvSpPr txBox="1"/>
          <p:nvPr/>
        </p:nvSpPr>
        <p:spPr>
          <a:xfrm>
            <a:off x="939800" y="5372100"/>
            <a:ext cx="10668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 b="1">
                <a:solidFill>
                  <a:srgbClr val="F469A6"/>
                </a:solidFill>
                <a:latin typeface="Aptos" panose="020B0004020202020204" pitchFamily="34" charset="0"/>
              </a:rPr>
              <a:t>Deployment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06F304-A594-4817-701D-B2CB1BEB10F6}"/>
              </a:ext>
            </a:extLst>
          </p:cNvPr>
          <p:cNvSpPr txBox="1"/>
          <p:nvPr/>
        </p:nvSpPr>
        <p:spPr>
          <a:xfrm>
            <a:off x="2387600" y="5359400"/>
            <a:ext cx="8839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>
                <a:solidFill>
                  <a:srgbClr val="0F1734"/>
                </a:solidFill>
                <a:latin typeface="Aptos" panose="020B0004020202020204" pitchFamily="34" charset="0"/>
              </a:rPr>
              <a:t>Vercel frontend config  |  Docker / Azure-oriented backend startup</a:t>
            </a:r>
            <a:endParaRPr lang="en-IN" sz="1500" b="1">
              <a:solidFill>
                <a:srgbClr val="0F1734"/>
              </a:solidFill>
              <a:latin typeface="Aptos" panose="020B00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E8FD989-41B5-27CE-5B41-6283381FB783}"/>
              </a:ext>
            </a:extLst>
          </p:cNvPr>
          <p:cNvSpPr txBox="1"/>
          <p:nvPr/>
        </p:nvSpPr>
        <p:spPr>
          <a:xfrm>
            <a:off x="609600" y="6045200"/>
            <a:ext cx="10668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5D6C8E"/>
                </a:solidFill>
                <a:latin typeface="Aptos" panose="020B0004020202020204" pitchFamily="34" charset="0"/>
              </a:rPr>
              <a:t>Repository structure keeps UI components, API routes, model schemas, extension files, and PDF parsing in focused modules.</a:t>
            </a:r>
            <a:endParaRPr lang="en-IN" sz="1400">
              <a:solidFill>
                <a:srgbClr val="5D6C8E"/>
              </a:solidFill>
              <a:latin typeface="Aptos" panose="020B00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EDD0995-7A26-8A80-920E-E106A0063190}"/>
              </a:ext>
            </a:extLst>
          </p:cNvPr>
          <p:cNvSpPr txBox="1"/>
          <p:nvPr/>
        </p:nvSpPr>
        <p:spPr>
          <a:xfrm>
            <a:off x="609600" y="65532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900">
                <a:solidFill>
                  <a:srgbClr val="5D6C8E"/>
                </a:solidFill>
                <a:latin typeface="Aptos" panose="020B0004020202020204" pitchFamily="34" charset="0"/>
              </a:rPr>
              <a:t>MSE-1 | KIET MCA | Personalized Career Mentor AI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1CD864-461D-A018-1A23-E192EC9BC4E0}"/>
              </a:ext>
            </a:extLst>
          </p:cNvPr>
          <p:cNvSpPr txBox="1"/>
          <p:nvPr/>
        </p:nvSpPr>
        <p:spPr>
          <a:xfrm>
            <a:off x="11303000" y="6553200"/>
            <a:ext cx="279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900" b="1">
                <a:solidFill>
                  <a:srgbClr val="5D6C8E"/>
                </a:solidFill>
                <a:latin typeface="Aptos" panose="020B0004020202020204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581664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D26ACC-B2AF-2506-E983-BE2173F31F6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65C4A2C-3B92-0FFE-4988-339B0C4AAF5E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5B43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75EE8B-B0E9-9E63-C156-6DC9DC47D8AD}"/>
              </a:ext>
            </a:extLst>
          </p:cNvPr>
          <p:cNvSpPr txBox="1"/>
          <p:nvPr/>
        </p:nvSpPr>
        <p:spPr>
          <a:xfrm>
            <a:off x="609600" y="330200"/>
            <a:ext cx="330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100" b="1">
                <a:solidFill>
                  <a:srgbClr val="5B43F2"/>
                </a:solidFill>
                <a:latin typeface="Aptos" panose="020B0004020202020204" pitchFamily="34" charset="0"/>
              </a:rPr>
              <a:t>METRIC 7 | COMPLETE JOURNEY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22C203-6C14-E4AE-E69D-C0FCBD8648CB}"/>
              </a:ext>
            </a:extLst>
          </p:cNvPr>
          <p:cNvSpPr txBox="1"/>
          <p:nvPr/>
        </p:nvSpPr>
        <p:spPr>
          <a:xfrm>
            <a:off x="609600" y="6350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000" b="1">
                <a:solidFill>
                  <a:srgbClr val="0F1734"/>
                </a:solidFill>
                <a:latin typeface="Aptos" panose="020B0004020202020204" pitchFamily="34" charset="0"/>
              </a:rPr>
              <a:t>From understanding to a working career mentor</a:t>
            </a:r>
            <a:endParaRPr lang="en-IN" sz="3000" b="1">
              <a:solidFill>
                <a:srgbClr val="0F1734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189292-DD75-FA63-4BC8-B20C7D0A460C}"/>
              </a:ext>
            </a:extLst>
          </p:cNvPr>
          <p:cNvSpPr txBox="1"/>
          <p:nvPr/>
        </p:nvSpPr>
        <p:spPr>
          <a:xfrm>
            <a:off x="609600" y="12192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5D6C8E"/>
                </a:solidFill>
                <a:latin typeface="Aptos" panose="020B0004020202020204" pitchFamily="34" charset="0"/>
              </a:rPr>
              <a:t>The project connects a real user problem to a buildable, extensible solution.</a:t>
            </a:r>
            <a:endParaRPr lang="en-IN" sz="1500">
              <a:solidFill>
                <a:srgbClr val="5D6C8E"/>
              </a:solidFill>
              <a:latin typeface="Aptos" panose="020B00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2F2EE33-BD25-22B0-BD4C-0EC215FA5375}"/>
              </a:ext>
            </a:extLst>
          </p:cNvPr>
          <p:cNvCxnSpPr/>
          <p:nvPr/>
        </p:nvCxnSpPr>
        <p:spPr>
          <a:xfrm>
            <a:off x="609600" y="1625600"/>
            <a:ext cx="10972800" cy="0"/>
          </a:xfrm>
          <a:prstGeom prst="line">
            <a:avLst/>
          </a:prstGeom>
          <a:ln w="12700">
            <a:solidFill>
              <a:srgbClr val="D7E0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7C98CA6-B7E4-A1BF-7B86-4A6DBBC52AEF}"/>
              </a:ext>
            </a:extLst>
          </p:cNvPr>
          <p:cNvSpPr/>
          <p:nvPr/>
        </p:nvSpPr>
        <p:spPr>
          <a:xfrm>
            <a:off x="609600" y="1981200"/>
            <a:ext cx="10972800" cy="939800"/>
          </a:xfrm>
          <a:prstGeom prst="roundRect">
            <a:avLst/>
          </a:prstGeom>
          <a:solidFill>
            <a:srgbClr val="0F17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F40AD8-9257-35D9-F98A-4B0DA4FFBDD6}"/>
              </a:ext>
            </a:extLst>
          </p:cNvPr>
          <p:cNvSpPr txBox="1"/>
          <p:nvPr/>
        </p:nvSpPr>
        <p:spPr>
          <a:xfrm>
            <a:off x="1041400" y="2336800"/>
            <a:ext cx="1168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500" b="1">
                <a:solidFill>
                  <a:srgbClr val="FFFFFF"/>
                </a:solidFill>
                <a:latin typeface="Aptos" panose="020B0004020202020204" pitchFamily="34" charset="0"/>
              </a:rPr>
              <a:t>Understand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21A08B0-5BFE-661D-1B43-FB72F18E705A}"/>
              </a:ext>
            </a:extLst>
          </p:cNvPr>
          <p:cNvCxnSpPr/>
          <p:nvPr/>
        </p:nvCxnSpPr>
        <p:spPr>
          <a:xfrm>
            <a:off x="2311400" y="2438400"/>
            <a:ext cx="330200" cy="0"/>
          </a:xfrm>
          <a:prstGeom prst="line">
            <a:avLst/>
          </a:prstGeom>
          <a:ln w="19050">
            <a:solidFill>
              <a:srgbClr val="268E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18A8789-447D-2C4A-B04F-7F06F78F0011}"/>
              </a:ext>
            </a:extLst>
          </p:cNvPr>
          <p:cNvSpPr txBox="1"/>
          <p:nvPr/>
        </p:nvSpPr>
        <p:spPr>
          <a:xfrm>
            <a:off x="2717800" y="2336800"/>
            <a:ext cx="1168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500" b="1">
                <a:solidFill>
                  <a:srgbClr val="FFFFFF"/>
                </a:solidFill>
                <a:latin typeface="Aptos" panose="020B0004020202020204" pitchFamily="34" charset="0"/>
              </a:rPr>
              <a:t>Define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B065AEA-B6CC-9B97-CB97-C925BD7352F9}"/>
              </a:ext>
            </a:extLst>
          </p:cNvPr>
          <p:cNvCxnSpPr/>
          <p:nvPr/>
        </p:nvCxnSpPr>
        <p:spPr>
          <a:xfrm>
            <a:off x="3987800" y="2438400"/>
            <a:ext cx="330200" cy="0"/>
          </a:xfrm>
          <a:prstGeom prst="line">
            <a:avLst/>
          </a:prstGeom>
          <a:ln w="19050">
            <a:solidFill>
              <a:srgbClr val="268E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804B152-8AC0-823B-DEA4-CAADA8FE6840}"/>
              </a:ext>
            </a:extLst>
          </p:cNvPr>
          <p:cNvSpPr txBox="1"/>
          <p:nvPr/>
        </p:nvSpPr>
        <p:spPr>
          <a:xfrm>
            <a:off x="4394200" y="2336800"/>
            <a:ext cx="1168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500" b="1">
                <a:solidFill>
                  <a:srgbClr val="FFFFFF"/>
                </a:solidFill>
                <a:latin typeface="Aptos" panose="020B0004020202020204" pitchFamily="34" charset="0"/>
              </a:rPr>
              <a:t>Prioritize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79ECC6C-58DA-2081-A44D-7D80DAFC8940}"/>
              </a:ext>
            </a:extLst>
          </p:cNvPr>
          <p:cNvCxnSpPr/>
          <p:nvPr/>
        </p:nvCxnSpPr>
        <p:spPr>
          <a:xfrm>
            <a:off x="5664200" y="2438400"/>
            <a:ext cx="330200" cy="0"/>
          </a:xfrm>
          <a:prstGeom prst="line">
            <a:avLst/>
          </a:prstGeom>
          <a:ln w="19050">
            <a:solidFill>
              <a:srgbClr val="268E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5DBB99E-2C14-3DBF-30CE-D07CB941FF55}"/>
              </a:ext>
            </a:extLst>
          </p:cNvPr>
          <p:cNvSpPr txBox="1"/>
          <p:nvPr/>
        </p:nvSpPr>
        <p:spPr>
          <a:xfrm>
            <a:off x="6070600" y="2336800"/>
            <a:ext cx="1168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500" b="1">
                <a:solidFill>
                  <a:srgbClr val="FFFFFF"/>
                </a:solidFill>
                <a:latin typeface="Aptos" panose="020B0004020202020204" pitchFamily="34" charset="0"/>
              </a:rPr>
              <a:t>Model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73CD2A3-73BB-520F-8257-9B4E94077A95}"/>
              </a:ext>
            </a:extLst>
          </p:cNvPr>
          <p:cNvCxnSpPr/>
          <p:nvPr/>
        </p:nvCxnSpPr>
        <p:spPr>
          <a:xfrm>
            <a:off x="7340600" y="2438400"/>
            <a:ext cx="330200" cy="0"/>
          </a:xfrm>
          <a:prstGeom prst="line">
            <a:avLst/>
          </a:prstGeom>
          <a:ln w="19050">
            <a:solidFill>
              <a:srgbClr val="268E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7425FAD-7F07-8BF2-57BB-6B52F6D06D90}"/>
              </a:ext>
            </a:extLst>
          </p:cNvPr>
          <p:cNvSpPr txBox="1"/>
          <p:nvPr/>
        </p:nvSpPr>
        <p:spPr>
          <a:xfrm>
            <a:off x="7747000" y="2336800"/>
            <a:ext cx="1168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500" b="1">
                <a:solidFill>
                  <a:srgbClr val="FFFFFF"/>
                </a:solidFill>
                <a:latin typeface="Aptos" panose="020B0004020202020204" pitchFamily="34" charset="0"/>
              </a:rPr>
              <a:t>Build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132D48B-DCB1-0B45-A6B4-6AEA323AFD1F}"/>
              </a:ext>
            </a:extLst>
          </p:cNvPr>
          <p:cNvCxnSpPr/>
          <p:nvPr/>
        </p:nvCxnSpPr>
        <p:spPr>
          <a:xfrm>
            <a:off x="9017000" y="2438400"/>
            <a:ext cx="330200" cy="0"/>
          </a:xfrm>
          <a:prstGeom prst="line">
            <a:avLst/>
          </a:prstGeom>
          <a:ln w="19050">
            <a:solidFill>
              <a:srgbClr val="268E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D302A21-994F-36B8-A226-02379A62FA20}"/>
              </a:ext>
            </a:extLst>
          </p:cNvPr>
          <p:cNvSpPr txBox="1"/>
          <p:nvPr/>
        </p:nvSpPr>
        <p:spPr>
          <a:xfrm>
            <a:off x="9423400" y="2336800"/>
            <a:ext cx="1168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500" b="1">
                <a:solidFill>
                  <a:srgbClr val="FFFFFF"/>
                </a:solidFill>
                <a:latin typeface="Aptos" panose="020B0004020202020204" pitchFamily="34" charset="0"/>
              </a:rPr>
              <a:t>Improve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23828EA-010D-2559-BF96-18AC727D08FC}"/>
              </a:ext>
            </a:extLst>
          </p:cNvPr>
          <p:cNvSpPr txBox="1"/>
          <p:nvPr/>
        </p:nvSpPr>
        <p:spPr>
          <a:xfrm>
            <a:off x="609600" y="3429000"/>
            <a:ext cx="317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2200" b="1">
                <a:solidFill>
                  <a:srgbClr val="5B43F2"/>
                </a:solidFill>
                <a:latin typeface="Aptos" panose="020B0004020202020204" pitchFamily="34" charset="0"/>
              </a:rPr>
              <a:t>Expected outcomes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11BF28-8D5F-6726-D02B-121A1E4B1174}"/>
              </a:ext>
            </a:extLst>
          </p:cNvPr>
          <p:cNvSpPr txBox="1"/>
          <p:nvPr/>
        </p:nvSpPr>
        <p:spPr>
          <a:xfrm>
            <a:off x="609600" y="3962400"/>
            <a:ext cx="4826000" cy="147732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>
                <a:solidFill>
                  <a:srgbClr val="1A223C"/>
                </a:solidFill>
                <a:latin typeface="Aptos" panose="020B0004020202020204" pitchFamily="34" charset="0"/>
              </a:rPr>
              <a:t>• Faster role fit checks before applying</a:t>
            </a:r>
          </a:p>
          <a:p>
            <a:r>
              <a:rPr lang="en-US">
                <a:solidFill>
                  <a:srgbClr val="1A223C"/>
                </a:solidFill>
                <a:latin typeface="Aptos" panose="020B0004020202020204" pitchFamily="34" charset="0"/>
              </a:rPr>
              <a:t>• Clear separation of strengths and gaps</a:t>
            </a:r>
          </a:p>
          <a:p>
            <a:r>
              <a:rPr lang="en-US">
                <a:solidFill>
                  <a:srgbClr val="1A223C"/>
                </a:solidFill>
                <a:latin typeface="Aptos" panose="020B0004020202020204" pitchFamily="34" charset="0"/>
              </a:rPr>
              <a:t>• Practical resume and interview recommendations</a:t>
            </a:r>
          </a:p>
          <a:p>
            <a:r>
              <a:rPr lang="en-US">
                <a:solidFill>
                  <a:srgbClr val="1A223C"/>
                </a:solidFill>
                <a:latin typeface="Aptos" panose="020B0004020202020204" pitchFamily="34" charset="0"/>
              </a:rPr>
              <a:t>• Chrome extension for faster LinkedIn analysis</a:t>
            </a:r>
            <a:endParaRPr lang="en-IN">
              <a:solidFill>
                <a:srgbClr val="1A223C"/>
              </a:solidFill>
              <a:latin typeface="Aptos" panose="020B00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4F0E0C-24D2-6C88-E8C4-355FE107EFDB}"/>
              </a:ext>
            </a:extLst>
          </p:cNvPr>
          <p:cNvSpPr txBox="1"/>
          <p:nvPr/>
        </p:nvSpPr>
        <p:spPr>
          <a:xfrm>
            <a:off x="6350000" y="34290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2200" b="1">
                <a:solidFill>
                  <a:srgbClr val="268EDA"/>
                </a:solidFill>
                <a:latin typeface="Aptos" panose="020B0004020202020204" pitchFamily="34" charset="0"/>
              </a:rPr>
              <a:t>Future scope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DFFE5-1001-3F03-98B6-E8A77605231D}"/>
              </a:ext>
            </a:extLst>
          </p:cNvPr>
          <p:cNvSpPr txBox="1"/>
          <p:nvPr/>
        </p:nvSpPr>
        <p:spPr>
          <a:xfrm>
            <a:off x="6350000" y="3962400"/>
            <a:ext cx="4597400" cy="120032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>
                <a:solidFill>
                  <a:srgbClr val="1A223C"/>
                </a:solidFill>
                <a:latin typeface="Aptos" panose="020B0004020202020204" pitchFamily="34" charset="0"/>
              </a:rPr>
              <a:t>• Secure accounts and saved analyses</a:t>
            </a:r>
          </a:p>
          <a:p>
            <a:r>
              <a:rPr lang="en-US">
                <a:solidFill>
                  <a:srgbClr val="1A223C"/>
                </a:solidFill>
                <a:latin typeface="Aptos" panose="020B0004020202020204" pitchFamily="34" charset="0"/>
              </a:rPr>
              <a:t>• DOCX and scanned-PDF support</a:t>
            </a:r>
          </a:p>
          <a:p>
            <a:r>
              <a:rPr lang="en-US">
                <a:solidFill>
                  <a:srgbClr val="1A223C"/>
                </a:solidFill>
                <a:latin typeface="Aptos" panose="020B0004020202020204" pitchFamily="34" charset="0"/>
              </a:rPr>
              <a:t>• Explainable scoring with evidence</a:t>
            </a:r>
          </a:p>
          <a:p>
            <a:r>
              <a:rPr lang="en-US">
                <a:solidFill>
                  <a:srgbClr val="1A223C"/>
                </a:solidFill>
                <a:latin typeface="Aptos" panose="020B0004020202020204" pitchFamily="34" charset="0"/>
              </a:rPr>
              <a:t>• Learning roadmap and gap-closure analytics</a:t>
            </a:r>
            <a:endParaRPr lang="en-IN">
              <a:solidFill>
                <a:srgbClr val="1A223C"/>
              </a:solidFill>
              <a:latin typeface="Aptos" panose="020B000402020202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65E4DAB-FB2B-91D6-FB3C-A7031495A92F}"/>
              </a:ext>
            </a:extLst>
          </p:cNvPr>
          <p:cNvSpPr/>
          <p:nvPr/>
        </p:nvSpPr>
        <p:spPr>
          <a:xfrm>
            <a:off x="609600" y="5689600"/>
            <a:ext cx="10972800" cy="533400"/>
          </a:xfrm>
          <a:prstGeom prst="roundRect">
            <a:avLst/>
          </a:prstGeom>
          <a:solidFill>
            <a:srgbClr val="F2E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9C0531-808A-D661-B259-060582675863}"/>
              </a:ext>
            </a:extLst>
          </p:cNvPr>
          <p:cNvSpPr txBox="1"/>
          <p:nvPr/>
        </p:nvSpPr>
        <p:spPr>
          <a:xfrm>
            <a:off x="812800" y="5854700"/>
            <a:ext cx="10566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200" b="1">
                <a:solidFill>
                  <a:srgbClr val="0F1734"/>
                </a:solidFill>
                <a:latin typeface="Aptos" panose="020B0004020202020204" pitchFamily="34" charset="0"/>
              </a:rPr>
              <a:t>Team  |  Jatin Jangid 2228MCA0068  ·  Nitin 2628MCA0275  ·  Naina Vats 2628MCA0003  ·  Ilma Chaudhary 2628MCA0146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A1CEB56-92A3-B19F-EEF7-7FAA6DCA1437}"/>
              </a:ext>
            </a:extLst>
          </p:cNvPr>
          <p:cNvSpPr txBox="1"/>
          <p:nvPr/>
        </p:nvSpPr>
        <p:spPr>
          <a:xfrm>
            <a:off x="609600" y="63246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400" b="1">
                <a:solidFill>
                  <a:srgbClr val="5B43F2"/>
                </a:solidFill>
                <a:latin typeface="Aptos" panose="020B0004020202020204" pitchFamily="34" charset="0"/>
              </a:rPr>
              <a:t>Thank you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A299CDB-15EA-EA8F-F674-DE0AEF1D06F5}"/>
              </a:ext>
            </a:extLst>
          </p:cNvPr>
          <p:cNvSpPr txBox="1"/>
          <p:nvPr/>
        </p:nvSpPr>
        <p:spPr>
          <a:xfrm>
            <a:off x="3124200" y="6299200"/>
            <a:ext cx="7874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500">
                <a:solidFill>
                  <a:srgbClr val="5D6C8E"/>
                </a:solidFill>
                <a:latin typeface="Aptos" panose="020B0004020202020204" pitchFamily="34" charset="0"/>
              </a:rPr>
              <a:t>Career guidance becomes more useful when it is specific, explainable, and actionable.</a:t>
            </a:r>
            <a:endParaRPr lang="en-IN" sz="1500">
              <a:solidFill>
                <a:srgbClr val="5D6C8E"/>
              </a:solidFill>
              <a:latin typeface="Aptos" panose="020B00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C861DA5-5EB9-4C88-F809-E8B0EA63306B}"/>
              </a:ext>
            </a:extLst>
          </p:cNvPr>
          <p:cNvSpPr txBox="1"/>
          <p:nvPr/>
        </p:nvSpPr>
        <p:spPr>
          <a:xfrm>
            <a:off x="609600" y="65532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900">
                <a:solidFill>
                  <a:srgbClr val="5D6C8E"/>
                </a:solidFill>
                <a:latin typeface="Aptos" panose="020B0004020202020204" pitchFamily="34" charset="0"/>
              </a:rPr>
              <a:t>MSE-1 | KIET MCA | Personalized Career Mentor AI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D55115D-1F53-9097-A076-1B26ED1097F8}"/>
              </a:ext>
            </a:extLst>
          </p:cNvPr>
          <p:cNvSpPr txBox="1"/>
          <p:nvPr/>
        </p:nvSpPr>
        <p:spPr>
          <a:xfrm>
            <a:off x="11303000" y="6553200"/>
            <a:ext cx="279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900" b="1">
                <a:solidFill>
                  <a:srgbClr val="5D6C8E"/>
                </a:solidFill>
                <a:latin typeface="Aptos" panose="020B0004020202020204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407741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1129</Words>
  <Application>Microsoft Office PowerPoint</Application>
  <PresentationFormat>Custom</PresentationFormat>
  <Paragraphs>246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jatin jangid</dc:creator>
  <cp:lastModifiedBy>jatin jangid</cp:lastModifiedBy>
  <cp:revision>1</cp:revision>
  <dcterms:created xsi:type="dcterms:W3CDTF">2026-09-22T18:28:28Z</dcterms:created>
  <dcterms:modified xsi:type="dcterms:W3CDTF">2026-09-22T18:28:28Z</dcterms:modified>
</cp:coreProperties>
</file>