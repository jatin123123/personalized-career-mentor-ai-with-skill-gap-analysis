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07FD1-9179-8769-FF67-7B4075B490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EB0447-D0EA-1030-E907-23B91D17D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38229-20C8-C6E3-F307-96C34D6C9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56B4C-95C1-4200-AFBE-3542DB885633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3AC46-83F1-ED49-3814-58E3AE16F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5251E-2D68-677A-1AF3-D91AFAE6E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04239-EBB6-45D1-9CB2-BE30093C41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13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3BCBA-A949-D263-887E-4E7C0FAA2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70A75-3C94-00C8-0ADC-7CEEE2371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89AD2-5E61-0849-DD85-3C37479E9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56B4C-95C1-4200-AFBE-3542DB885633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BE0B2-374D-28AD-B480-7B16D0E77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99BC7-E323-62AF-A94B-5ADFB1112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04239-EBB6-45D1-9CB2-BE30093C41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2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AD562-C74D-7D96-7D05-3ACD3E6C6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D005D-9645-59EA-65B6-63B91B1CC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86C1C-878D-5C06-69DA-222F322CE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56B4C-95C1-4200-AFBE-3542DB885633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08A69-2B62-70E3-4614-3C51A5AE9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FB9B0-DE7F-07E1-C17C-7E0032B2A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04239-EBB6-45D1-9CB2-BE30093C41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893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20643-2A9C-38CC-CFD4-4A58ADC1D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672A3-A470-396C-40AF-3E02775C15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4BCD43-CEC9-2A7A-E105-68F98A8B01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88030B-D138-834D-1BA7-F94ACD931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56B4C-95C1-4200-AFBE-3542DB885633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79390C-1E83-8DFF-633B-9CF335CFA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BA11D-CFFE-D92F-2774-13D61487C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04239-EBB6-45D1-9CB2-BE30093C41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1653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803B0-73CA-EC6E-7E74-07A06CB59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ACE38-34BC-3733-FA26-444046412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D24F2-277F-ED8B-774C-BAD9E0B660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9233AE-E4F5-19E9-CB37-8DBD308B73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D850DE-9756-17BC-8667-958C141214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CEA920-69A3-CCA4-618C-85ADFFA16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56B4C-95C1-4200-AFBE-3542DB885633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3D0308-0CF7-BC6D-D1FB-463C45257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FCEAA8-1880-00EA-EEEA-E9C5C2740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04239-EBB6-45D1-9CB2-BE30093C41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8282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58310-22C2-8684-1C24-5CC1BE822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AA6744-19E9-3AA2-682A-90240177C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56B4C-95C1-4200-AFBE-3542DB885633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C5FAFE-D91D-8564-538F-472123C4D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574D63-AFE7-10E3-B128-7BDFE337D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04239-EBB6-45D1-9CB2-BE30093C41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955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F4C32A-974A-707B-1A0C-642E5AAE1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56B4C-95C1-4200-AFBE-3542DB885633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25C5FC-7157-FEDB-CCD0-939205CD5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FA363-3765-63A9-D27B-389D6E0ED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04239-EBB6-45D1-9CB2-BE30093C41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855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88C49-6B3B-FDA9-6975-ACF0C3496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F5497-D714-0C81-1933-7DD268EC0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F8B1B2-C3E6-0A43-2B38-513F4700C3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CEE8C3-F0F5-CD3F-AE51-0096F256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56B4C-95C1-4200-AFBE-3542DB885633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E6DF26-BF53-7D68-5FC9-D6F95867B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6819A-2E3F-A1B5-4BC5-B2EC57A03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04239-EBB6-45D1-9CB2-BE30093C41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379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174C2-3DB4-E5AC-D323-9D85371AF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1BB38E-BEB2-F012-27BD-4283074638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9C3C8E-0F1A-BA1D-19F1-A0F3400F2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094A0D-394B-AC4D-24E1-D46F9258A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56B4C-95C1-4200-AFBE-3542DB885633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24745A-AAF7-80E7-6FFB-DB309BC74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5EB24A-8778-9397-9750-1D11BFE0B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04239-EBB6-45D1-9CB2-BE30093C41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24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19FD5-C5E7-BAE8-E7D5-6A6E7C231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7EF997-4E21-8977-A1F3-177D3F783B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0ECE2-123E-09A7-2745-45EA52E08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56B4C-95C1-4200-AFBE-3542DB885633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489CE-AD36-0826-8533-9DABE615D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25F76-878A-AE37-2FBD-BEABD4331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04239-EBB6-45D1-9CB2-BE30093C41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173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89310C-DC90-10CC-4D82-96E0587457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BAC3C4-6E8D-DCDE-4276-1E80DC7AB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2094B-8A16-3C7B-E5D3-36511D881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56B4C-95C1-4200-AFBE-3542DB885633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99954-B9C7-1EB6-B9FF-F4AA21311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80042-1E87-BA1F-7F86-7293F623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04239-EBB6-45D1-9CB2-BE30093C41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697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F4BC39-6672-A3B2-3CB6-699CBB9A4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EADAFF-8577-23A4-9BED-5BE08946D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E3657-3FC0-7B3F-E9C8-BFBD8FADC7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556B4C-95C1-4200-AFBE-3542DB885633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1D9C0-AB3B-0DA6-950C-991317A7FA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103F8-BDC8-BC47-EEC2-926A6518FF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104239-EBB6-45D1-9CB2-BE30093C41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363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A2ABFF-6F54-D4E1-343F-A2E795F1DC8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D166EAC-95A9-8210-C15F-6BDB03E3815C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5B43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9B42567-022E-B0F5-B007-C33A844C96E4}"/>
              </a:ext>
            </a:extLst>
          </p:cNvPr>
          <p:cNvSpPr/>
          <p:nvPr/>
        </p:nvSpPr>
        <p:spPr>
          <a:xfrm>
            <a:off x="609600" y="355600"/>
            <a:ext cx="330200" cy="330200"/>
          </a:xfrm>
          <a:prstGeom prst="roundRect">
            <a:avLst/>
          </a:prstGeom>
          <a:solidFill>
            <a:srgbClr val="5B43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074E2C-AB90-D0FF-3B92-DBC0CC73A958}"/>
              </a:ext>
            </a:extLst>
          </p:cNvPr>
          <p:cNvSpPr txBox="1"/>
          <p:nvPr/>
        </p:nvSpPr>
        <p:spPr>
          <a:xfrm>
            <a:off x="673100" y="406400"/>
            <a:ext cx="20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Aptos" panose="020B0004020202020204" pitchFamily="34" charset="0"/>
              </a:rPr>
              <a:t>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C3450F-4FA1-555B-1B75-F2EB352E5598}"/>
              </a:ext>
            </a:extLst>
          </p:cNvPr>
          <p:cNvSpPr txBox="1"/>
          <p:nvPr/>
        </p:nvSpPr>
        <p:spPr>
          <a:xfrm>
            <a:off x="1066800" y="4191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200" b="1">
                <a:solidFill>
                  <a:srgbClr val="0F1734"/>
                </a:solidFill>
                <a:latin typeface="Aptos" panose="020B0004020202020204" pitchFamily="34" charset="0"/>
              </a:rPr>
              <a:t>CAREER MENTOR AI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552BBBD-C9C4-34B6-5E45-D86A1AA16412}"/>
              </a:ext>
            </a:extLst>
          </p:cNvPr>
          <p:cNvSpPr/>
          <p:nvPr/>
        </p:nvSpPr>
        <p:spPr>
          <a:xfrm>
            <a:off x="609600" y="990600"/>
            <a:ext cx="2336800" cy="304800"/>
          </a:xfrm>
          <a:prstGeom prst="roundRect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D0F46A-FCE0-451F-F981-67E1841A6625}"/>
              </a:ext>
            </a:extLst>
          </p:cNvPr>
          <p:cNvSpPr txBox="1"/>
          <p:nvPr/>
        </p:nvSpPr>
        <p:spPr>
          <a:xfrm>
            <a:off x="736600" y="1041400"/>
            <a:ext cx="2082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MSE-1 PROJECT-BASED LEARNING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BFDC91-CB45-15DF-4CE1-22C5646A9BEF}"/>
              </a:ext>
            </a:extLst>
          </p:cNvPr>
          <p:cNvSpPr txBox="1"/>
          <p:nvPr/>
        </p:nvSpPr>
        <p:spPr>
          <a:xfrm>
            <a:off x="609600" y="1549400"/>
            <a:ext cx="622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4200" b="1">
                <a:solidFill>
                  <a:srgbClr val="0F1734"/>
                </a:solidFill>
                <a:latin typeface="Aptos Display" panose="020B0004020202020204" pitchFamily="34" charset="0"/>
              </a:rPr>
              <a:t>Personalized Career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25A140-7BDC-E893-7BF5-1F40C64A8F71}"/>
              </a:ext>
            </a:extLst>
          </p:cNvPr>
          <p:cNvSpPr txBox="1"/>
          <p:nvPr/>
        </p:nvSpPr>
        <p:spPr>
          <a:xfrm>
            <a:off x="609600" y="22098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4400" b="1">
                <a:solidFill>
                  <a:srgbClr val="268EDA"/>
                </a:solidFill>
                <a:latin typeface="Aptos Display" panose="020B0004020202020204" pitchFamily="34" charset="0"/>
              </a:rPr>
              <a:t>Mentor AI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DCC744-A37D-33B4-CE83-70C6D269AE66}"/>
              </a:ext>
            </a:extLst>
          </p:cNvPr>
          <p:cNvSpPr txBox="1"/>
          <p:nvPr/>
        </p:nvSpPr>
        <p:spPr>
          <a:xfrm>
            <a:off x="609600" y="28702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900" b="1">
                <a:solidFill>
                  <a:srgbClr val="5B43F2"/>
                </a:solidFill>
                <a:latin typeface="Aptos Display" panose="020B0004020202020204" pitchFamily="34" charset="0"/>
              </a:rPr>
              <a:t>with Skill Gap Analysis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6E5DC8-6ED7-B56E-5B93-CDEB758FDC1E}"/>
              </a:ext>
            </a:extLst>
          </p:cNvPr>
          <p:cNvSpPr txBox="1"/>
          <p:nvPr/>
        </p:nvSpPr>
        <p:spPr>
          <a:xfrm>
            <a:off x="635000" y="3657600"/>
            <a:ext cx="5715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5D6C8E"/>
                </a:solidFill>
                <a:latin typeface="Aptos" panose="020B0004020202020204" pitchFamily="34" charset="0"/>
              </a:rPr>
              <a:t>A role-specific career guide that compares resumes with job descriptions and turns gaps into clear next actions.</a:t>
            </a:r>
            <a:endParaRPr lang="en-IN" sz="17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6F9D398-C90D-3062-B1E5-53F666B521B5}"/>
              </a:ext>
            </a:extLst>
          </p:cNvPr>
          <p:cNvSpPr/>
          <p:nvPr/>
        </p:nvSpPr>
        <p:spPr>
          <a:xfrm>
            <a:off x="609600" y="4673600"/>
            <a:ext cx="3073400" cy="304800"/>
          </a:xfrm>
          <a:prstGeom prst="roundRect">
            <a:avLst/>
          </a:prstGeom>
          <a:solidFill>
            <a:srgbClr val="E6FA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2F7588-EFF4-1197-E3E1-3B9657CEBE1B}"/>
              </a:ext>
            </a:extLst>
          </p:cNvPr>
          <p:cNvSpPr txBox="1"/>
          <p:nvPr/>
        </p:nvSpPr>
        <p:spPr>
          <a:xfrm>
            <a:off x="736600" y="4724400"/>
            <a:ext cx="2819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100" b="1">
                <a:solidFill>
                  <a:srgbClr val="21C294"/>
                </a:solidFill>
                <a:latin typeface="Aptos" panose="020B0004020202020204" pitchFamily="34" charset="0"/>
              </a:rPr>
              <a:t>AI-powered web app + Chrome extension</a:t>
            </a:r>
            <a:endParaRPr lang="en-IN" sz="1100" b="1">
              <a:solidFill>
                <a:srgbClr val="21C294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9897BF-5AD6-0B67-ECC5-F3BABAE64134}"/>
              </a:ext>
            </a:extLst>
          </p:cNvPr>
          <p:cNvSpPr txBox="1"/>
          <p:nvPr/>
        </p:nvSpPr>
        <p:spPr>
          <a:xfrm>
            <a:off x="609600" y="5384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Team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02D738-CDEF-A724-0404-86E36DA5BC41}"/>
              </a:ext>
            </a:extLst>
          </p:cNvPr>
          <p:cNvSpPr txBox="1"/>
          <p:nvPr/>
        </p:nvSpPr>
        <p:spPr>
          <a:xfrm>
            <a:off x="609600" y="5664200"/>
            <a:ext cx="571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fi-FI" sz="1400" b="1">
                <a:solidFill>
                  <a:srgbClr val="0F1734"/>
                </a:solidFill>
                <a:latin typeface="Aptos" panose="020B0004020202020204" pitchFamily="34" charset="0"/>
              </a:rPr>
              <a:t>Jatin Jangid  ·  Nitin  ·  Naina Vats  ·  Ilma Chaudhary</a:t>
            </a:r>
            <a:endParaRPr lang="en-IN" sz="1400" b="1">
              <a:solidFill>
                <a:srgbClr val="0F1734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6EAD6E-640A-038B-BA6E-E65CE63FB806}"/>
              </a:ext>
            </a:extLst>
          </p:cNvPr>
          <p:cNvSpPr txBox="1"/>
          <p:nvPr/>
        </p:nvSpPr>
        <p:spPr>
          <a:xfrm>
            <a:off x="609600" y="5969000"/>
            <a:ext cx="5715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00">
                <a:solidFill>
                  <a:srgbClr val="5D6C8E"/>
                </a:solidFill>
                <a:latin typeface="Aptos" panose="020B0004020202020204" pitchFamily="34" charset="0"/>
              </a:rPr>
              <a:t>2228MCA0068   |   2628MCA0275   |   2628MCA0003   |   2628MCA0146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08289F5-99A4-D3EC-E128-5D5BF8F0DEF3}"/>
              </a:ext>
            </a:extLst>
          </p:cNvPr>
          <p:cNvSpPr/>
          <p:nvPr/>
        </p:nvSpPr>
        <p:spPr>
          <a:xfrm>
            <a:off x="7213600" y="990600"/>
            <a:ext cx="4368800" cy="4851400"/>
          </a:xfrm>
          <a:prstGeom prst="roundRect">
            <a:avLst/>
          </a:prstGeom>
          <a:solidFill>
            <a:srgbClr val="0F17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7D57217-3546-3E87-BDC6-BDCDC4B75A8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1092200"/>
            <a:ext cx="4165600" cy="46482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07978E3-B5CE-A1CA-BCBA-EBAD3B6CEC90}"/>
              </a:ext>
            </a:extLst>
          </p:cNvPr>
          <p:cNvSpPr txBox="1"/>
          <p:nvPr/>
        </p:nvSpPr>
        <p:spPr>
          <a:xfrm>
            <a:off x="7518400" y="12446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200" b="1">
                <a:solidFill>
                  <a:srgbClr val="FFFFFF"/>
                </a:solidFill>
                <a:latin typeface="Aptos" panose="020B0004020202020204" pitchFamily="34" charset="0"/>
              </a:rPr>
              <a:t>Resume Matcher AI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93E8A45-1E80-708B-FB1D-D1755D4A86DF}"/>
              </a:ext>
            </a:extLst>
          </p:cNvPr>
          <p:cNvSpPr/>
          <p:nvPr/>
        </p:nvSpPr>
        <p:spPr>
          <a:xfrm>
            <a:off x="9906000" y="1244600"/>
            <a:ext cx="1320800" cy="304800"/>
          </a:xfrm>
          <a:prstGeom prst="roundRect">
            <a:avLst/>
          </a:prstGeom>
          <a:solidFill>
            <a:srgbClr val="E6FA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4C24E5-636C-C1EE-033D-CB4B10F89241}"/>
              </a:ext>
            </a:extLst>
          </p:cNvPr>
          <p:cNvSpPr txBox="1"/>
          <p:nvPr/>
        </p:nvSpPr>
        <p:spPr>
          <a:xfrm>
            <a:off x="10033000" y="1295400"/>
            <a:ext cx="1066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21C294"/>
                </a:solidFill>
                <a:latin typeface="Aptos" panose="020B0004020202020204" pitchFamily="34" charset="0"/>
              </a:rPr>
              <a:t>Powered by Groq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431D46-292F-88E6-DEDE-CF15205CEF50}"/>
              </a:ext>
            </a:extLst>
          </p:cNvPr>
          <p:cNvSpPr txBox="1"/>
          <p:nvPr/>
        </p:nvSpPr>
        <p:spPr>
          <a:xfrm>
            <a:off x="7518400" y="5372100"/>
            <a:ext cx="342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FFFFFF"/>
                </a:solidFill>
                <a:latin typeface="Aptos" panose="020B0004020202020204" pitchFamily="34" charset="0"/>
              </a:rPr>
              <a:t>Compare. Understand. Improve.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573169-B112-AC22-869C-C8EC4D698EA1}"/>
              </a:ext>
            </a:extLst>
          </p:cNvPr>
          <p:cNvSpPr txBox="1"/>
          <p:nvPr/>
        </p:nvSpPr>
        <p:spPr>
          <a:xfrm>
            <a:off x="7213600" y="6045200"/>
            <a:ext cx="4368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>
                <a:solidFill>
                  <a:srgbClr val="5D6C8E"/>
                </a:solidFill>
                <a:latin typeface="Aptos" panose="020B0004020202020204" pitchFamily="34" charset="0"/>
              </a:rPr>
              <a:t>Front End Web Development (26CA205PCB)  |  MCA  |  KIET</a:t>
            </a:r>
            <a:endParaRPr lang="en-IN" sz="10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440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7DEA48-88F2-9066-92AD-3F4932C8890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B6FC1A1-8DDD-835C-B712-773C3931E9DB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5B43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7566E7-3B6F-CBB3-2138-575A10392895}"/>
              </a:ext>
            </a:extLst>
          </p:cNvPr>
          <p:cNvSpPr txBox="1"/>
          <p:nvPr/>
        </p:nvSpPr>
        <p:spPr>
          <a:xfrm>
            <a:off x="609600" y="330200"/>
            <a:ext cx="3302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5B43F2"/>
                </a:solidFill>
                <a:latin typeface="Aptos" panose="020B0004020202020204" pitchFamily="34" charset="0"/>
              </a:rPr>
              <a:t>METRIC 1 | INNOVATION &amp; PROBLEM SOLVING</a:t>
            </a:r>
            <a:endParaRPr lang="en-IN" sz="1100" b="1">
              <a:solidFill>
                <a:srgbClr val="5B43F2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622136-DC57-C938-D669-DE9D49424204}"/>
              </a:ext>
            </a:extLst>
          </p:cNvPr>
          <p:cNvSpPr txBox="1"/>
          <p:nvPr/>
        </p:nvSpPr>
        <p:spPr>
          <a:xfrm>
            <a:off x="609600" y="635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3000" b="1">
                <a:solidFill>
                  <a:srgbClr val="0F1734"/>
                </a:solidFill>
                <a:latin typeface="Aptos" panose="020B0004020202020204" pitchFamily="34" charset="0"/>
              </a:rPr>
              <a:t>User discovery &amp; opportunity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3619A8-35C4-C2DE-F59C-A90BADCC1C89}"/>
              </a:ext>
            </a:extLst>
          </p:cNvPr>
          <p:cNvSpPr txBox="1"/>
          <p:nvPr/>
        </p:nvSpPr>
        <p:spPr>
          <a:xfrm>
            <a:off x="609600" y="12192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D6C8E"/>
                </a:solidFill>
                <a:latin typeface="Aptos" panose="020B0004020202020204" pitchFamily="34" charset="0"/>
              </a:rPr>
              <a:t>The workflow is clear: job seekers need role-specific feedback before they apply.</a:t>
            </a:r>
            <a:endParaRPr lang="en-IN" sz="15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DC33B8-C965-33A5-5B8B-1ECAC350A531}"/>
              </a:ext>
            </a:extLst>
          </p:cNvPr>
          <p:cNvCxnSpPr/>
          <p:nvPr/>
        </p:nvCxnSpPr>
        <p:spPr>
          <a:xfrm>
            <a:off x="609600" y="1625600"/>
            <a:ext cx="10972800" cy="0"/>
          </a:xfrm>
          <a:prstGeom prst="line">
            <a:avLst/>
          </a:prstGeom>
          <a:ln w="12700">
            <a:solidFill>
              <a:srgbClr val="D7E0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2ABC9BA-7FA9-42DE-B507-061AB2733156}"/>
              </a:ext>
            </a:extLst>
          </p:cNvPr>
          <p:cNvSpPr/>
          <p:nvPr/>
        </p:nvSpPr>
        <p:spPr>
          <a:xfrm>
            <a:off x="10414000" y="330200"/>
            <a:ext cx="1168400" cy="304800"/>
          </a:xfrm>
          <a:prstGeom prst="roundRect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7D8BCB-7896-FF1D-D9F2-30A69084A14D}"/>
              </a:ext>
            </a:extLst>
          </p:cNvPr>
          <p:cNvSpPr txBox="1"/>
          <p:nvPr/>
        </p:nvSpPr>
        <p:spPr>
          <a:xfrm>
            <a:off x="10541000" y="381000"/>
            <a:ext cx="914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METRIC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705972-2F5C-C7A8-2260-ED8548DB427F}"/>
              </a:ext>
            </a:extLst>
          </p:cNvPr>
          <p:cNvSpPr txBox="1"/>
          <p:nvPr/>
        </p:nvSpPr>
        <p:spPr>
          <a:xfrm>
            <a:off x="609600" y="19812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b="1">
                <a:solidFill>
                  <a:srgbClr val="0F1734"/>
                </a:solidFill>
                <a:latin typeface="Aptos" panose="020B0004020202020204" pitchFamily="34" charset="0"/>
              </a:rPr>
              <a:t>Primary users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DFDA36-CCAB-18F4-0AE2-1D1C4ADF4797}"/>
              </a:ext>
            </a:extLst>
          </p:cNvPr>
          <p:cNvSpPr txBox="1"/>
          <p:nvPr/>
        </p:nvSpPr>
        <p:spPr>
          <a:xfrm>
            <a:off x="609600" y="2413000"/>
            <a:ext cx="3683000" cy="92333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A223C"/>
                </a:solidFill>
                <a:latin typeface="Aptos" panose="020B0004020202020204" pitchFamily="34" charset="0"/>
              </a:rPr>
              <a:t>Students and freshers\nWorking professionals\nAnyone tailoring a resume to a specific role</a:t>
            </a:r>
            <a:endParaRPr lang="en-IN" sz="1900">
              <a:solidFill>
                <a:srgbClr val="1A223C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4C1FC5-2D7B-C3FB-1C1D-C4C46DFFB82C}"/>
              </a:ext>
            </a:extLst>
          </p:cNvPr>
          <p:cNvSpPr txBox="1"/>
          <p:nvPr/>
        </p:nvSpPr>
        <p:spPr>
          <a:xfrm>
            <a:off x="609600" y="38608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b="1">
                <a:solidFill>
                  <a:srgbClr val="0F1734"/>
                </a:solidFill>
                <a:latin typeface="Aptos" panose="020B0004020202020204" pitchFamily="34" charset="0"/>
              </a:rPr>
              <a:t>Observed friction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655D94-E8C2-4FE4-5F66-15D2A575FBB0}"/>
              </a:ext>
            </a:extLst>
          </p:cNvPr>
          <p:cNvSpPr txBox="1"/>
          <p:nvPr/>
        </p:nvSpPr>
        <p:spPr>
          <a:xfrm>
            <a:off x="609600" y="4292600"/>
            <a:ext cx="4127500" cy="147732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1A223C"/>
                </a:solidFill>
                <a:latin typeface="Aptos" panose="020B0004020202020204" pitchFamily="34" charset="0"/>
              </a:rPr>
              <a:t>Manual resume-to-JD comparison\nGeneric advice that ignores the target role\nUnclear gaps before an application\nCopy-paste effort across job boards</a:t>
            </a:r>
            <a:endParaRPr lang="en-IN" sz="1700">
              <a:solidFill>
                <a:srgbClr val="1A223C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9640C16-138D-C4D4-92CC-4D269D63A799}"/>
              </a:ext>
            </a:extLst>
          </p:cNvPr>
          <p:cNvSpPr/>
          <p:nvPr/>
        </p:nvSpPr>
        <p:spPr>
          <a:xfrm>
            <a:off x="5638800" y="1981200"/>
            <a:ext cx="5334000" cy="370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049587-18D6-D585-2233-10335C3AA21D}"/>
              </a:ext>
            </a:extLst>
          </p:cNvPr>
          <p:cNvSpPr txBox="1"/>
          <p:nvPr/>
        </p:nvSpPr>
        <p:spPr>
          <a:xfrm>
            <a:off x="6045200" y="23368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400" b="1">
                <a:solidFill>
                  <a:srgbClr val="5B43F2"/>
                </a:solidFill>
                <a:latin typeface="Aptos" panose="020B0004020202020204" pitchFamily="34" charset="0"/>
              </a:rPr>
              <a:t>The opportunity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BD24A7-14EC-BAD3-4990-BB375EB3B123}"/>
              </a:ext>
            </a:extLst>
          </p:cNvPr>
          <p:cNvSpPr txBox="1"/>
          <p:nvPr/>
        </p:nvSpPr>
        <p:spPr>
          <a:xfrm>
            <a:off x="6045200" y="2870200"/>
            <a:ext cx="4445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 b="1">
                <a:solidFill>
                  <a:srgbClr val="0F1734"/>
                </a:solidFill>
                <a:latin typeface="Aptos" panose="020B0004020202020204" pitchFamily="34" charset="0"/>
              </a:rPr>
              <a:t>Make the “should I apply?” decision more informed.</a:t>
            </a:r>
            <a:endParaRPr lang="en-IN" sz="2600" b="1">
              <a:solidFill>
                <a:srgbClr val="0F1734"/>
              </a:solidFill>
              <a:latin typeface="Aptos" panose="020B00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7B9A32E-DC8D-DBA0-C521-D585DFD1E745}"/>
              </a:ext>
            </a:extLst>
          </p:cNvPr>
          <p:cNvCxnSpPr/>
          <p:nvPr/>
        </p:nvCxnSpPr>
        <p:spPr>
          <a:xfrm>
            <a:off x="6045200" y="3632200"/>
            <a:ext cx="4419600" cy="0"/>
          </a:xfrm>
          <a:prstGeom prst="line">
            <a:avLst/>
          </a:prstGeom>
          <a:ln w="12700">
            <a:solidFill>
              <a:srgbClr val="D7E0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6499512-F618-70EB-C9AE-34D78EB922A5}"/>
              </a:ext>
            </a:extLst>
          </p:cNvPr>
          <p:cNvSpPr/>
          <p:nvPr/>
        </p:nvSpPr>
        <p:spPr>
          <a:xfrm>
            <a:off x="6172200" y="4013200"/>
            <a:ext cx="431800" cy="431800"/>
          </a:xfrm>
          <a:prstGeom prst="ellipse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6610DE-2324-6357-5BAF-2657A4F92D84}"/>
              </a:ext>
            </a:extLst>
          </p:cNvPr>
          <p:cNvSpPr txBox="1"/>
          <p:nvPr/>
        </p:nvSpPr>
        <p:spPr>
          <a:xfrm>
            <a:off x="6273800" y="4127500"/>
            <a:ext cx="2286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BF6098-1F3E-EA7A-85CB-97D08CA7FB81}"/>
              </a:ext>
            </a:extLst>
          </p:cNvPr>
          <p:cNvSpPr txBox="1"/>
          <p:nvPr/>
        </p:nvSpPr>
        <p:spPr>
          <a:xfrm>
            <a:off x="6807200" y="40259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>
                <a:solidFill>
                  <a:srgbClr val="1A223C"/>
                </a:solidFill>
                <a:latin typeface="Aptos" panose="020B0004020202020204" pitchFamily="34" charset="0"/>
              </a:rPr>
              <a:t>Surface evidence from the resume</a:t>
            </a:r>
            <a:endParaRPr lang="en-IN" sz="1700" b="1">
              <a:solidFill>
                <a:srgbClr val="1A223C"/>
              </a:solidFill>
              <a:latin typeface="Aptos" panose="020B0004020202020204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D5D0ECC-C24F-A987-AD30-C7EB38ACA838}"/>
              </a:ext>
            </a:extLst>
          </p:cNvPr>
          <p:cNvSpPr/>
          <p:nvPr/>
        </p:nvSpPr>
        <p:spPr>
          <a:xfrm>
            <a:off x="6172200" y="4572000"/>
            <a:ext cx="431800" cy="431800"/>
          </a:xfrm>
          <a:prstGeom prst="ellipse">
            <a:avLst/>
          </a:prstGeom>
          <a:solidFill>
            <a:srgbClr val="E9F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3F1F5A-EF5D-D4FE-4EF7-33B7E6C138D7}"/>
              </a:ext>
            </a:extLst>
          </p:cNvPr>
          <p:cNvSpPr txBox="1"/>
          <p:nvPr/>
        </p:nvSpPr>
        <p:spPr>
          <a:xfrm>
            <a:off x="6273800" y="4686300"/>
            <a:ext cx="2286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268EDA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814DE4-5070-8640-3545-D6878E4552F5}"/>
              </a:ext>
            </a:extLst>
          </p:cNvPr>
          <p:cNvSpPr txBox="1"/>
          <p:nvPr/>
        </p:nvSpPr>
        <p:spPr>
          <a:xfrm>
            <a:off x="6807200" y="45847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>
                <a:solidFill>
                  <a:srgbClr val="1A223C"/>
                </a:solidFill>
                <a:latin typeface="Aptos" panose="020B0004020202020204" pitchFamily="34" charset="0"/>
              </a:rPr>
              <a:t>Compare against the target role</a:t>
            </a:r>
            <a:endParaRPr lang="en-IN" sz="1700" b="1">
              <a:solidFill>
                <a:srgbClr val="1A223C"/>
              </a:solidFill>
              <a:latin typeface="Aptos" panose="020B0004020202020204" pitchFamily="34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0530102-C1B6-CCC2-513D-FD7E92D97663}"/>
              </a:ext>
            </a:extLst>
          </p:cNvPr>
          <p:cNvSpPr/>
          <p:nvPr/>
        </p:nvSpPr>
        <p:spPr>
          <a:xfrm>
            <a:off x="6172200" y="5130800"/>
            <a:ext cx="431800" cy="431800"/>
          </a:xfrm>
          <a:prstGeom prst="ellipse">
            <a:avLst/>
          </a:prstGeom>
          <a:solidFill>
            <a:srgbClr val="E6FA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E812EB-4163-91B2-523F-9500F64EB0C3}"/>
              </a:ext>
            </a:extLst>
          </p:cNvPr>
          <p:cNvSpPr txBox="1"/>
          <p:nvPr/>
        </p:nvSpPr>
        <p:spPr>
          <a:xfrm>
            <a:off x="6273800" y="5245100"/>
            <a:ext cx="2286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21C294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9AF3A7-83E7-C2A1-5747-F778576592F2}"/>
              </a:ext>
            </a:extLst>
          </p:cNvPr>
          <p:cNvSpPr txBox="1"/>
          <p:nvPr/>
        </p:nvSpPr>
        <p:spPr>
          <a:xfrm>
            <a:off x="6807200" y="51435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>
                <a:solidFill>
                  <a:srgbClr val="1A223C"/>
                </a:solidFill>
                <a:latin typeface="Aptos" panose="020B0004020202020204" pitchFamily="34" charset="0"/>
              </a:rPr>
              <a:t>Turn missing skills into actions</a:t>
            </a:r>
            <a:endParaRPr lang="en-IN" sz="1700" b="1">
              <a:solidFill>
                <a:srgbClr val="1A223C"/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24A25B-BBE8-A058-0821-4F946AAA0F29}"/>
              </a:ext>
            </a:extLst>
          </p:cNvPr>
          <p:cNvSpPr txBox="1"/>
          <p:nvPr/>
        </p:nvSpPr>
        <p:spPr>
          <a:xfrm>
            <a:off x="609600" y="60198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5D6C8E"/>
                </a:solidFill>
                <a:latin typeface="Aptos" panose="020B0004020202020204" pitchFamily="34" charset="0"/>
              </a:rPr>
              <a:t>Why it matters: job seekers receive a plan they can use immediately.</a:t>
            </a:r>
            <a:endParaRPr lang="en-IN" sz="14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7BCA13-28CC-9B44-2BE5-2239B3C92EAA}"/>
              </a:ext>
            </a:extLst>
          </p:cNvPr>
          <p:cNvSpPr txBox="1"/>
          <p:nvPr/>
        </p:nvSpPr>
        <p:spPr>
          <a:xfrm>
            <a:off x="609600" y="65532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900">
                <a:solidFill>
                  <a:srgbClr val="5D6C8E"/>
                </a:solidFill>
                <a:latin typeface="Aptos" panose="020B0004020202020204" pitchFamily="34" charset="0"/>
              </a:rPr>
              <a:t>MSE-1 | KIET MCA | Personalized Career Mentor AI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1F27522-67E8-EA39-C617-938B60709A53}"/>
              </a:ext>
            </a:extLst>
          </p:cNvPr>
          <p:cNvSpPr txBox="1"/>
          <p:nvPr/>
        </p:nvSpPr>
        <p:spPr>
          <a:xfrm>
            <a:off x="11303000" y="6553200"/>
            <a:ext cx="279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900" b="1">
                <a:solidFill>
                  <a:srgbClr val="5D6C8E"/>
                </a:solidFill>
                <a:latin typeface="Aptos" panose="020B0004020202020204" pitchFamily="34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74274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880089-FD79-378C-000F-EF00DBEDCBF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824D438-DEEC-98F2-44F1-B370B9585A88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5B43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C5295D-DB60-DA9D-1881-F54F657972B8}"/>
              </a:ext>
            </a:extLst>
          </p:cNvPr>
          <p:cNvSpPr txBox="1"/>
          <p:nvPr/>
        </p:nvSpPr>
        <p:spPr>
          <a:xfrm>
            <a:off x="609600" y="330200"/>
            <a:ext cx="3302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METRIC 2 | PROBLEM STATEMENT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94F1A4-A636-91D8-0946-DBEC789E15A2}"/>
              </a:ext>
            </a:extLst>
          </p:cNvPr>
          <p:cNvSpPr txBox="1"/>
          <p:nvPr/>
        </p:nvSpPr>
        <p:spPr>
          <a:xfrm>
            <a:off x="609600" y="635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3000" b="1">
                <a:solidFill>
                  <a:srgbClr val="0F1734"/>
                </a:solidFill>
                <a:latin typeface="Aptos" panose="020B0004020202020204" pitchFamily="34" charset="0"/>
              </a:rPr>
              <a:t>Problem definition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70A038-4977-1CAD-710E-89968FD27A2D}"/>
              </a:ext>
            </a:extLst>
          </p:cNvPr>
          <p:cNvSpPr txBox="1"/>
          <p:nvPr/>
        </p:nvSpPr>
        <p:spPr>
          <a:xfrm>
            <a:off x="609600" y="12192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D6C8E"/>
                </a:solidFill>
                <a:latin typeface="Aptos" panose="020B0004020202020204" pitchFamily="34" charset="0"/>
              </a:rPr>
              <a:t>A precise problem statement anchors the product around one decision: fit for this role.</a:t>
            </a:r>
            <a:endParaRPr lang="en-IN" sz="15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AC94F14-FF8A-CE9E-4FBC-C83F61336DAA}"/>
              </a:ext>
            </a:extLst>
          </p:cNvPr>
          <p:cNvCxnSpPr/>
          <p:nvPr/>
        </p:nvCxnSpPr>
        <p:spPr>
          <a:xfrm>
            <a:off x="609600" y="1625600"/>
            <a:ext cx="10972800" cy="0"/>
          </a:xfrm>
          <a:prstGeom prst="line">
            <a:avLst/>
          </a:prstGeom>
          <a:ln w="12700">
            <a:solidFill>
              <a:srgbClr val="D7E0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224B026-6BDC-C1E4-9B6A-47AE0D44DE6E}"/>
              </a:ext>
            </a:extLst>
          </p:cNvPr>
          <p:cNvSpPr/>
          <p:nvPr/>
        </p:nvSpPr>
        <p:spPr>
          <a:xfrm>
            <a:off x="10414000" y="330200"/>
            <a:ext cx="1168400" cy="304800"/>
          </a:xfrm>
          <a:prstGeom prst="roundRect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0C7E8D-9E73-74E2-BBB6-9FC6A016B899}"/>
              </a:ext>
            </a:extLst>
          </p:cNvPr>
          <p:cNvSpPr txBox="1"/>
          <p:nvPr/>
        </p:nvSpPr>
        <p:spPr>
          <a:xfrm>
            <a:off x="10541000" y="381000"/>
            <a:ext cx="914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METRIC 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FEA9D79-2B83-34F9-7386-1F201B07A65D}"/>
              </a:ext>
            </a:extLst>
          </p:cNvPr>
          <p:cNvSpPr/>
          <p:nvPr/>
        </p:nvSpPr>
        <p:spPr>
          <a:xfrm>
            <a:off x="609600" y="1955800"/>
            <a:ext cx="10972800" cy="1371600"/>
          </a:xfrm>
          <a:prstGeom prst="roundRect">
            <a:avLst/>
          </a:prstGeom>
          <a:solidFill>
            <a:srgbClr val="0F17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B5772E-686F-5837-C5EF-C49C665FBEBF}"/>
              </a:ext>
            </a:extLst>
          </p:cNvPr>
          <p:cNvSpPr txBox="1"/>
          <p:nvPr/>
        </p:nvSpPr>
        <p:spPr>
          <a:xfrm>
            <a:off x="965200" y="2260600"/>
            <a:ext cx="10312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Aptos" panose="020B0004020202020204" pitchFamily="34" charset="0"/>
              </a:rPr>
              <a:t>Job seekers often apply without knowing how closely their resume matches a specific job, which skills are missing, or what to improve before applying.</a:t>
            </a:r>
            <a:endParaRPr lang="en-IN" sz="24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5BC870F-A2B1-E70B-24B0-105FBB7AC955}"/>
              </a:ext>
            </a:extLst>
          </p:cNvPr>
          <p:cNvSpPr/>
          <p:nvPr/>
        </p:nvSpPr>
        <p:spPr>
          <a:xfrm>
            <a:off x="609600" y="3759200"/>
            <a:ext cx="2057400" cy="172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12C4A08-C2C7-4925-05E2-2E90C2BE965C}"/>
              </a:ext>
            </a:extLst>
          </p:cNvPr>
          <p:cNvSpPr/>
          <p:nvPr/>
        </p:nvSpPr>
        <p:spPr>
          <a:xfrm>
            <a:off x="812800" y="3987800"/>
            <a:ext cx="787400" cy="304800"/>
          </a:xfrm>
          <a:prstGeom prst="roundRect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18233C-9667-B37B-1F42-15CEA2A03A73}"/>
              </a:ext>
            </a:extLst>
          </p:cNvPr>
          <p:cNvSpPr txBox="1"/>
          <p:nvPr/>
        </p:nvSpPr>
        <p:spPr>
          <a:xfrm>
            <a:off x="939800" y="4038600"/>
            <a:ext cx="533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WHO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B970B-C28C-8E9F-73E9-67F7A3299019}"/>
              </a:ext>
            </a:extLst>
          </p:cNvPr>
          <p:cNvSpPr txBox="1"/>
          <p:nvPr/>
        </p:nvSpPr>
        <p:spPr>
          <a:xfrm>
            <a:off x="812800" y="4445000"/>
            <a:ext cx="1651000" cy="120032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A223C"/>
                </a:solidFill>
                <a:latin typeface="Aptos" panose="020B0004020202020204" pitchFamily="34" charset="0"/>
              </a:rPr>
              <a:t>Students, freshers, working professionals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E82F57D-F15D-7D96-65CB-99AF46905C47}"/>
              </a:ext>
            </a:extLst>
          </p:cNvPr>
          <p:cNvSpPr/>
          <p:nvPr/>
        </p:nvSpPr>
        <p:spPr>
          <a:xfrm>
            <a:off x="2844800" y="3759200"/>
            <a:ext cx="2057400" cy="172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A7831E8-D2A9-E66A-5AE6-4D67FB193704}"/>
              </a:ext>
            </a:extLst>
          </p:cNvPr>
          <p:cNvSpPr/>
          <p:nvPr/>
        </p:nvSpPr>
        <p:spPr>
          <a:xfrm>
            <a:off x="3048000" y="3987800"/>
            <a:ext cx="787400" cy="304800"/>
          </a:xfrm>
          <a:prstGeom prst="roundRect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C3EB34-DAEB-B4F0-0074-F4FF13B1B86D}"/>
              </a:ext>
            </a:extLst>
          </p:cNvPr>
          <p:cNvSpPr txBox="1"/>
          <p:nvPr/>
        </p:nvSpPr>
        <p:spPr>
          <a:xfrm>
            <a:off x="3175000" y="4038600"/>
            <a:ext cx="533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268EDA"/>
                </a:solidFill>
                <a:latin typeface="Aptos" panose="020B0004020202020204" pitchFamily="34" charset="0"/>
              </a:rPr>
              <a:t>WHAT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17305A-DA0A-D01E-A9A8-960780C8C20A}"/>
              </a:ext>
            </a:extLst>
          </p:cNvPr>
          <p:cNvSpPr txBox="1"/>
          <p:nvPr/>
        </p:nvSpPr>
        <p:spPr>
          <a:xfrm>
            <a:off x="3048000" y="4445000"/>
            <a:ext cx="1651000" cy="120032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1A223C"/>
                </a:solidFill>
                <a:latin typeface="Aptos" panose="020B0004020202020204" pitchFamily="34" charset="0"/>
              </a:rPr>
              <a:t>Resume and job description do not line up clearly</a:t>
            </a:r>
            <a:endParaRPr lang="en-IN" sz="1500" b="1">
              <a:solidFill>
                <a:srgbClr val="1A223C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C254972-0D95-825C-9EDC-71C182EE338F}"/>
              </a:ext>
            </a:extLst>
          </p:cNvPr>
          <p:cNvSpPr/>
          <p:nvPr/>
        </p:nvSpPr>
        <p:spPr>
          <a:xfrm>
            <a:off x="5080000" y="3759200"/>
            <a:ext cx="2057400" cy="172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5BCACE2-C873-FA3C-5FF4-D018092489AA}"/>
              </a:ext>
            </a:extLst>
          </p:cNvPr>
          <p:cNvSpPr/>
          <p:nvPr/>
        </p:nvSpPr>
        <p:spPr>
          <a:xfrm>
            <a:off x="5283200" y="3987800"/>
            <a:ext cx="787400" cy="304800"/>
          </a:xfrm>
          <a:prstGeom prst="roundRect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8BD156-7B70-17F2-BC60-85AC3FAA2B00}"/>
              </a:ext>
            </a:extLst>
          </p:cNvPr>
          <p:cNvSpPr txBox="1"/>
          <p:nvPr/>
        </p:nvSpPr>
        <p:spPr>
          <a:xfrm>
            <a:off x="5410200" y="4038600"/>
            <a:ext cx="533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15B9DC"/>
                </a:solidFill>
                <a:latin typeface="Aptos" panose="020B0004020202020204" pitchFamily="34" charset="0"/>
              </a:rPr>
              <a:t>WHERE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1BC1B0-AD01-8504-CC35-E9A9C76519A6}"/>
              </a:ext>
            </a:extLst>
          </p:cNvPr>
          <p:cNvSpPr txBox="1"/>
          <p:nvPr/>
        </p:nvSpPr>
        <p:spPr>
          <a:xfrm>
            <a:off x="5283200" y="4445000"/>
            <a:ext cx="1651000" cy="147732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1A223C"/>
                </a:solidFill>
                <a:latin typeface="Aptos" panose="020B0004020202020204" pitchFamily="34" charset="0"/>
              </a:rPr>
              <a:t>Web applications and fast-moving job boards</a:t>
            </a:r>
            <a:endParaRPr lang="en-IN" sz="1500" b="1">
              <a:solidFill>
                <a:srgbClr val="1A223C"/>
              </a:solidFill>
              <a:latin typeface="Aptos" panose="020B00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5DEA1A2-1590-2D88-CD0B-8C8E1930088C}"/>
              </a:ext>
            </a:extLst>
          </p:cNvPr>
          <p:cNvSpPr/>
          <p:nvPr/>
        </p:nvSpPr>
        <p:spPr>
          <a:xfrm>
            <a:off x="7315200" y="3759200"/>
            <a:ext cx="2057400" cy="172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4EBB3E0-0599-6F93-A963-5B59BE2B2EA4}"/>
              </a:ext>
            </a:extLst>
          </p:cNvPr>
          <p:cNvSpPr/>
          <p:nvPr/>
        </p:nvSpPr>
        <p:spPr>
          <a:xfrm>
            <a:off x="7518400" y="3987800"/>
            <a:ext cx="787400" cy="304800"/>
          </a:xfrm>
          <a:prstGeom prst="roundRect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478707-035E-CCD2-0126-E2A72D40FDAE}"/>
              </a:ext>
            </a:extLst>
          </p:cNvPr>
          <p:cNvSpPr txBox="1"/>
          <p:nvPr/>
        </p:nvSpPr>
        <p:spPr>
          <a:xfrm>
            <a:off x="7645400" y="4038600"/>
            <a:ext cx="533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21C294"/>
                </a:solidFill>
                <a:latin typeface="Aptos" panose="020B0004020202020204" pitchFamily="34" charset="0"/>
              </a:rPr>
              <a:t>WHEN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81C025-342C-3129-4B9A-E413975E1625}"/>
              </a:ext>
            </a:extLst>
          </p:cNvPr>
          <p:cNvSpPr txBox="1"/>
          <p:nvPr/>
        </p:nvSpPr>
        <p:spPr>
          <a:xfrm>
            <a:off x="7518400" y="4445000"/>
            <a:ext cx="1651000" cy="120032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1A223C"/>
                </a:solidFill>
                <a:latin typeface="Aptos" panose="020B0004020202020204" pitchFamily="34" charset="0"/>
              </a:rPr>
              <a:t>Before applying or preparing for an interview</a:t>
            </a:r>
            <a:endParaRPr lang="en-IN" sz="1500" b="1">
              <a:solidFill>
                <a:srgbClr val="1A223C"/>
              </a:solidFill>
              <a:latin typeface="Aptos" panose="020B000402020202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50C3379-25D2-CE40-0383-02D150D8AE5F}"/>
              </a:ext>
            </a:extLst>
          </p:cNvPr>
          <p:cNvSpPr/>
          <p:nvPr/>
        </p:nvSpPr>
        <p:spPr>
          <a:xfrm>
            <a:off x="9550400" y="3759200"/>
            <a:ext cx="2057400" cy="172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9AD4D73-ED78-A948-D1A3-EC29C2667E1A}"/>
              </a:ext>
            </a:extLst>
          </p:cNvPr>
          <p:cNvSpPr/>
          <p:nvPr/>
        </p:nvSpPr>
        <p:spPr>
          <a:xfrm>
            <a:off x="9753600" y="3987800"/>
            <a:ext cx="787400" cy="304800"/>
          </a:xfrm>
          <a:prstGeom prst="roundRect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128C39-313C-45AD-B293-61AD266ADB71}"/>
              </a:ext>
            </a:extLst>
          </p:cNvPr>
          <p:cNvSpPr txBox="1"/>
          <p:nvPr/>
        </p:nvSpPr>
        <p:spPr>
          <a:xfrm>
            <a:off x="9880600" y="4038600"/>
            <a:ext cx="533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F469A6"/>
                </a:solidFill>
                <a:latin typeface="Aptos" panose="020B0004020202020204" pitchFamily="34" charset="0"/>
              </a:rPr>
              <a:t>WHY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B36AA25-FBA0-8865-B980-3A084E9BCA87}"/>
              </a:ext>
            </a:extLst>
          </p:cNvPr>
          <p:cNvSpPr txBox="1"/>
          <p:nvPr/>
        </p:nvSpPr>
        <p:spPr>
          <a:xfrm>
            <a:off x="9753600" y="4445000"/>
            <a:ext cx="1651000" cy="120032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1A223C"/>
                </a:solidFill>
                <a:latin typeface="Aptos" panose="020B0004020202020204" pitchFamily="34" charset="0"/>
              </a:rPr>
              <a:t>Manual comparison is slow and easy to miss</a:t>
            </a:r>
            <a:endParaRPr lang="en-IN" sz="1500" b="1">
              <a:solidFill>
                <a:srgbClr val="1A223C"/>
              </a:solidFill>
              <a:latin typeface="Aptos" panose="020B00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A53D73D-79D4-67EF-46D8-8FC08D4C716C}"/>
              </a:ext>
            </a:extLst>
          </p:cNvPr>
          <p:cNvSpPr txBox="1"/>
          <p:nvPr/>
        </p:nvSpPr>
        <p:spPr>
          <a:xfrm>
            <a:off x="609600" y="5816600"/>
            <a:ext cx="1778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200" b="1">
                <a:solidFill>
                  <a:srgbClr val="5B43F2"/>
                </a:solidFill>
                <a:latin typeface="Aptos" panose="020B0004020202020204" pitchFamily="34" charset="0"/>
              </a:rPr>
              <a:t>Product response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534B58F-607C-43D4-6B40-33D1062D7302}"/>
              </a:ext>
            </a:extLst>
          </p:cNvPr>
          <p:cNvSpPr txBox="1"/>
          <p:nvPr/>
        </p:nvSpPr>
        <p:spPr>
          <a:xfrm>
            <a:off x="2311400" y="5765800"/>
            <a:ext cx="825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>
                <a:solidFill>
                  <a:srgbClr val="0F1734"/>
                </a:solidFill>
                <a:latin typeface="Aptos" panose="020B0004020202020204" pitchFamily="34" charset="0"/>
              </a:rPr>
              <a:t>Compare the inputs, explain the fit, and show what to do next.</a:t>
            </a:r>
            <a:endParaRPr lang="en-IN" sz="2000" b="1">
              <a:solidFill>
                <a:srgbClr val="0F1734"/>
              </a:solidFill>
              <a:latin typeface="Aptos" panose="020B00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B6CCC4B-F3BF-4D93-9286-728A899ADAC2}"/>
              </a:ext>
            </a:extLst>
          </p:cNvPr>
          <p:cNvSpPr txBox="1"/>
          <p:nvPr/>
        </p:nvSpPr>
        <p:spPr>
          <a:xfrm>
            <a:off x="609600" y="65532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900">
                <a:solidFill>
                  <a:srgbClr val="5D6C8E"/>
                </a:solidFill>
                <a:latin typeface="Aptos" panose="020B0004020202020204" pitchFamily="34" charset="0"/>
              </a:rPr>
              <a:t>MSE-1 | KIET MCA | Personalized Career Mentor AI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1152327-3EC8-9B23-B7CE-AE17AE6ACFCE}"/>
              </a:ext>
            </a:extLst>
          </p:cNvPr>
          <p:cNvSpPr txBox="1"/>
          <p:nvPr/>
        </p:nvSpPr>
        <p:spPr>
          <a:xfrm>
            <a:off x="11303000" y="6553200"/>
            <a:ext cx="279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900" b="1">
                <a:solidFill>
                  <a:srgbClr val="5D6C8E"/>
                </a:solidFill>
                <a:latin typeface="Aptos" panose="020B000402020202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75733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2F5F66-28EC-B9AD-1A4A-C186EDE9223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E1CBC9B-9EF2-3D67-CAC5-67163F6DD741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5B43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78261B-E2C8-DC50-420F-DD1DBEE89864}"/>
              </a:ext>
            </a:extLst>
          </p:cNvPr>
          <p:cNvSpPr txBox="1"/>
          <p:nvPr/>
        </p:nvSpPr>
        <p:spPr>
          <a:xfrm>
            <a:off x="609600" y="330200"/>
            <a:ext cx="3302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METRIC 3 | BRAINSTORM &amp; PRIORITIZE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AA1D1E-0D92-57EE-167C-3DAF02A9F53E}"/>
              </a:ext>
            </a:extLst>
          </p:cNvPr>
          <p:cNvSpPr txBox="1"/>
          <p:nvPr/>
        </p:nvSpPr>
        <p:spPr>
          <a:xfrm>
            <a:off x="609600" y="635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3000" b="1">
                <a:solidFill>
                  <a:srgbClr val="0F1734"/>
                </a:solidFill>
                <a:latin typeface="Aptos" panose="020B0004020202020204" pitchFamily="34" charset="0"/>
              </a:rPr>
              <a:t>Ideation &amp; prioritization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180C2E-55EF-9167-B28E-62B0CCE06417}"/>
              </a:ext>
            </a:extLst>
          </p:cNvPr>
          <p:cNvSpPr txBox="1"/>
          <p:nvPr/>
        </p:nvSpPr>
        <p:spPr>
          <a:xfrm>
            <a:off x="609600" y="12192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D6C8E"/>
                </a:solidFill>
                <a:latin typeface="Aptos" panose="020B0004020202020204" pitchFamily="34" charset="0"/>
              </a:rPr>
              <a:t>The chosen concept wins because it is relevant, feasible to build, and immediately actionable.</a:t>
            </a:r>
            <a:endParaRPr lang="en-IN" sz="15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9339043-5213-5738-49BE-9F38972DEBEF}"/>
              </a:ext>
            </a:extLst>
          </p:cNvPr>
          <p:cNvCxnSpPr/>
          <p:nvPr/>
        </p:nvCxnSpPr>
        <p:spPr>
          <a:xfrm>
            <a:off x="609600" y="1625600"/>
            <a:ext cx="10972800" cy="0"/>
          </a:xfrm>
          <a:prstGeom prst="line">
            <a:avLst/>
          </a:prstGeom>
          <a:ln w="12700">
            <a:solidFill>
              <a:srgbClr val="D7E0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25D8C90-DE94-C25D-1746-60443309D509}"/>
              </a:ext>
            </a:extLst>
          </p:cNvPr>
          <p:cNvSpPr/>
          <p:nvPr/>
        </p:nvSpPr>
        <p:spPr>
          <a:xfrm>
            <a:off x="10414000" y="330200"/>
            <a:ext cx="1168400" cy="304800"/>
          </a:xfrm>
          <a:prstGeom prst="roundRect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840F03-DE13-6D9E-3961-13DC159DFF86}"/>
              </a:ext>
            </a:extLst>
          </p:cNvPr>
          <p:cNvSpPr txBox="1"/>
          <p:nvPr/>
        </p:nvSpPr>
        <p:spPr>
          <a:xfrm>
            <a:off x="10541000" y="381000"/>
            <a:ext cx="914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METRIC 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0D1D22-35C1-5ABE-6F67-1B986944BFAF}"/>
              </a:ext>
            </a:extLst>
          </p:cNvPr>
          <p:cNvSpPr txBox="1"/>
          <p:nvPr/>
        </p:nvSpPr>
        <p:spPr>
          <a:xfrm>
            <a:off x="990600" y="19812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200" b="1">
                <a:solidFill>
                  <a:srgbClr val="5D6C8E"/>
                </a:solidFill>
                <a:latin typeface="Aptos" panose="020B0004020202020204" pitchFamily="34" charset="0"/>
              </a:rPr>
              <a:t>Impact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DFA058-41BC-E9D1-38D2-369AB9A45DFF}"/>
              </a:ext>
            </a:extLst>
          </p:cNvPr>
          <p:cNvSpPr txBox="1"/>
          <p:nvPr/>
        </p:nvSpPr>
        <p:spPr>
          <a:xfrm>
            <a:off x="990600" y="5384800"/>
            <a:ext cx="2540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200" b="1">
                <a:solidFill>
                  <a:srgbClr val="5D6C8E"/>
                </a:solidFill>
                <a:latin typeface="Aptos" panose="020B0004020202020204" pitchFamily="34" charset="0"/>
              </a:rPr>
              <a:t>Low effort  →  High effort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99E1E62-30C7-BD7F-BDE2-1FADAF1EF9A0}"/>
              </a:ext>
            </a:extLst>
          </p:cNvPr>
          <p:cNvCxnSpPr/>
          <p:nvPr/>
        </p:nvCxnSpPr>
        <p:spPr>
          <a:xfrm>
            <a:off x="1397000" y="2438400"/>
            <a:ext cx="0" cy="2641600"/>
          </a:xfrm>
          <a:prstGeom prst="line">
            <a:avLst/>
          </a:prstGeom>
          <a:ln w="19050">
            <a:solidFill>
              <a:srgbClr val="D7E0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958B199-B4A7-3A11-F984-5D4E1C23331A}"/>
              </a:ext>
            </a:extLst>
          </p:cNvPr>
          <p:cNvCxnSpPr/>
          <p:nvPr/>
        </p:nvCxnSpPr>
        <p:spPr>
          <a:xfrm>
            <a:off x="1397000" y="5080000"/>
            <a:ext cx="3886200" cy="0"/>
          </a:xfrm>
          <a:prstGeom prst="line">
            <a:avLst/>
          </a:prstGeom>
          <a:ln w="19050">
            <a:solidFill>
              <a:srgbClr val="D7E0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00F6E59-2381-4169-1763-7D4C071DFAB6}"/>
              </a:ext>
            </a:extLst>
          </p:cNvPr>
          <p:cNvSpPr txBox="1"/>
          <p:nvPr/>
        </p:nvSpPr>
        <p:spPr>
          <a:xfrm>
            <a:off x="914400" y="2590800"/>
            <a:ext cx="508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200" b="1">
                <a:solidFill>
                  <a:srgbClr val="5D6C8E"/>
                </a:solidFill>
                <a:latin typeface="Aptos" panose="020B0004020202020204" pitchFamily="34" charset="0"/>
              </a:rPr>
              <a:t>High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6681C1-0141-A588-0A44-2A5C231462EB}"/>
              </a:ext>
            </a:extLst>
          </p:cNvPr>
          <p:cNvSpPr txBox="1"/>
          <p:nvPr/>
        </p:nvSpPr>
        <p:spPr>
          <a:xfrm>
            <a:off x="914400" y="4851400"/>
            <a:ext cx="508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200" b="1">
                <a:solidFill>
                  <a:srgbClr val="5D6C8E"/>
                </a:solidFill>
                <a:latin typeface="Aptos" panose="020B0004020202020204" pitchFamily="34" charset="0"/>
              </a:rPr>
              <a:t>Low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90CBF47-4EAF-F519-BF79-416B05EFE2FB}"/>
              </a:ext>
            </a:extLst>
          </p:cNvPr>
          <p:cNvSpPr/>
          <p:nvPr/>
        </p:nvSpPr>
        <p:spPr>
          <a:xfrm>
            <a:off x="1955800" y="2997200"/>
            <a:ext cx="2209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AC0922-2522-6488-3B21-6ACD63DB680F}"/>
              </a:ext>
            </a:extLst>
          </p:cNvPr>
          <p:cNvSpPr txBox="1"/>
          <p:nvPr/>
        </p:nvSpPr>
        <p:spPr>
          <a:xfrm>
            <a:off x="2159000" y="3225800"/>
            <a:ext cx="1803400" cy="92333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700" b="1">
                <a:solidFill>
                  <a:srgbClr val="1A223C"/>
                </a:solidFill>
                <a:latin typeface="Aptos" panose="020B0004020202020204" pitchFamily="34" charset="0"/>
              </a:rPr>
              <a:t>Generic resume\nchecker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E3BDCA0-B2EA-8A18-5BC1-EF039784BDDF}"/>
              </a:ext>
            </a:extLst>
          </p:cNvPr>
          <p:cNvSpPr/>
          <p:nvPr/>
        </p:nvSpPr>
        <p:spPr>
          <a:xfrm>
            <a:off x="1955800" y="4165600"/>
            <a:ext cx="2209800" cy="914400"/>
          </a:xfrm>
          <a:prstGeom prst="roundRect">
            <a:avLst/>
          </a:prstGeom>
          <a:solidFill>
            <a:srgbClr val="F2EEFF"/>
          </a:solidFill>
          <a:ln w="12700">
            <a:solidFill>
              <a:srgbClr val="5B43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64B3D7-3C69-F92D-9561-EC36BB13557C}"/>
              </a:ext>
            </a:extLst>
          </p:cNvPr>
          <p:cNvSpPr txBox="1"/>
          <p:nvPr/>
        </p:nvSpPr>
        <p:spPr>
          <a:xfrm>
            <a:off x="2159000" y="4394200"/>
            <a:ext cx="1803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b="1">
                <a:solidFill>
                  <a:srgbClr val="5B43F2"/>
                </a:solidFill>
                <a:latin typeface="Aptos" panose="020B0004020202020204" pitchFamily="34" charset="0"/>
              </a:rPr>
              <a:t>Resume + job\nmatcher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AC787E3-632D-F541-CC10-312156FD2E76}"/>
              </a:ext>
            </a:extLst>
          </p:cNvPr>
          <p:cNvSpPr/>
          <p:nvPr/>
        </p:nvSpPr>
        <p:spPr>
          <a:xfrm>
            <a:off x="4495800" y="2362200"/>
            <a:ext cx="2209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EA281D-7701-CD60-0A06-8E958C7CBA11}"/>
              </a:ext>
            </a:extLst>
          </p:cNvPr>
          <p:cNvSpPr txBox="1"/>
          <p:nvPr/>
        </p:nvSpPr>
        <p:spPr>
          <a:xfrm>
            <a:off x="4699000" y="2590800"/>
            <a:ext cx="1803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700" b="1">
                <a:solidFill>
                  <a:srgbClr val="1A223C"/>
                </a:solidFill>
                <a:latin typeface="Aptos" panose="020B0004020202020204" pitchFamily="34" charset="0"/>
              </a:rPr>
              <a:t>Course\nrecommender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FE87C0C-B9A6-0BAC-FE93-0EDCDAEBF17B}"/>
              </a:ext>
            </a:extLst>
          </p:cNvPr>
          <p:cNvSpPr/>
          <p:nvPr/>
        </p:nvSpPr>
        <p:spPr>
          <a:xfrm>
            <a:off x="4495800" y="3733800"/>
            <a:ext cx="2209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7A9E7C-1963-8933-F9D3-E680D65B89CF}"/>
              </a:ext>
            </a:extLst>
          </p:cNvPr>
          <p:cNvSpPr txBox="1"/>
          <p:nvPr/>
        </p:nvSpPr>
        <p:spPr>
          <a:xfrm>
            <a:off x="4699000" y="3962400"/>
            <a:ext cx="1803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700" b="1">
                <a:solidFill>
                  <a:srgbClr val="1A223C"/>
                </a:solidFill>
                <a:latin typeface="Aptos" panose="020B0004020202020204" pitchFamily="34" charset="0"/>
              </a:rPr>
              <a:t>LinkedIn\nassistant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16B442-E6A4-E7E7-3BBA-7F446D00464C}"/>
              </a:ext>
            </a:extLst>
          </p:cNvPr>
          <p:cNvSpPr txBox="1"/>
          <p:nvPr/>
        </p:nvSpPr>
        <p:spPr>
          <a:xfrm>
            <a:off x="7391400" y="20066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100" b="1">
                <a:solidFill>
                  <a:srgbClr val="0F1734"/>
                </a:solidFill>
                <a:latin typeface="Aptos" panose="020B0004020202020204" pitchFamily="34" charset="0"/>
              </a:rPr>
              <a:t>Prioritization lens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B4B2958-321B-2ED0-D450-67F676B2477E}"/>
              </a:ext>
            </a:extLst>
          </p:cNvPr>
          <p:cNvSpPr/>
          <p:nvPr/>
        </p:nvSpPr>
        <p:spPr>
          <a:xfrm>
            <a:off x="7391400" y="2590800"/>
            <a:ext cx="355600" cy="355600"/>
          </a:xfrm>
          <a:prstGeom prst="ellipse">
            <a:avLst/>
          </a:prstGeom>
          <a:solidFill>
            <a:srgbClr val="E9F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E29C3A-7637-46B0-3E4B-A4B3F6F9329B}"/>
              </a:ext>
            </a:extLst>
          </p:cNvPr>
          <p:cNvSpPr txBox="1"/>
          <p:nvPr/>
        </p:nvSpPr>
        <p:spPr>
          <a:xfrm>
            <a:off x="7467600" y="2679700"/>
            <a:ext cx="2032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000" b="1">
                <a:solidFill>
                  <a:srgbClr val="268EDA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C8BFDB-87AD-D0C0-501A-897C3D088FF3}"/>
              </a:ext>
            </a:extLst>
          </p:cNvPr>
          <p:cNvSpPr txBox="1"/>
          <p:nvPr/>
        </p:nvSpPr>
        <p:spPr>
          <a:xfrm>
            <a:off x="7950200" y="2616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700" b="1">
                <a:solidFill>
                  <a:srgbClr val="1A223C"/>
                </a:solidFill>
                <a:latin typeface="Aptos" panose="020B0004020202020204" pitchFamily="34" charset="0"/>
              </a:rPr>
              <a:t>Role relevance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C7D10B1-D892-2362-2CC9-B783B1949A8B}"/>
              </a:ext>
            </a:extLst>
          </p:cNvPr>
          <p:cNvSpPr/>
          <p:nvPr/>
        </p:nvSpPr>
        <p:spPr>
          <a:xfrm>
            <a:off x="7391400" y="3251200"/>
            <a:ext cx="355600" cy="355600"/>
          </a:xfrm>
          <a:prstGeom prst="ellipse">
            <a:avLst/>
          </a:prstGeom>
          <a:solidFill>
            <a:srgbClr val="E9F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FCD0B1-6D9C-925B-BE4D-85E950C80BE7}"/>
              </a:ext>
            </a:extLst>
          </p:cNvPr>
          <p:cNvSpPr txBox="1"/>
          <p:nvPr/>
        </p:nvSpPr>
        <p:spPr>
          <a:xfrm>
            <a:off x="7467600" y="3340100"/>
            <a:ext cx="2032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000" b="1">
                <a:solidFill>
                  <a:srgbClr val="268EDA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7AE9556-FE6A-EEEB-D94D-E8982BD9CF5A}"/>
              </a:ext>
            </a:extLst>
          </p:cNvPr>
          <p:cNvSpPr txBox="1"/>
          <p:nvPr/>
        </p:nvSpPr>
        <p:spPr>
          <a:xfrm>
            <a:off x="7950200" y="32766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700" b="1">
                <a:solidFill>
                  <a:srgbClr val="1A223C"/>
                </a:solidFill>
                <a:latin typeface="Aptos" panose="020B0004020202020204" pitchFamily="34" charset="0"/>
              </a:rPr>
              <a:t>Buildability with current stack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EB233BE-E0B0-BF40-B032-476A0B4E8E54}"/>
              </a:ext>
            </a:extLst>
          </p:cNvPr>
          <p:cNvSpPr/>
          <p:nvPr/>
        </p:nvSpPr>
        <p:spPr>
          <a:xfrm>
            <a:off x="7391400" y="3911600"/>
            <a:ext cx="355600" cy="355600"/>
          </a:xfrm>
          <a:prstGeom prst="ellipse">
            <a:avLst/>
          </a:prstGeom>
          <a:solidFill>
            <a:srgbClr val="E9F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CE5FD15-7713-7009-3A64-DFECE93384AA}"/>
              </a:ext>
            </a:extLst>
          </p:cNvPr>
          <p:cNvSpPr txBox="1"/>
          <p:nvPr/>
        </p:nvSpPr>
        <p:spPr>
          <a:xfrm>
            <a:off x="7467600" y="4000500"/>
            <a:ext cx="2032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000" b="1">
                <a:solidFill>
                  <a:srgbClr val="268EDA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F6EB543-B162-9047-F57A-5F9417ED8022}"/>
              </a:ext>
            </a:extLst>
          </p:cNvPr>
          <p:cNvSpPr txBox="1"/>
          <p:nvPr/>
        </p:nvSpPr>
        <p:spPr>
          <a:xfrm>
            <a:off x="7950200" y="39370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700" b="1">
                <a:solidFill>
                  <a:srgbClr val="1A223C"/>
                </a:solidFill>
                <a:latin typeface="Aptos" panose="020B0004020202020204" pitchFamily="34" charset="0"/>
              </a:rPr>
              <a:t>Actionable output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63A6CE3-672D-073C-1564-F83A3504682B}"/>
              </a:ext>
            </a:extLst>
          </p:cNvPr>
          <p:cNvSpPr/>
          <p:nvPr/>
        </p:nvSpPr>
        <p:spPr>
          <a:xfrm>
            <a:off x="7391400" y="4572000"/>
            <a:ext cx="355600" cy="355600"/>
          </a:xfrm>
          <a:prstGeom prst="ellipse">
            <a:avLst/>
          </a:prstGeom>
          <a:solidFill>
            <a:srgbClr val="E9F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147254-235E-BCC9-DD43-43FAF9F347A2}"/>
              </a:ext>
            </a:extLst>
          </p:cNvPr>
          <p:cNvSpPr txBox="1"/>
          <p:nvPr/>
        </p:nvSpPr>
        <p:spPr>
          <a:xfrm>
            <a:off x="7467600" y="4660900"/>
            <a:ext cx="2032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000" b="1">
                <a:solidFill>
                  <a:srgbClr val="268EDA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2F58C3-9A16-CE23-4A1C-29D84165E505}"/>
              </a:ext>
            </a:extLst>
          </p:cNvPr>
          <p:cNvSpPr txBox="1"/>
          <p:nvPr/>
        </p:nvSpPr>
        <p:spPr>
          <a:xfrm>
            <a:off x="7950200" y="45974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700" b="1">
                <a:solidFill>
                  <a:srgbClr val="1A223C"/>
                </a:solidFill>
                <a:latin typeface="Aptos" panose="020B0004020202020204" pitchFamily="34" charset="0"/>
              </a:rPr>
              <a:t>Privacy-aware workflow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3E276E6E-69FF-238C-9BD5-A77466C9E58F}"/>
              </a:ext>
            </a:extLst>
          </p:cNvPr>
          <p:cNvSpPr/>
          <p:nvPr/>
        </p:nvSpPr>
        <p:spPr>
          <a:xfrm>
            <a:off x="7391400" y="5257800"/>
            <a:ext cx="3810000" cy="635000"/>
          </a:xfrm>
          <a:prstGeom prst="roundRect">
            <a:avLst/>
          </a:prstGeom>
          <a:solidFill>
            <a:srgbClr val="0F17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95C0987-F40E-BD18-51AA-8EACA0586760}"/>
              </a:ext>
            </a:extLst>
          </p:cNvPr>
          <p:cNvSpPr txBox="1"/>
          <p:nvPr/>
        </p:nvSpPr>
        <p:spPr>
          <a:xfrm>
            <a:off x="7620000" y="5461000"/>
            <a:ext cx="33782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Selected concept: Personalized Career Mentor AI</a:t>
            </a:r>
            <a:endParaRPr lang="en-IN" sz="1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4A2F644-E4A3-5F9F-0AC2-413D55913A5B}"/>
              </a:ext>
            </a:extLst>
          </p:cNvPr>
          <p:cNvSpPr txBox="1"/>
          <p:nvPr/>
        </p:nvSpPr>
        <p:spPr>
          <a:xfrm>
            <a:off x="609600" y="65532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900">
                <a:solidFill>
                  <a:srgbClr val="5D6C8E"/>
                </a:solidFill>
                <a:latin typeface="Aptos" panose="020B0004020202020204" pitchFamily="34" charset="0"/>
              </a:rPr>
              <a:t>MSE-1 | KIET MCA | Personalized Career Mentor AI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EDB1441-8BF3-35E0-91B0-F7B3030E99CB}"/>
              </a:ext>
            </a:extLst>
          </p:cNvPr>
          <p:cNvSpPr txBox="1"/>
          <p:nvPr/>
        </p:nvSpPr>
        <p:spPr>
          <a:xfrm>
            <a:off x="11303000" y="6553200"/>
            <a:ext cx="279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900" b="1">
                <a:solidFill>
                  <a:srgbClr val="5D6C8E"/>
                </a:solidFill>
                <a:latin typeface="Aptos" panose="020B000402020202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52861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A6C983-C0C6-B3D7-276D-FC66386C09F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91A98B3-851E-A3BA-F74E-0F10E8A8CE46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5B43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855C1C-0549-6295-3326-5A33886A79B4}"/>
              </a:ext>
            </a:extLst>
          </p:cNvPr>
          <p:cNvSpPr txBox="1"/>
          <p:nvPr/>
        </p:nvSpPr>
        <p:spPr>
          <a:xfrm>
            <a:off x="609600" y="3302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METRIC 4 | CUSTOMER JOURNEY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E9F307-5E92-2777-C309-7049391EE562}"/>
              </a:ext>
            </a:extLst>
          </p:cNvPr>
          <p:cNvSpPr txBox="1"/>
          <p:nvPr/>
        </p:nvSpPr>
        <p:spPr>
          <a:xfrm>
            <a:off x="609600" y="635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3000" b="1">
                <a:solidFill>
                  <a:srgbClr val="0F1734"/>
                </a:solidFill>
                <a:latin typeface="Aptos" panose="020B0004020202020204" pitchFamily="34" charset="0"/>
              </a:rPr>
              <a:t>Customer journey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F45A5E-9AFB-02D7-D6EB-18FADD1592C1}"/>
              </a:ext>
            </a:extLst>
          </p:cNvPr>
          <p:cNvSpPr txBox="1"/>
          <p:nvPr/>
        </p:nvSpPr>
        <p:spPr>
          <a:xfrm>
            <a:off x="609600" y="12192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D6C8E"/>
                </a:solidFill>
                <a:latin typeface="Aptos" panose="020B0004020202020204" pitchFamily="34" charset="0"/>
              </a:rPr>
              <a:t>From a job posting to a focused improvement plan.</a:t>
            </a:r>
            <a:endParaRPr lang="en-IN" sz="15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90992F-10B0-7FE0-1739-08F11CB97660}"/>
              </a:ext>
            </a:extLst>
          </p:cNvPr>
          <p:cNvCxnSpPr/>
          <p:nvPr/>
        </p:nvCxnSpPr>
        <p:spPr>
          <a:xfrm>
            <a:off x="609600" y="1625600"/>
            <a:ext cx="10972800" cy="0"/>
          </a:xfrm>
          <a:prstGeom prst="line">
            <a:avLst/>
          </a:prstGeom>
          <a:ln w="12700">
            <a:solidFill>
              <a:srgbClr val="D7E0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487783C-BE8D-54ED-A7AA-CFE4A1E994D3}"/>
              </a:ext>
            </a:extLst>
          </p:cNvPr>
          <p:cNvSpPr/>
          <p:nvPr/>
        </p:nvSpPr>
        <p:spPr>
          <a:xfrm>
            <a:off x="10414000" y="330200"/>
            <a:ext cx="1168400" cy="304800"/>
          </a:xfrm>
          <a:prstGeom prst="roundRect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9A8D3D-BBC0-3A1F-70F0-6D34E2890978}"/>
              </a:ext>
            </a:extLst>
          </p:cNvPr>
          <p:cNvSpPr txBox="1"/>
          <p:nvPr/>
        </p:nvSpPr>
        <p:spPr>
          <a:xfrm>
            <a:off x="10541000" y="381000"/>
            <a:ext cx="914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METRIC 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E0356-0FC8-4F0F-5EC4-1EACAD64C5C4}"/>
              </a:ext>
            </a:extLst>
          </p:cNvPr>
          <p:cNvCxnSpPr/>
          <p:nvPr/>
        </p:nvCxnSpPr>
        <p:spPr>
          <a:xfrm>
            <a:off x="1955800" y="3149600"/>
            <a:ext cx="889000" cy="0"/>
          </a:xfrm>
          <a:prstGeom prst="line">
            <a:avLst/>
          </a:prstGeom>
          <a:ln w="25400">
            <a:solidFill>
              <a:srgbClr val="D7E0F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0FEA7417-30D7-F021-20E2-E718872ADEE6}"/>
              </a:ext>
            </a:extLst>
          </p:cNvPr>
          <p:cNvSpPr/>
          <p:nvPr/>
        </p:nvSpPr>
        <p:spPr>
          <a:xfrm>
            <a:off x="889000" y="2667000"/>
            <a:ext cx="965200" cy="965200"/>
          </a:xfrm>
          <a:prstGeom prst="ellipse">
            <a:avLst/>
          </a:prstGeom>
          <a:solidFill>
            <a:srgbClr val="5B43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09341C-9BA7-76C4-6734-31C0FA596F26}"/>
              </a:ext>
            </a:extLst>
          </p:cNvPr>
          <p:cNvSpPr txBox="1"/>
          <p:nvPr/>
        </p:nvSpPr>
        <p:spPr>
          <a:xfrm>
            <a:off x="1117600" y="29464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031578-8E3D-169B-E0CD-FE2E4471754B}"/>
              </a:ext>
            </a:extLst>
          </p:cNvPr>
          <p:cNvSpPr txBox="1"/>
          <p:nvPr/>
        </p:nvSpPr>
        <p:spPr>
          <a:xfrm>
            <a:off x="787400" y="38608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500" b="1">
                <a:solidFill>
                  <a:srgbClr val="0F1734"/>
                </a:solidFill>
                <a:latin typeface="Aptos" panose="020B0004020202020204" pitchFamily="34" charset="0"/>
              </a:rPr>
              <a:t>Find a role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EF007F-565C-AD47-8E7B-81BFB7EB735F}"/>
              </a:ext>
            </a:extLst>
          </p:cNvPr>
          <p:cNvSpPr txBox="1"/>
          <p:nvPr/>
        </p:nvSpPr>
        <p:spPr>
          <a:xfrm>
            <a:off x="660400" y="4292600"/>
            <a:ext cx="1422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>
                <a:solidFill>
                  <a:srgbClr val="5D6C8E"/>
                </a:solidFill>
                <a:latin typeface="Aptos" panose="020B0004020202020204" pitchFamily="34" charset="0"/>
              </a:rPr>
              <a:t>Open a target job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CC1280E-B0A5-51BE-FDCC-96367429530D}"/>
              </a:ext>
            </a:extLst>
          </p:cNvPr>
          <p:cNvCxnSpPr/>
          <p:nvPr/>
        </p:nvCxnSpPr>
        <p:spPr>
          <a:xfrm>
            <a:off x="3810000" y="3149600"/>
            <a:ext cx="889000" cy="0"/>
          </a:xfrm>
          <a:prstGeom prst="line">
            <a:avLst/>
          </a:prstGeom>
          <a:ln w="25400">
            <a:solidFill>
              <a:srgbClr val="D7E0F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C0D0E586-8D27-FDFC-B808-21045C6D664D}"/>
              </a:ext>
            </a:extLst>
          </p:cNvPr>
          <p:cNvSpPr/>
          <p:nvPr/>
        </p:nvSpPr>
        <p:spPr>
          <a:xfrm>
            <a:off x="2743200" y="2667000"/>
            <a:ext cx="965200" cy="965200"/>
          </a:xfrm>
          <a:prstGeom prst="ellipse">
            <a:avLst/>
          </a:prstGeom>
          <a:solidFill>
            <a:srgbClr val="268E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215257-0A06-722C-8B87-8CBF4199C18B}"/>
              </a:ext>
            </a:extLst>
          </p:cNvPr>
          <p:cNvSpPr txBox="1"/>
          <p:nvPr/>
        </p:nvSpPr>
        <p:spPr>
          <a:xfrm>
            <a:off x="2971800" y="29464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D52B73-C49B-5829-2EAD-AFB91CD9CB75}"/>
              </a:ext>
            </a:extLst>
          </p:cNvPr>
          <p:cNvSpPr txBox="1"/>
          <p:nvPr/>
        </p:nvSpPr>
        <p:spPr>
          <a:xfrm>
            <a:off x="2641600" y="3860800"/>
            <a:ext cx="1168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500" b="1">
                <a:solidFill>
                  <a:srgbClr val="0F1734"/>
                </a:solidFill>
                <a:latin typeface="Aptos" panose="020B0004020202020204" pitchFamily="34" charset="0"/>
              </a:rPr>
              <a:t>Provide inputs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B6612F-BF34-E896-85FC-86C198E7ADD6}"/>
              </a:ext>
            </a:extLst>
          </p:cNvPr>
          <p:cNvSpPr txBox="1"/>
          <p:nvPr/>
        </p:nvSpPr>
        <p:spPr>
          <a:xfrm>
            <a:off x="2514600" y="4292600"/>
            <a:ext cx="1422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300">
                <a:solidFill>
                  <a:srgbClr val="5D6C8E"/>
                </a:solidFill>
                <a:latin typeface="Aptos" panose="020B0004020202020204" pitchFamily="34" charset="0"/>
              </a:rPr>
              <a:t>Paste JD or upload PDF</a:t>
            </a:r>
            <a:endParaRPr lang="en-IN" sz="13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7153FC-16FA-C715-2E24-BA181FB7194D}"/>
              </a:ext>
            </a:extLst>
          </p:cNvPr>
          <p:cNvCxnSpPr/>
          <p:nvPr/>
        </p:nvCxnSpPr>
        <p:spPr>
          <a:xfrm>
            <a:off x="5664200" y="3149600"/>
            <a:ext cx="889000" cy="0"/>
          </a:xfrm>
          <a:prstGeom prst="line">
            <a:avLst/>
          </a:prstGeom>
          <a:ln w="25400">
            <a:solidFill>
              <a:srgbClr val="D7E0F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209B39A1-4735-938B-D034-910B1A3EE7CF}"/>
              </a:ext>
            </a:extLst>
          </p:cNvPr>
          <p:cNvSpPr/>
          <p:nvPr/>
        </p:nvSpPr>
        <p:spPr>
          <a:xfrm>
            <a:off x="4597400" y="2667000"/>
            <a:ext cx="965200" cy="965200"/>
          </a:xfrm>
          <a:prstGeom prst="ellipse">
            <a:avLst/>
          </a:prstGeom>
          <a:solidFill>
            <a:srgbClr val="15B9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DFF559-1DF2-607F-612C-3F858C135DF4}"/>
              </a:ext>
            </a:extLst>
          </p:cNvPr>
          <p:cNvSpPr txBox="1"/>
          <p:nvPr/>
        </p:nvSpPr>
        <p:spPr>
          <a:xfrm>
            <a:off x="4826000" y="29464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FFE88B-6C1C-32DA-FE0C-6BBEAB8D62E8}"/>
              </a:ext>
            </a:extLst>
          </p:cNvPr>
          <p:cNvSpPr txBox="1"/>
          <p:nvPr/>
        </p:nvSpPr>
        <p:spPr>
          <a:xfrm>
            <a:off x="4495800" y="3860800"/>
            <a:ext cx="1168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500" b="1">
                <a:solidFill>
                  <a:srgbClr val="0F1734"/>
                </a:solidFill>
                <a:latin typeface="Aptos" panose="020B0004020202020204" pitchFamily="34" charset="0"/>
              </a:rPr>
              <a:t>Run analysis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6D71CA-9422-C4EE-CC1E-4ADCFFDD84FB}"/>
              </a:ext>
            </a:extLst>
          </p:cNvPr>
          <p:cNvSpPr txBox="1"/>
          <p:nvPr/>
        </p:nvSpPr>
        <p:spPr>
          <a:xfrm>
            <a:off x="4368800" y="4292600"/>
            <a:ext cx="1422400" cy="92333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>
                <a:solidFill>
                  <a:srgbClr val="5D6C8E"/>
                </a:solidFill>
                <a:latin typeface="Aptos" panose="020B0004020202020204" pitchFamily="34" charset="0"/>
              </a:rPr>
              <a:t>Choose depth and model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54A2AD6-C94B-B47C-4895-272D625832D0}"/>
              </a:ext>
            </a:extLst>
          </p:cNvPr>
          <p:cNvCxnSpPr/>
          <p:nvPr/>
        </p:nvCxnSpPr>
        <p:spPr>
          <a:xfrm>
            <a:off x="7518400" y="3149600"/>
            <a:ext cx="889000" cy="0"/>
          </a:xfrm>
          <a:prstGeom prst="line">
            <a:avLst/>
          </a:prstGeom>
          <a:ln w="25400">
            <a:solidFill>
              <a:srgbClr val="D7E0F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F03A3AA6-C7BF-C3AD-697A-429AD6CC0AAA}"/>
              </a:ext>
            </a:extLst>
          </p:cNvPr>
          <p:cNvSpPr/>
          <p:nvPr/>
        </p:nvSpPr>
        <p:spPr>
          <a:xfrm>
            <a:off x="6451600" y="2667000"/>
            <a:ext cx="965200" cy="965200"/>
          </a:xfrm>
          <a:prstGeom prst="ellipse">
            <a:avLst/>
          </a:prstGeom>
          <a:solidFill>
            <a:srgbClr val="21C29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AB8CF8-2262-6F99-B2F0-AF1FB254C0E3}"/>
              </a:ext>
            </a:extLst>
          </p:cNvPr>
          <p:cNvSpPr txBox="1"/>
          <p:nvPr/>
        </p:nvSpPr>
        <p:spPr>
          <a:xfrm>
            <a:off x="6680200" y="29464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332CFF-57E2-2A8D-AFA3-4E0AF207D70D}"/>
              </a:ext>
            </a:extLst>
          </p:cNvPr>
          <p:cNvSpPr txBox="1"/>
          <p:nvPr/>
        </p:nvSpPr>
        <p:spPr>
          <a:xfrm>
            <a:off x="6350000" y="3860800"/>
            <a:ext cx="1168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500" b="1">
                <a:solidFill>
                  <a:srgbClr val="0F1734"/>
                </a:solidFill>
                <a:latin typeface="Aptos" panose="020B0004020202020204" pitchFamily="34" charset="0"/>
              </a:rPr>
              <a:t>Read the fit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3EB234-58FE-EAFD-E6ED-5C74157348A3}"/>
              </a:ext>
            </a:extLst>
          </p:cNvPr>
          <p:cNvSpPr txBox="1"/>
          <p:nvPr/>
        </p:nvSpPr>
        <p:spPr>
          <a:xfrm>
            <a:off x="6223000" y="4292600"/>
            <a:ext cx="1422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>
                <a:solidFill>
                  <a:srgbClr val="5D6C8E"/>
                </a:solidFill>
                <a:latin typeface="Aptos" panose="020B0004020202020204" pitchFamily="34" charset="0"/>
              </a:rPr>
              <a:t>Score and skill groups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4E7C5C5-E23E-B785-DA74-8C47097028C7}"/>
              </a:ext>
            </a:extLst>
          </p:cNvPr>
          <p:cNvCxnSpPr/>
          <p:nvPr/>
        </p:nvCxnSpPr>
        <p:spPr>
          <a:xfrm>
            <a:off x="9372600" y="3149600"/>
            <a:ext cx="889000" cy="0"/>
          </a:xfrm>
          <a:prstGeom prst="line">
            <a:avLst/>
          </a:prstGeom>
          <a:ln w="25400">
            <a:solidFill>
              <a:srgbClr val="D7E0F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212197FF-11ED-B998-4978-4D14AB75C97C}"/>
              </a:ext>
            </a:extLst>
          </p:cNvPr>
          <p:cNvSpPr/>
          <p:nvPr/>
        </p:nvSpPr>
        <p:spPr>
          <a:xfrm>
            <a:off x="8305800" y="2667000"/>
            <a:ext cx="965200" cy="965200"/>
          </a:xfrm>
          <a:prstGeom prst="ellipse">
            <a:avLst/>
          </a:prstGeom>
          <a:solidFill>
            <a:srgbClr val="EE8F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7BF3A6-8639-4534-F50F-D801BD1407FD}"/>
              </a:ext>
            </a:extLst>
          </p:cNvPr>
          <p:cNvSpPr txBox="1"/>
          <p:nvPr/>
        </p:nvSpPr>
        <p:spPr>
          <a:xfrm>
            <a:off x="8534400" y="29464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CA858D-10ED-F6AA-8DF2-F1A3F72D137F}"/>
              </a:ext>
            </a:extLst>
          </p:cNvPr>
          <p:cNvSpPr txBox="1"/>
          <p:nvPr/>
        </p:nvSpPr>
        <p:spPr>
          <a:xfrm>
            <a:off x="8204200" y="38608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500" b="1">
                <a:solidFill>
                  <a:srgbClr val="0F1734"/>
                </a:solidFill>
                <a:latin typeface="Aptos" panose="020B0004020202020204" pitchFamily="34" charset="0"/>
              </a:rPr>
              <a:t>Close gaps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5BFB60-853B-3C1D-1530-91FBF68B9814}"/>
              </a:ext>
            </a:extLst>
          </p:cNvPr>
          <p:cNvSpPr txBox="1"/>
          <p:nvPr/>
        </p:nvSpPr>
        <p:spPr>
          <a:xfrm>
            <a:off x="8077200" y="4292600"/>
            <a:ext cx="1422400" cy="92333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>
                <a:solidFill>
                  <a:srgbClr val="5D6C8E"/>
                </a:solidFill>
                <a:latin typeface="Aptos" panose="020B0004020202020204" pitchFamily="34" charset="0"/>
              </a:rPr>
              <a:t>Follow prioritized actions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C60C7EA-147E-5C5C-06EB-9BBF9D3C3C9F}"/>
              </a:ext>
            </a:extLst>
          </p:cNvPr>
          <p:cNvSpPr/>
          <p:nvPr/>
        </p:nvSpPr>
        <p:spPr>
          <a:xfrm>
            <a:off x="10160000" y="2667000"/>
            <a:ext cx="965200" cy="965200"/>
          </a:xfrm>
          <a:prstGeom prst="ellipse">
            <a:avLst/>
          </a:prstGeom>
          <a:solidFill>
            <a:srgbClr val="F469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45DE59C-6577-E196-B4A4-94AC0194F16D}"/>
              </a:ext>
            </a:extLst>
          </p:cNvPr>
          <p:cNvSpPr txBox="1"/>
          <p:nvPr/>
        </p:nvSpPr>
        <p:spPr>
          <a:xfrm>
            <a:off x="10388600" y="29464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5B0C9A-57BB-D8F7-73B2-8968CAA03990}"/>
              </a:ext>
            </a:extLst>
          </p:cNvPr>
          <p:cNvSpPr txBox="1"/>
          <p:nvPr/>
        </p:nvSpPr>
        <p:spPr>
          <a:xfrm>
            <a:off x="10058400" y="38608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500" b="1">
                <a:solidFill>
                  <a:srgbClr val="0F1734"/>
                </a:solidFill>
                <a:latin typeface="Aptos" panose="020B0004020202020204" pitchFamily="34" charset="0"/>
              </a:rPr>
              <a:t>Prepare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0CFF682-6CFA-28F1-3FA0-7C7A825DABB2}"/>
              </a:ext>
            </a:extLst>
          </p:cNvPr>
          <p:cNvSpPr txBox="1"/>
          <p:nvPr/>
        </p:nvSpPr>
        <p:spPr>
          <a:xfrm>
            <a:off x="9931400" y="4292600"/>
            <a:ext cx="1422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>
                <a:solidFill>
                  <a:srgbClr val="5D6C8E"/>
                </a:solidFill>
                <a:latin typeface="Aptos" panose="020B0004020202020204" pitchFamily="34" charset="0"/>
              </a:rPr>
              <a:t>Practice role questions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4716263-1449-20CF-EB4B-B80F43F28248}"/>
              </a:ext>
            </a:extLst>
          </p:cNvPr>
          <p:cNvSpPr/>
          <p:nvPr/>
        </p:nvSpPr>
        <p:spPr>
          <a:xfrm>
            <a:off x="1066800" y="5207000"/>
            <a:ext cx="100584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9CDFAB7-18ED-6715-B60D-D91AA391259C}"/>
              </a:ext>
            </a:extLst>
          </p:cNvPr>
          <p:cNvSpPr txBox="1"/>
          <p:nvPr/>
        </p:nvSpPr>
        <p:spPr>
          <a:xfrm>
            <a:off x="1371600" y="5461000"/>
            <a:ext cx="11176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200" b="1">
                <a:solidFill>
                  <a:srgbClr val="EC4968"/>
                </a:solidFill>
                <a:latin typeface="Aptos" panose="020B0004020202020204" pitchFamily="34" charset="0"/>
              </a:rPr>
              <a:t>Pain point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B93AEB7-D540-D2F1-AA43-ED57DE9C34B5}"/>
              </a:ext>
            </a:extLst>
          </p:cNvPr>
          <p:cNvSpPr txBox="1"/>
          <p:nvPr/>
        </p:nvSpPr>
        <p:spPr>
          <a:xfrm>
            <a:off x="2616200" y="5410200"/>
            <a:ext cx="787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>
                <a:solidFill>
                  <a:srgbClr val="0F1734"/>
                </a:solidFill>
                <a:latin typeface="Aptos" panose="020B0004020202020204" pitchFamily="34" charset="0"/>
              </a:rPr>
              <a:t>“I have a role in front of me, but I do not know what to fix first.”</a:t>
            </a:r>
            <a:endParaRPr lang="en-IN" sz="1900" b="1">
              <a:solidFill>
                <a:srgbClr val="0F1734"/>
              </a:solidFill>
              <a:latin typeface="Aptos" panose="020B00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7A8096-6478-74CF-0491-D15664F4955C}"/>
              </a:ext>
            </a:extLst>
          </p:cNvPr>
          <p:cNvSpPr txBox="1"/>
          <p:nvPr/>
        </p:nvSpPr>
        <p:spPr>
          <a:xfrm>
            <a:off x="1371600" y="6070600"/>
            <a:ext cx="939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5D6C8E"/>
                </a:solidFill>
                <a:latin typeface="Aptos" panose="020B0004020202020204" pitchFamily="34" charset="0"/>
              </a:rPr>
              <a:t>Product response: show the gap, rank the gap, and connect it to interview preparation.</a:t>
            </a:r>
            <a:endParaRPr lang="en-IN" sz="14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C7B859-FA92-86ED-DFCE-D39FCC63D9AF}"/>
              </a:ext>
            </a:extLst>
          </p:cNvPr>
          <p:cNvSpPr txBox="1"/>
          <p:nvPr/>
        </p:nvSpPr>
        <p:spPr>
          <a:xfrm>
            <a:off x="609600" y="65532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900">
                <a:solidFill>
                  <a:srgbClr val="5D6C8E"/>
                </a:solidFill>
                <a:latin typeface="Aptos" panose="020B0004020202020204" pitchFamily="34" charset="0"/>
              </a:rPr>
              <a:t>MSE-1 | KIET MCA | Personalized Career Mentor AI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B74598D-2DD9-79FD-6868-8D7A472640A5}"/>
              </a:ext>
            </a:extLst>
          </p:cNvPr>
          <p:cNvSpPr txBox="1"/>
          <p:nvPr/>
        </p:nvSpPr>
        <p:spPr>
          <a:xfrm>
            <a:off x="11303000" y="6553200"/>
            <a:ext cx="279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900" b="1">
                <a:solidFill>
                  <a:srgbClr val="5D6C8E"/>
                </a:solidFill>
                <a:latin typeface="Aptos" panose="020B0004020202020204" pitchFamily="34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465510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0DFD47-6C9B-3FA1-810B-A5891AF1040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B045620-8B03-BA0E-B791-4231DDF0080E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5B43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F07F56-6790-06B4-80D9-5C4ADFF55514}"/>
              </a:ext>
            </a:extLst>
          </p:cNvPr>
          <p:cNvSpPr txBox="1"/>
          <p:nvPr/>
        </p:nvSpPr>
        <p:spPr>
          <a:xfrm>
            <a:off x="609600" y="330200"/>
            <a:ext cx="3302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METRIC 5 | REQUIREMENT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208F9D-2515-5F62-6E22-DC961CB5F616}"/>
              </a:ext>
            </a:extLst>
          </p:cNvPr>
          <p:cNvSpPr txBox="1"/>
          <p:nvPr/>
        </p:nvSpPr>
        <p:spPr>
          <a:xfrm>
            <a:off x="609600" y="635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3000" b="1">
                <a:solidFill>
                  <a:srgbClr val="0F1734"/>
                </a:solidFill>
                <a:latin typeface="Aptos" panose="020B0004020202020204" pitchFamily="34" charset="0"/>
              </a:rPr>
              <a:t>System requirements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863D9A-5024-F477-BF7A-462B5A4D5314}"/>
              </a:ext>
            </a:extLst>
          </p:cNvPr>
          <p:cNvSpPr txBox="1"/>
          <p:nvPr/>
        </p:nvSpPr>
        <p:spPr>
          <a:xfrm>
            <a:off x="609600" y="12192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D6C8E"/>
                </a:solidFill>
                <a:latin typeface="Aptos" panose="020B0004020202020204" pitchFamily="34" charset="0"/>
              </a:rPr>
              <a:t>The product requirements describe what the system does and how it should behave.</a:t>
            </a:r>
            <a:endParaRPr lang="en-IN" sz="15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43B2405-0AA7-6A9E-53F9-94BFA132269A}"/>
              </a:ext>
            </a:extLst>
          </p:cNvPr>
          <p:cNvCxnSpPr/>
          <p:nvPr/>
        </p:nvCxnSpPr>
        <p:spPr>
          <a:xfrm>
            <a:off x="609600" y="1625600"/>
            <a:ext cx="10972800" cy="0"/>
          </a:xfrm>
          <a:prstGeom prst="line">
            <a:avLst/>
          </a:prstGeom>
          <a:ln w="12700">
            <a:solidFill>
              <a:srgbClr val="D7E0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1DD9220-B90A-F55B-BB9A-3F251BD5B526}"/>
              </a:ext>
            </a:extLst>
          </p:cNvPr>
          <p:cNvSpPr/>
          <p:nvPr/>
        </p:nvSpPr>
        <p:spPr>
          <a:xfrm>
            <a:off x="10414000" y="330200"/>
            <a:ext cx="1168400" cy="304800"/>
          </a:xfrm>
          <a:prstGeom prst="roundRect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4B4A66-6B82-FD3C-FE7B-0DD551475075}"/>
              </a:ext>
            </a:extLst>
          </p:cNvPr>
          <p:cNvSpPr txBox="1"/>
          <p:nvPr/>
        </p:nvSpPr>
        <p:spPr>
          <a:xfrm>
            <a:off x="10541000" y="381000"/>
            <a:ext cx="914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METRIC 5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57359E7-C385-B430-98B9-39876030463E}"/>
              </a:ext>
            </a:extLst>
          </p:cNvPr>
          <p:cNvSpPr/>
          <p:nvPr/>
        </p:nvSpPr>
        <p:spPr>
          <a:xfrm>
            <a:off x="609600" y="1955800"/>
            <a:ext cx="5232400" cy="40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FBDD30-D0B0-BD10-F78C-50FD59EBA2B2}"/>
              </a:ext>
            </a:extLst>
          </p:cNvPr>
          <p:cNvSpPr txBox="1"/>
          <p:nvPr/>
        </p:nvSpPr>
        <p:spPr>
          <a:xfrm>
            <a:off x="965200" y="2260600"/>
            <a:ext cx="419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300" b="1">
                <a:solidFill>
                  <a:srgbClr val="5B43F2"/>
                </a:solidFill>
                <a:latin typeface="Aptos" panose="020B0004020202020204" pitchFamily="34" charset="0"/>
              </a:rPr>
              <a:t>Functional requirements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1ED874D-ECCA-59CA-2D7A-AD82C873FBFF}"/>
              </a:ext>
            </a:extLst>
          </p:cNvPr>
          <p:cNvSpPr/>
          <p:nvPr/>
        </p:nvSpPr>
        <p:spPr>
          <a:xfrm>
            <a:off x="990600" y="2844800"/>
            <a:ext cx="304800" cy="304800"/>
          </a:xfrm>
          <a:prstGeom prst="ellipse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F67706-E934-4C3B-8810-E9A2CDA3B2C2}"/>
              </a:ext>
            </a:extLst>
          </p:cNvPr>
          <p:cNvSpPr txBox="1"/>
          <p:nvPr/>
        </p:nvSpPr>
        <p:spPr>
          <a:xfrm>
            <a:off x="1054100" y="2921000"/>
            <a:ext cx="177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00" b="1">
                <a:solidFill>
                  <a:srgbClr val="5B43F2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90C7E6-1771-C939-E6FC-22AF12CEA731}"/>
              </a:ext>
            </a:extLst>
          </p:cNvPr>
          <p:cNvSpPr txBox="1"/>
          <p:nvPr/>
        </p:nvSpPr>
        <p:spPr>
          <a:xfrm>
            <a:off x="1473200" y="2844800"/>
            <a:ext cx="3987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A223C"/>
                </a:solidFill>
                <a:latin typeface="Aptos" panose="020B0004020202020204" pitchFamily="34" charset="0"/>
              </a:rPr>
              <a:t>Accept pasted job description and resume text</a:t>
            </a:r>
            <a:endParaRPr lang="en-IN" sz="1400">
              <a:solidFill>
                <a:srgbClr val="1A223C"/>
              </a:solidFill>
              <a:latin typeface="Aptos" panose="020B0004020202020204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5ACA1D8-AA2E-6C44-8F6B-8F491AAC5C52}"/>
              </a:ext>
            </a:extLst>
          </p:cNvPr>
          <p:cNvSpPr/>
          <p:nvPr/>
        </p:nvSpPr>
        <p:spPr>
          <a:xfrm>
            <a:off x="990600" y="3479800"/>
            <a:ext cx="304800" cy="304800"/>
          </a:xfrm>
          <a:prstGeom prst="ellipse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AF4119-E7AA-0F98-0F63-EA2CA86F0BA7}"/>
              </a:ext>
            </a:extLst>
          </p:cNvPr>
          <p:cNvSpPr txBox="1"/>
          <p:nvPr/>
        </p:nvSpPr>
        <p:spPr>
          <a:xfrm>
            <a:off x="1054100" y="3556000"/>
            <a:ext cx="177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00" b="1">
                <a:solidFill>
                  <a:srgbClr val="5B43F2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8F2FEB-FB33-1D04-9BC4-DF803B91CCFC}"/>
              </a:ext>
            </a:extLst>
          </p:cNvPr>
          <p:cNvSpPr txBox="1"/>
          <p:nvPr/>
        </p:nvSpPr>
        <p:spPr>
          <a:xfrm>
            <a:off x="1473200" y="3479800"/>
            <a:ext cx="3987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A223C"/>
                </a:solidFill>
                <a:latin typeface="Aptos" panose="020B0004020202020204" pitchFamily="34" charset="0"/>
              </a:rPr>
              <a:t>Upload text-based PDF and extract readable text</a:t>
            </a:r>
            <a:endParaRPr lang="en-IN" sz="1400">
              <a:solidFill>
                <a:srgbClr val="1A223C"/>
              </a:solidFill>
              <a:latin typeface="Aptos" panose="020B0004020202020204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30FC47A-7F56-42B1-18EC-DC4A2EEE74D5}"/>
              </a:ext>
            </a:extLst>
          </p:cNvPr>
          <p:cNvSpPr/>
          <p:nvPr/>
        </p:nvSpPr>
        <p:spPr>
          <a:xfrm>
            <a:off x="990600" y="4114800"/>
            <a:ext cx="304800" cy="304800"/>
          </a:xfrm>
          <a:prstGeom prst="ellipse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B54619-76D3-9F8C-D6BF-E5356C500B7B}"/>
              </a:ext>
            </a:extLst>
          </p:cNvPr>
          <p:cNvSpPr txBox="1"/>
          <p:nvPr/>
        </p:nvSpPr>
        <p:spPr>
          <a:xfrm>
            <a:off x="1054100" y="4191000"/>
            <a:ext cx="177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00" b="1">
                <a:solidFill>
                  <a:srgbClr val="5B43F2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5F4F07-EC76-3BAC-155F-4837F162F8EC}"/>
              </a:ext>
            </a:extLst>
          </p:cNvPr>
          <p:cNvSpPr txBox="1"/>
          <p:nvPr/>
        </p:nvSpPr>
        <p:spPr>
          <a:xfrm>
            <a:off x="1473200" y="4114800"/>
            <a:ext cx="3987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A223C"/>
                </a:solidFill>
                <a:latin typeface="Aptos" panose="020B0004020202020204" pitchFamily="34" charset="0"/>
              </a:rPr>
              <a:t>Select model, analysis depth, and temperature</a:t>
            </a:r>
            <a:endParaRPr lang="en-IN" sz="1400">
              <a:solidFill>
                <a:srgbClr val="1A223C"/>
              </a:solidFill>
              <a:latin typeface="Aptos" panose="020B0004020202020204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27AD7B4-9A63-0D45-198D-B7601596D5AA}"/>
              </a:ext>
            </a:extLst>
          </p:cNvPr>
          <p:cNvSpPr/>
          <p:nvPr/>
        </p:nvSpPr>
        <p:spPr>
          <a:xfrm>
            <a:off x="990600" y="4749800"/>
            <a:ext cx="304800" cy="304800"/>
          </a:xfrm>
          <a:prstGeom prst="ellipse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57D454-460E-D0B2-5EEE-73AEEBD51EF7}"/>
              </a:ext>
            </a:extLst>
          </p:cNvPr>
          <p:cNvSpPr txBox="1"/>
          <p:nvPr/>
        </p:nvSpPr>
        <p:spPr>
          <a:xfrm>
            <a:off x="1054100" y="4826000"/>
            <a:ext cx="177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00" b="1">
                <a:solidFill>
                  <a:srgbClr val="5B43F2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58A3EE-A539-B031-3D02-94C371D1C79E}"/>
              </a:ext>
            </a:extLst>
          </p:cNvPr>
          <p:cNvSpPr txBox="1"/>
          <p:nvPr/>
        </p:nvSpPr>
        <p:spPr>
          <a:xfrm>
            <a:off x="1473200" y="4749800"/>
            <a:ext cx="3987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A223C"/>
                </a:solidFill>
                <a:latin typeface="Aptos" panose="020B0004020202020204" pitchFamily="34" charset="0"/>
              </a:rPr>
              <a:t>Return validated match, skill-gap, and interview fields</a:t>
            </a:r>
            <a:endParaRPr lang="en-IN" sz="1400">
              <a:solidFill>
                <a:srgbClr val="1A223C"/>
              </a:solidFill>
              <a:latin typeface="Aptos" panose="020B0004020202020204" pitchFamily="34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A24089F-7036-83CC-E29A-FA5222D6E958}"/>
              </a:ext>
            </a:extLst>
          </p:cNvPr>
          <p:cNvSpPr/>
          <p:nvPr/>
        </p:nvSpPr>
        <p:spPr>
          <a:xfrm>
            <a:off x="990600" y="5384800"/>
            <a:ext cx="304800" cy="304800"/>
          </a:xfrm>
          <a:prstGeom prst="ellipse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E0D7FB-726B-54B4-461C-0222156E8673}"/>
              </a:ext>
            </a:extLst>
          </p:cNvPr>
          <p:cNvSpPr txBox="1"/>
          <p:nvPr/>
        </p:nvSpPr>
        <p:spPr>
          <a:xfrm>
            <a:off x="1054100" y="5461000"/>
            <a:ext cx="177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00" b="1">
                <a:solidFill>
                  <a:srgbClr val="5B43F2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48D213-3967-9773-853A-5DB385AC15A8}"/>
              </a:ext>
            </a:extLst>
          </p:cNvPr>
          <p:cNvSpPr txBox="1"/>
          <p:nvPr/>
        </p:nvSpPr>
        <p:spPr>
          <a:xfrm>
            <a:off x="1473200" y="5384800"/>
            <a:ext cx="3987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A223C"/>
                </a:solidFill>
                <a:latin typeface="Aptos" panose="020B0004020202020204" pitchFamily="34" charset="0"/>
              </a:rPr>
              <a:t>Download analysis as structured JSON</a:t>
            </a:r>
            <a:endParaRPr lang="en-IN" sz="1400">
              <a:solidFill>
                <a:srgbClr val="1A223C"/>
              </a:solidFill>
              <a:latin typeface="Aptos" panose="020B000402020202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4BCF330-394D-FD7E-98D9-D4E539AA5762}"/>
              </a:ext>
            </a:extLst>
          </p:cNvPr>
          <p:cNvSpPr/>
          <p:nvPr/>
        </p:nvSpPr>
        <p:spPr>
          <a:xfrm>
            <a:off x="6350000" y="1955800"/>
            <a:ext cx="5232400" cy="4064000"/>
          </a:xfrm>
          <a:prstGeom prst="roundRect">
            <a:avLst/>
          </a:prstGeom>
          <a:solidFill>
            <a:srgbClr val="0F17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47DCA94-C749-6ED5-4EDA-B9E84857F0C4}"/>
              </a:ext>
            </a:extLst>
          </p:cNvPr>
          <p:cNvSpPr txBox="1"/>
          <p:nvPr/>
        </p:nvSpPr>
        <p:spPr>
          <a:xfrm>
            <a:off x="6705600" y="2260600"/>
            <a:ext cx="419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300" b="1">
                <a:solidFill>
                  <a:srgbClr val="FFFFFF"/>
                </a:solidFill>
                <a:latin typeface="Aptos" panose="020B0004020202020204" pitchFamily="34" charset="0"/>
              </a:rPr>
              <a:t>Operational requirements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CB34433-0804-ABC9-8F12-5EC319B40A5C}"/>
              </a:ext>
            </a:extLst>
          </p:cNvPr>
          <p:cNvSpPr/>
          <p:nvPr/>
        </p:nvSpPr>
        <p:spPr>
          <a:xfrm>
            <a:off x="6731000" y="2844800"/>
            <a:ext cx="304800" cy="304800"/>
          </a:xfrm>
          <a:prstGeom prst="ellipse">
            <a:avLst/>
          </a:prstGeom>
          <a:solidFill>
            <a:srgbClr val="268E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D0D8C7B-B376-289A-362E-7995B899ECCE}"/>
              </a:ext>
            </a:extLst>
          </p:cNvPr>
          <p:cNvSpPr txBox="1"/>
          <p:nvPr/>
        </p:nvSpPr>
        <p:spPr>
          <a:xfrm>
            <a:off x="6794500" y="2921000"/>
            <a:ext cx="177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00" b="1">
                <a:solidFill>
                  <a:srgbClr val="FFFFFF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E206C4-2F13-710D-F9E6-67A3BB973AFE}"/>
              </a:ext>
            </a:extLst>
          </p:cNvPr>
          <p:cNvSpPr txBox="1"/>
          <p:nvPr/>
        </p:nvSpPr>
        <p:spPr>
          <a:xfrm>
            <a:off x="7213600" y="28448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FFFFFF"/>
                </a:solidFill>
                <a:latin typeface="Aptos" panose="020B0004020202020204" pitchFamily="34" charset="0"/>
              </a:rPr>
              <a:t>Responsive on desktop and mobile</a:t>
            </a:r>
            <a:endParaRPr lang="en-IN" sz="14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ABECCFD-8EA0-97E8-56E9-A3E27F4ABE91}"/>
              </a:ext>
            </a:extLst>
          </p:cNvPr>
          <p:cNvSpPr/>
          <p:nvPr/>
        </p:nvSpPr>
        <p:spPr>
          <a:xfrm>
            <a:off x="6731000" y="3479800"/>
            <a:ext cx="304800" cy="304800"/>
          </a:xfrm>
          <a:prstGeom prst="ellipse">
            <a:avLst/>
          </a:prstGeom>
          <a:solidFill>
            <a:srgbClr val="268E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F56080-E761-F49E-2758-77D1C5317095}"/>
              </a:ext>
            </a:extLst>
          </p:cNvPr>
          <p:cNvSpPr txBox="1"/>
          <p:nvPr/>
        </p:nvSpPr>
        <p:spPr>
          <a:xfrm>
            <a:off x="6794500" y="3556000"/>
            <a:ext cx="177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00" b="1">
                <a:solidFill>
                  <a:srgbClr val="FFFFFF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43F1F2D-E579-8981-FB04-87D8E00946B4}"/>
              </a:ext>
            </a:extLst>
          </p:cNvPr>
          <p:cNvSpPr txBox="1"/>
          <p:nvPr/>
        </p:nvSpPr>
        <p:spPr>
          <a:xfrm>
            <a:off x="7213600" y="3479800"/>
            <a:ext cx="3810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FFFFFF"/>
                </a:solidFill>
                <a:latin typeface="Aptos" panose="020B0004020202020204" pitchFamily="34" charset="0"/>
              </a:rPr>
              <a:t>Loading and error feedback during inference</a:t>
            </a:r>
            <a:endParaRPr lang="en-IN" sz="14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CD66208-E6C0-FE0D-EE8A-A06CC3C54D6E}"/>
              </a:ext>
            </a:extLst>
          </p:cNvPr>
          <p:cNvSpPr/>
          <p:nvPr/>
        </p:nvSpPr>
        <p:spPr>
          <a:xfrm>
            <a:off x="6731000" y="4114800"/>
            <a:ext cx="304800" cy="304800"/>
          </a:xfrm>
          <a:prstGeom prst="ellipse">
            <a:avLst/>
          </a:prstGeom>
          <a:solidFill>
            <a:srgbClr val="268E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40FAAEE-98E3-6280-E6CD-611AB5282CED}"/>
              </a:ext>
            </a:extLst>
          </p:cNvPr>
          <p:cNvSpPr txBox="1"/>
          <p:nvPr/>
        </p:nvSpPr>
        <p:spPr>
          <a:xfrm>
            <a:off x="6794500" y="4191000"/>
            <a:ext cx="177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00" b="1">
                <a:solidFill>
                  <a:srgbClr val="FFFFFF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58178A-C171-18D5-9889-23BB11E2CF51}"/>
              </a:ext>
            </a:extLst>
          </p:cNvPr>
          <p:cNvSpPr txBox="1"/>
          <p:nvPr/>
        </p:nvSpPr>
        <p:spPr>
          <a:xfrm>
            <a:off x="7213600" y="4114800"/>
            <a:ext cx="3810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FFFFFF"/>
                </a:solidFill>
                <a:latin typeface="Aptos" panose="020B0004020202020204" pitchFamily="34" charset="0"/>
              </a:rPr>
              <a:t>API key stays in environment configuration</a:t>
            </a:r>
            <a:endParaRPr lang="en-IN" sz="14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E64F6CF-5C56-8102-BBB3-8C0E7A2AE36C}"/>
              </a:ext>
            </a:extLst>
          </p:cNvPr>
          <p:cNvSpPr/>
          <p:nvPr/>
        </p:nvSpPr>
        <p:spPr>
          <a:xfrm>
            <a:off x="6731000" y="4749800"/>
            <a:ext cx="304800" cy="304800"/>
          </a:xfrm>
          <a:prstGeom prst="ellipse">
            <a:avLst/>
          </a:prstGeom>
          <a:solidFill>
            <a:srgbClr val="268E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6341928-8301-D83A-39A3-7BC4F170E29A}"/>
              </a:ext>
            </a:extLst>
          </p:cNvPr>
          <p:cNvSpPr txBox="1"/>
          <p:nvPr/>
        </p:nvSpPr>
        <p:spPr>
          <a:xfrm>
            <a:off x="6794500" y="4826000"/>
            <a:ext cx="177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00" b="1">
                <a:solidFill>
                  <a:srgbClr val="FFFFFF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36277C6-0A90-B90C-0081-E0C7DAC05A4D}"/>
              </a:ext>
            </a:extLst>
          </p:cNvPr>
          <p:cNvSpPr txBox="1"/>
          <p:nvPr/>
        </p:nvSpPr>
        <p:spPr>
          <a:xfrm>
            <a:off x="7213600" y="4749800"/>
            <a:ext cx="3810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400">
                <a:solidFill>
                  <a:srgbClr val="FFFFFF"/>
                </a:solidFill>
                <a:latin typeface="Aptos" panose="020B0004020202020204" pitchFamily="34" charset="0"/>
              </a:rPr>
              <a:t>Modular components for maintainability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8D8888C-05A0-A77C-0204-CF5626AF9127}"/>
              </a:ext>
            </a:extLst>
          </p:cNvPr>
          <p:cNvSpPr/>
          <p:nvPr/>
        </p:nvSpPr>
        <p:spPr>
          <a:xfrm>
            <a:off x="6731000" y="5384800"/>
            <a:ext cx="304800" cy="304800"/>
          </a:xfrm>
          <a:prstGeom prst="ellipse">
            <a:avLst/>
          </a:prstGeom>
          <a:solidFill>
            <a:srgbClr val="268E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4C1A91E-6DAC-F46B-FD57-171FCA0AD924}"/>
              </a:ext>
            </a:extLst>
          </p:cNvPr>
          <p:cNvSpPr txBox="1"/>
          <p:nvPr/>
        </p:nvSpPr>
        <p:spPr>
          <a:xfrm>
            <a:off x="6794500" y="5461000"/>
            <a:ext cx="177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00" b="1">
                <a:solidFill>
                  <a:srgbClr val="FFFFFF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B384BCC-459D-117C-712C-98BFE7ED428E}"/>
              </a:ext>
            </a:extLst>
          </p:cNvPr>
          <p:cNvSpPr txBox="1"/>
          <p:nvPr/>
        </p:nvSpPr>
        <p:spPr>
          <a:xfrm>
            <a:off x="7213600" y="5384800"/>
            <a:ext cx="3810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FFFFFF"/>
                </a:solidFill>
                <a:latin typeface="Aptos" panose="020B0004020202020204" pitchFamily="34" charset="0"/>
              </a:rPr>
              <a:t>Manifest V3 compatibility for the extension</a:t>
            </a:r>
            <a:endParaRPr lang="en-IN" sz="14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AEBF499-6963-D854-FCF4-EEA109D2EC24}"/>
              </a:ext>
            </a:extLst>
          </p:cNvPr>
          <p:cNvSpPr txBox="1"/>
          <p:nvPr/>
        </p:nvSpPr>
        <p:spPr>
          <a:xfrm>
            <a:off x="609600" y="65532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900">
                <a:solidFill>
                  <a:srgbClr val="5D6C8E"/>
                </a:solidFill>
                <a:latin typeface="Aptos" panose="020B0004020202020204" pitchFamily="34" charset="0"/>
              </a:rPr>
              <a:t>MSE-1 | KIET MCA | Personalized Career Mentor AI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DC5A936-2D92-A92C-5406-4760AFC5CCCD}"/>
              </a:ext>
            </a:extLst>
          </p:cNvPr>
          <p:cNvSpPr txBox="1"/>
          <p:nvPr/>
        </p:nvSpPr>
        <p:spPr>
          <a:xfrm>
            <a:off x="11303000" y="6553200"/>
            <a:ext cx="279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900" b="1">
                <a:solidFill>
                  <a:srgbClr val="5D6C8E"/>
                </a:solidFill>
                <a:latin typeface="Aptos" panose="020B0004020202020204" pitchFamily="34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239014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58F88A-5D29-3840-AE41-C7943DCE4E0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A739438-5F60-7C58-2793-3DB9D27BD380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5B43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A3EBB7-C4FB-5C41-5366-B7AD0F44895D}"/>
              </a:ext>
            </a:extLst>
          </p:cNvPr>
          <p:cNvSpPr txBox="1"/>
          <p:nvPr/>
        </p:nvSpPr>
        <p:spPr>
          <a:xfrm>
            <a:off x="609600" y="330200"/>
            <a:ext cx="3302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METRIC 5C | TECHNICAL REQUIREMENTS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5E6099-DD91-4FD5-8F29-58397C866CB9}"/>
              </a:ext>
            </a:extLst>
          </p:cNvPr>
          <p:cNvSpPr txBox="1"/>
          <p:nvPr/>
        </p:nvSpPr>
        <p:spPr>
          <a:xfrm>
            <a:off x="609600" y="635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3000" b="1">
                <a:solidFill>
                  <a:srgbClr val="0F1734"/>
                </a:solidFill>
                <a:latin typeface="Aptos" panose="020B0004020202020204" pitchFamily="34" charset="0"/>
              </a:rPr>
              <a:t>System flow &amp; data movement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07FE60-034D-46F9-0539-C23CB2E485D1}"/>
              </a:ext>
            </a:extLst>
          </p:cNvPr>
          <p:cNvSpPr txBox="1"/>
          <p:nvPr/>
        </p:nvSpPr>
        <p:spPr>
          <a:xfrm>
            <a:off x="609600" y="12192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D6C8E"/>
                </a:solidFill>
                <a:latin typeface="Aptos" panose="020B0004020202020204" pitchFamily="34" charset="0"/>
              </a:rPr>
              <a:t>Both the website and Chrome extension feed the same analysis path.</a:t>
            </a:r>
            <a:endParaRPr lang="en-IN" sz="15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E95060-5572-3049-493B-A0B212066501}"/>
              </a:ext>
            </a:extLst>
          </p:cNvPr>
          <p:cNvCxnSpPr/>
          <p:nvPr/>
        </p:nvCxnSpPr>
        <p:spPr>
          <a:xfrm>
            <a:off x="609600" y="1625600"/>
            <a:ext cx="10972800" cy="0"/>
          </a:xfrm>
          <a:prstGeom prst="line">
            <a:avLst/>
          </a:prstGeom>
          <a:ln w="12700">
            <a:solidFill>
              <a:srgbClr val="D7E0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5127449-A397-AC00-5ED1-F6C6C58C526B}"/>
              </a:ext>
            </a:extLst>
          </p:cNvPr>
          <p:cNvSpPr/>
          <p:nvPr/>
        </p:nvSpPr>
        <p:spPr>
          <a:xfrm>
            <a:off x="10414000" y="330200"/>
            <a:ext cx="1168400" cy="304800"/>
          </a:xfrm>
          <a:prstGeom prst="roundRect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26F23D-A8E9-B773-4792-3D6A196FFF80}"/>
              </a:ext>
            </a:extLst>
          </p:cNvPr>
          <p:cNvSpPr txBox="1"/>
          <p:nvPr/>
        </p:nvSpPr>
        <p:spPr>
          <a:xfrm>
            <a:off x="10541000" y="381000"/>
            <a:ext cx="914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METRIC 5C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F900863-4309-C559-D830-6C1710775A6D}"/>
              </a:ext>
            </a:extLst>
          </p:cNvPr>
          <p:cNvSpPr/>
          <p:nvPr/>
        </p:nvSpPr>
        <p:spPr>
          <a:xfrm>
            <a:off x="609600" y="2794000"/>
            <a:ext cx="1701800" cy="990600"/>
          </a:xfrm>
          <a:prstGeom prst="roundRect">
            <a:avLst/>
          </a:prstGeom>
          <a:solidFill>
            <a:srgbClr val="F2EEFF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10202B-86BF-5187-FCD3-F1832B10631C}"/>
              </a:ext>
            </a:extLst>
          </p:cNvPr>
          <p:cNvSpPr txBox="1"/>
          <p:nvPr/>
        </p:nvSpPr>
        <p:spPr>
          <a:xfrm>
            <a:off x="736600" y="3022600"/>
            <a:ext cx="1447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600" b="1">
                <a:solidFill>
                  <a:srgbClr val="5B43F2"/>
                </a:solidFill>
                <a:latin typeface="Aptos" panose="020B0004020202020204" pitchFamily="34" charset="0"/>
              </a:rPr>
              <a:t>Candidate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F96A70-CD35-4B5D-BD0E-BFBE9D5E48AE}"/>
              </a:ext>
            </a:extLst>
          </p:cNvPr>
          <p:cNvSpPr txBox="1"/>
          <p:nvPr/>
        </p:nvSpPr>
        <p:spPr>
          <a:xfrm>
            <a:off x="736600" y="3378200"/>
            <a:ext cx="1447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>
                <a:solidFill>
                  <a:srgbClr val="5D6C8E"/>
                </a:solidFill>
                <a:latin typeface="Aptos" panose="020B0004020202020204" pitchFamily="34" charset="0"/>
              </a:rPr>
              <a:t>Resume + job description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174259A-A0CD-AEC1-F51C-9B8B3A69004D}"/>
              </a:ext>
            </a:extLst>
          </p:cNvPr>
          <p:cNvSpPr/>
          <p:nvPr/>
        </p:nvSpPr>
        <p:spPr>
          <a:xfrm>
            <a:off x="2844800" y="2794000"/>
            <a:ext cx="1905000" cy="990600"/>
          </a:xfrm>
          <a:prstGeom prst="roundRect">
            <a:avLst/>
          </a:prstGeom>
          <a:solidFill>
            <a:srgbClr val="E9F4FF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307ECB-88F1-C0B3-4F45-23F191EC623A}"/>
              </a:ext>
            </a:extLst>
          </p:cNvPr>
          <p:cNvSpPr txBox="1"/>
          <p:nvPr/>
        </p:nvSpPr>
        <p:spPr>
          <a:xfrm>
            <a:off x="2971800" y="30226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600" b="1">
                <a:solidFill>
                  <a:srgbClr val="268EDA"/>
                </a:solidFill>
                <a:latin typeface="Aptos" panose="020B0004020202020204" pitchFamily="34" charset="0"/>
              </a:rPr>
              <a:t>Next.js / React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F53E4E-02D1-EE26-BA0E-0841CB653C42}"/>
              </a:ext>
            </a:extLst>
          </p:cNvPr>
          <p:cNvSpPr txBox="1"/>
          <p:nvPr/>
        </p:nvSpPr>
        <p:spPr>
          <a:xfrm>
            <a:off x="2971800" y="33782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>
                <a:solidFill>
                  <a:srgbClr val="5D6C8E"/>
                </a:solidFill>
                <a:latin typeface="Aptos" panose="020B0004020202020204" pitchFamily="34" charset="0"/>
              </a:rPr>
              <a:t>Input + controls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EC59ED2-D26A-3931-BB10-3FA44F203C0B}"/>
              </a:ext>
            </a:extLst>
          </p:cNvPr>
          <p:cNvSpPr/>
          <p:nvPr/>
        </p:nvSpPr>
        <p:spPr>
          <a:xfrm>
            <a:off x="5283200" y="2794000"/>
            <a:ext cx="1905000" cy="990600"/>
          </a:xfrm>
          <a:prstGeom prst="roundRect">
            <a:avLst/>
          </a:prstGeom>
          <a:solidFill>
            <a:srgbClr val="E6FAF6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835638-C708-9650-43F2-37BDFC460696}"/>
              </a:ext>
            </a:extLst>
          </p:cNvPr>
          <p:cNvSpPr txBox="1"/>
          <p:nvPr/>
        </p:nvSpPr>
        <p:spPr>
          <a:xfrm>
            <a:off x="5410200" y="30226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600" b="1">
                <a:solidFill>
                  <a:srgbClr val="21C294"/>
                </a:solidFill>
                <a:latin typeface="Aptos" panose="020B0004020202020204" pitchFamily="34" charset="0"/>
              </a:rPr>
              <a:t>FastAPI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FF96CF-E010-7A83-33B0-7C41EBD176E0}"/>
              </a:ext>
            </a:extLst>
          </p:cNvPr>
          <p:cNvSpPr txBox="1"/>
          <p:nvPr/>
        </p:nvSpPr>
        <p:spPr>
          <a:xfrm>
            <a:off x="5410200" y="3378200"/>
            <a:ext cx="1651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>
                <a:solidFill>
                  <a:srgbClr val="5D6C8E"/>
                </a:solidFill>
                <a:latin typeface="Aptos" panose="020B0004020202020204" pitchFamily="34" charset="0"/>
              </a:rPr>
              <a:t>Analysis endpoint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8886ADC-4991-3D4F-A999-B6CBBBABF481}"/>
              </a:ext>
            </a:extLst>
          </p:cNvPr>
          <p:cNvSpPr/>
          <p:nvPr/>
        </p:nvSpPr>
        <p:spPr>
          <a:xfrm>
            <a:off x="7721600" y="2794000"/>
            <a:ext cx="1905000" cy="990600"/>
          </a:xfrm>
          <a:prstGeom prst="roundRect">
            <a:avLst/>
          </a:prstGeom>
          <a:solidFill>
            <a:srgbClr val="FFF6E4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887DFF-1148-EE13-22D9-485E7CBFADCE}"/>
              </a:ext>
            </a:extLst>
          </p:cNvPr>
          <p:cNvSpPr txBox="1"/>
          <p:nvPr/>
        </p:nvSpPr>
        <p:spPr>
          <a:xfrm>
            <a:off x="7848600" y="3022600"/>
            <a:ext cx="1651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600" b="1">
                <a:solidFill>
                  <a:srgbClr val="EE8F22"/>
                </a:solidFill>
                <a:latin typeface="Aptos" panose="020B0004020202020204" pitchFamily="34" charset="0"/>
              </a:rPr>
              <a:t>LangChain + Groq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836D93-C275-566A-126F-10D2B7A3CFCF}"/>
              </a:ext>
            </a:extLst>
          </p:cNvPr>
          <p:cNvSpPr txBox="1"/>
          <p:nvPr/>
        </p:nvSpPr>
        <p:spPr>
          <a:xfrm>
            <a:off x="7848600" y="3378200"/>
            <a:ext cx="1651000" cy="92333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>
                <a:solidFill>
                  <a:srgbClr val="5D6C8E"/>
                </a:solidFill>
                <a:latin typeface="Aptos" panose="020B0004020202020204" pitchFamily="34" charset="0"/>
              </a:rPr>
              <a:t>Role-constrained prompt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0F9D052-C225-A626-F947-2009D8CFF2DD}"/>
              </a:ext>
            </a:extLst>
          </p:cNvPr>
          <p:cNvSpPr/>
          <p:nvPr/>
        </p:nvSpPr>
        <p:spPr>
          <a:xfrm>
            <a:off x="10160000" y="2794000"/>
            <a:ext cx="1422400" cy="990600"/>
          </a:xfrm>
          <a:prstGeom prst="roundRect">
            <a:avLst/>
          </a:prstGeom>
          <a:solidFill>
            <a:srgbClr val="FFEFF6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C34922-E84A-5669-23D8-90EC541CCB66}"/>
              </a:ext>
            </a:extLst>
          </p:cNvPr>
          <p:cNvSpPr txBox="1"/>
          <p:nvPr/>
        </p:nvSpPr>
        <p:spPr>
          <a:xfrm>
            <a:off x="10287000" y="30226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600" b="1">
                <a:solidFill>
                  <a:srgbClr val="F469A6"/>
                </a:solidFill>
                <a:latin typeface="Aptos" panose="020B0004020202020204" pitchFamily="34" charset="0"/>
              </a:rPr>
              <a:t>Report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BFAF56-B05F-6D8E-3987-D198C3D32803}"/>
              </a:ext>
            </a:extLst>
          </p:cNvPr>
          <p:cNvSpPr txBox="1"/>
          <p:nvPr/>
        </p:nvSpPr>
        <p:spPr>
          <a:xfrm>
            <a:off x="10287000" y="3378200"/>
            <a:ext cx="1168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>
                <a:solidFill>
                  <a:srgbClr val="5D6C8E"/>
                </a:solidFill>
                <a:latin typeface="Aptos" panose="020B0004020202020204" pitchFamily="34" charset="0"/>
              </a:rPr>
              <a:t>Validated JSON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8BA4321-6D59-40EF-0EF9-D9A3DCACE973}"/>
              </a:ext>
            </a:extLst>
          </p:cNvPr>
          <p:cNvCxnSpPr/>
          <p:nvPr/>
        </p:nvCxnSpPr>
        <p:spPr>
          <a:xfrm>
            <a:off x="2311400" y="3289300"/>
            <a:ext cx="533400" cy="0"/>
          </a:xfrm>
          <a:prstGeom prst="line">
            <a:avLst/>
          </a:prstGeom>
          <a:ln w="25400">
            <a:solidFill>
              <a:srgbClr val="5B43F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24C4A11-93F2-63B4-3137-61A084665BBB}"/>
              </a:ext>
            </a:extLst>
          </p:cNvPr>
          <p:cNvCxnSpPr/>
          <p:nvPr/>
        </p:nvCxnSpPr>
        <p:spPr>
          <a:xfrm>
            <a:off x="4749800" y="3289300"/>
            <a:ext cx="533400" cy="0"/>
          </a:xfrm>
          <a:prstGeom prst="line">
            <a:avLst/>
          </a:prstGeom>
          <a:ln w="25400">
            <a:solidFill>
              <a:srgbClr val="5B43F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845F239-2A81-7288-0B8E-B14E7B30E089}"/>
              </a:ext>
            </a:extLst>
          </p:cNvPr>
          <p:cNvCxnSpPr/>
          <p:nvPr/>
        </p:nvCxnSpPr>
        <p:spPr>
          <a:xfrm>
            <a:off x="7188200" y="3289300"/>
            <a:ext cx="533400" cy="0"/>
          </a:xfrm>
          <a:prstGeom prst="line">
            <a:avLst/>
          </a:prstGeom>
          <a:ln w="25400">
            <a:solidFill>
              <a:srgbClr val="5B43F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309140B-0D2D-9734-339C-B5551716CA5C}"/>
              </a:ext>
            </a:extLst>
          </p:cNvPr>
          <p:cNvCxnSpPr/>
          <p:nvPr/>
        </p:nvCxnSpPr>
        <p:spPr>
          <a:xfrm>
            <a:off x="9626600" y="3289300"/>
            <a:ext cx="533400" cy="0"/>
          </a:xfrm>
          <a:prstGeom prst="line">
            <a:avLst/>
          </a:prstGeom>
          <a:ln w="25400">
            <a:solidFill>
              <a:srgbClr val="5B43F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175311C-4BD1-4509-195B-8403CF954275}"/>
              </a:ext>
            </a:extLst>
          </p:cNvPr>
          <p:cNvSpPr/>
          <p:nvPr/>
        </p:nvSpPr>
        <p:spPr>
          <a:xfrm>
            <a:off x="2844800" y="4394200"/>
            <a:ext cx="1905000" cy="78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D77E49-06C6-EA1D-04C3-2F176F23345E}"/>
              </a:ext>
            </a:extLst>
          </p:cNvPr>
          <p:cNvSpPr txBox="1"/>
          <p:nvPr/>
        </p:nvSpPr>
        <p:spPr>
          <a:xfrm>
            <a:off x="3022600" y="4584700"/>
            <a:ext cx="1549400" cy="92333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500" b="1">
                <a:solidFill>
                  <a:srgbClr val="0F1734"/>
                </a:solidFill>
                <a:latin typeface="Aptos" panose="020B0004020202020204" pitchFamily="34" charset="0"/>
              </a:rPr>
              <a:t>Optional PDF\ntext extraction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E18BD31-D333-4033-A63A-4FB0F26A99D8}"/>
              </a:ext>
            </a:extLst>
          </p:cNvPr>
          <p:cNvCxnSpPr/>
          <p:nvPr/>
        </p:nvCxnSpPr>
        <p:spPr>
          <a:xfrm flipV="1">
            <a:off x="3797300" y="3784600"/>
            <a:ext cx="0" cy="609600"/>
          </a:xfrm>
          <a:prstGeom prst="line">
            <a:avLst/>
          </a:prstGeom>
          <a:ln w="19050">
            <a:solidFill>
              <a:srgbClr val="268E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5C444B3-2C8E-6797-47C5-23B692CB9123}"/>
              </a:ext>
            </a:extLst>
          </p:cNvPr>
          <p:cNvSpPr/>
          <p:nvPr/>
        </p:nvSpPr>
        <p:spPr>
          <a:xfrm>
            <a:off x="609600" y="4394200"/>
            <a:ext cx="1701800" cy="78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4284FAA-4B74-B207-6E5B-3422832AC6C2}"/>
              </a:ext>
            </a:extLst>
          </p:cNvPr>
          <p:cNvSpPr txBox="1"/>
          <p:nvPr/>
        </p:nvSpPr>
        <p:spPr>
          <a:xfrm>
            <a:off x="762000" y="4584700"/>
            <a:ext cx="1397000" cy="120032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400" b="1">
                <a:solidFill>
                  <a:srgbClr val="0F1734"/>
                </a:solidFill>
                <a:latin typeface="Aptos" panose="020B0004020202020204" pitchFamily="34" charset="0"/>
              </a:rPr>
              <a:t>Chrome extension\nLinkedIn job page</a:t>
            </a:r>
            <a:endParaRPr lang="en-IN" sz="1400" b="1">
              <a:solidFill>
                <a:srgbClr val="0F1734"/>
              </a:solidFill>
              <a:latin typeface="Aptos" panose="020B0004020202020204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5F407E3-DBE2-5591-956F-542B2B4002A4}"/>
              </a:ext>
            </a:extLst>
          </p:cNvPr>
          <p:cNvCxnSpPr/>
          <p:nvPr/>
        </p:nvCxnSpPr>
        <p:spPr>
          <a:xfrm flipV="1">
            <a:off x="1460500" y="3784600"/>
            <a:ext cx="0" cy="609600"/>
          </a:xfrm>
          <a:prstGeom prst="line">
            <a:avLst/>
          </a:prstGeom>
          <a:ln w="19050">
            <a:solidFill>
              <a:srgbClr val="F469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D1736D3-F9C7-24F5-C400-9EA4C84921FB}"/>
              </a:ext>
            </a:extLst>
          </p:cNvPr>
          <p:cNvSpPr txBox="1"/>
          <p:nvPr/>
        </p:nvSpPr>
        <p:spPr>
          <a:xfrm>
            <a:off x="609600" y="56642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D6C8E"/>
                </a:solidFill>
                <a:latin typeface="Aptos" panose="020B0004020202020204" pitchFamily="34" charset="0"/>
              </a:rPr>
              <a:t>Pydantic schema validation keeps the AI response structured before it reaches the dashboard.</a:t>
            </a:r>
            <a:endParaRPr lang="en-IN" sz="16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3085921-D9BB-F388-6E0F-907A9B263F18}"/>
              </a:ext>
            </a:extLst>
          </p:cNvPr>
          <p:cNvSpPr txBox="1"/>
          <p:nvPr/>
        </p:nvSpPr>
        <p:spPr>
          <a:xfrm>
            <a:off x="609600" y="65532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900">
                <a:solidFill>
                  <a:srgbClr val="5D6C8E"/>
                </a:solidFill>
                <a:latin typeface="Aptos" panose="020B0004020202020204" pitchFamily="34" charset="0"/>
              </a:rPr>
              <a:t>MSE-1 | KIET MCA | Personalized Career Mentor AI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E04D26C-9BF6-8039-C498-57B4A4FBE154}"/>
              </a:ext>
            </a:extLst>
          </p:cNvPr>
          <p:cNvSpPr txBox="1"/>
          <p:nvPr/>
        </p:nvSpPr>
        <p:spPr>
          <a:xfrm>
            <a:off x="11303000" y="6553200"/>
            <a:ext cx="279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900" b="1">
                <a:solidFill>
                  <a:srgbClr val="5D6C8E"/>
                </a:solidFill>
                <a:latin typeface="Aptos" panose="020B0004020202020204" pitchFamily="34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539859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A55983-C91F-BD2C-0ED7-E9E7E9144FA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9E613D2-274C-E331-9563-F3D141207B66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5B43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AF1AED-2325-3009-C6F2-8919335C139C}"/>
              </a:ext>
            </a:extLst>
          </p:cNvPr>
          <p:cNvSpPr txBox="1"/>
          <p:nvPr/>
        </p:nvSpPr>
        <p:spPr>
          <a:xfrm>
            <a:off x="609600" y="330200"/>
            <a:ext cx="3302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METRIC 6 | INTERPRETATION &amp; MODELING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9AF2E1-380E-B604-D3FD-383DCF950CD2}"/>
              </a:ext>
            </a:extLst>
          </p:cNvPr>
          <p:cNvSpPr txBox="1"/>
          <p:nvPr/>
        </p:nvSpPr>
        <p:spPr>
          <a:xfrm>
            <a:off x="609600" y="635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3000" b="1">
                <a:solidFill>
                  <a:srgbClr val="0F1734"/>
                </a:solidFill>
                <a:latin typeface="Aptos" panose="020B0004020202020204" pitchFamily="34" charset="0"/>
              </a:rPr>
              <a:t>System model &amp; AI method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D7A4F3-AAB5-43F2-57B0-C2306C5BB8C6}"/>
              </a:ext>
            </a:extLst>
          </p:cNvPr>
          <p:cNvSpPr txBox="1"/>
          <p:nvPr/>
        </p:nvSpPr>
        <p:spPr>
          <a:xfrm>
            <a:off x="609600" y="12192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D6C8E"/>
                </a:solidFill>
                <a:latin typeface="Aptos" panose="020B0004020202020204" pitchFamily="34" charset="0"/>
              </a:rPr>
              <a:t>The design separates the user, application logic, and analysis data so the result stays explainable.</a:t>
            </a:r>
            <a:endParaRPr lang="en-IN" sz="15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E4D8AA6-AD1A-1044-EB21-D21983BB9403}"/>
              </a:ext>
            </a:extLst>
          </p:cNvPr>
          <p:cNvCxnSpPr/>
          <p:nvPr/>
        </p:nvCxnSpPr>
        <p:spPr>
          <a:xfrm>
            <a:off x="609600" y="1625600"/>
            <a:ext cx="10972800" cy="0"/>
          </a:xfrm>
          <a:prstGeom prst="line">
            <a:avLst/>
          </a:prstGeom>
          <a:ln w="12700">
            <a:solidFill>
              <a:srgbClr val="D7E0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B4912D3-DA30-59D9-FBF4-D80DC413D9E1}"/>
              </a:ext>
            </a:extLst>
          </p:cNvPr>
          <p:cNvSpPr/>
          <p:nvPr/>
        </p:nvSpPr>
        <p:spPr>
          <a:xfrm>
            <a:off x="10414000" y="330200"/>
            <a:ext cx="1168400" cy="304800"/>
          </a:xfrm>
          <a:prstGeom prst="roundRect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B4ECC3-62FD-6445-F678-699E2CC6F71C}"/>
              </a:ext>
            </a:extLst>
          </p:cNvPr>
          <p:cNvSpPr txBox="1"/>
          <p:nvPr/>
        </p:nvSpPr>
        <p:spPr>
          <a:xfrm>
            <a:off x="10541000" y="381000"/>
            <a:ext cx="914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METRIC 6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526E584-FA87-376B-1276-0A2CEC21176F}"/>
              </a:ext>
            </a:extLst>
          </p:cNvPr>
          <p:cNvSpPr/>
          <p:nvPr/>
        </p:nvSpPr>
        <p:spPr>
          <a:xfrm>
            <a:off x="609600" y="2184400"/>
            <a:ext cx="3200400" cy="2514600"/>
          </a:xfrm>
          <a:prstGeom prst="roundRect">
            <a:avLst/>
          </a:prstGeom>
          <a:solidFill>
            <a:srgbClr val="F2EEFF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0C808A-3883-776F-93A5-44CA0FD8D84E}"/>
              </a:ext>
            </a:extLst>
          </p:cNvPr>
          <p:cNvSpPr txBox="1"/>
          <p:nvPr/>
        </p:nvSpPr>
        <p:spPr>
          <a:xfrm>
            <a:off x="889000" y="2489200"/>
            <a:ext cx="2641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200" b="1">
                <a:solidFill>
                  <a:srgbClr val="5B43F2"/>
                </a:solidFill>
                <a:latin typeface="Aptos" panose="020B0004020202020204" pitchFamily="34" charset="0"/>
              </a:rPr>
              <a:t>User model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309C6AB-8625-396B-34D8-1BBE27424394}"/>
              </a:ext>
            </a:extLst>
          </p:cNvPr>
          <p:cNvSpPr/>
          <p:nvPr/>
        </p:nvSpPr>
        <p:spPr>
          <a:xfrm>
            <a:off x="914400" y="3124200"/>
            <a:ext cx="228600" cy="2286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F3D2ED-23ED-9747-B9BB-5E386D73D4BF}"/>
              </a:ext>
            </a:extLst>
          </p:cNvPr>
          <p:cNvSpPr txBox="1"/>
          <p:nvPr/>
        </p:nvSpPr>
        <p:spPr>
          <a:xfrm>
            <a:off x="965200" y="3149600"/>
            <a:ext cx="12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00" b="1">
                <a:solidFill>
                  <a:srgbClr val="5B43F2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A7539E-BF75-5715-86FC-97213A1E0C52}"/>
              </a:ext>
            </a:extLst>
          </p:cNvPr>
          <p:cNvSpPr txBox="1"/>
          <p:nvPr/>
        </p:nvSpPr>
        <p:spPr>
          <a:xfrm>
            <a:off x="1270000" y="31115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A223C"/>
                </a:solidFill>
                <a:latin typeface="Aptos" panose="020B0004020202020204" pitchFamily="34" charset="0"/>
              </a:rPr>
              <a:t>Resume text or PDF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0FC6334-2436-23A1-74E1-04F64FE6F373}"/>
              </a:ext>
            </a:extLst>
          </p:cNvPr>
          <p:cNvSpPr/>
          <p:nvPr/>
        </p:nvSpPr>
        <p:spPr>
          <a:xfrm>
            <a:off x="914400" y="3581400"/>
            <a:ext cx="228600" cy="2286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86494-35CD-7F47-FDA5-8627AAE64065}"/>
              </a:ext>
            </a:extLst>
          </p:cNvPr>
          <p:cNvSpPr txBox="1"/>
          <p:nvPr/>
        </p:nvSpPr>
        <p:spPr>
          <a:xfrm>
            <a:off x="965200" y="3606800"/>
            <a:ext cx="12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00" b="1">
                <a:solidFill>
                  <a:srgbClr val="5B43F2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9D5781-36CE-406A-3452-7384709F5F3C}"/>
              </a:ext>
            </a:extLst>
          </p:cNvPr>
          <p:cNvSpPr txBox="1"/>
          <p:nvPr/>
        </p:nvSpPr>
        <p:spPr>
          <a:xfrm>
            <a:off x="1270000" y="35687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A223C"/>
                </a:solidFill>
                <a:latin typeface="Aptos" panose="020B0004020202020204" pitchFamily="34" charset="0"/>
              </a:rPr>
              <a:t>Target job description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B0BDB09-033D-A945-4240-0D8220AB8EED}"/>
              </a:ext>
            </a:extLst>
          </p:cNvPr>
          <p:cNvSpPr/>
          <p:nvPr/>
        </p:nvSpPr>
        <p:spPr>
          <a:xfrm>
            <a:off x="914400" y="4038600"/>
            <a:ext cx="228600" cy="2286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E74E3C-E039-DF3E-2C28-ED8B33444CA0}"/>
              </a:ext>
            </a:extLst>
          </p:cNvPr>
          <p:cNvSpPr txBox="1"/>
          <p:nvPr/>
        </p:nvSpPr>
        <p:spPr>
          <a:xfrm>
            <a:off x="965200" y="4064000"/>
            <a:ext cx="12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00" b="1">
                <a:solidFill>
                  <a:srgbClr val="5B43F2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7B4D30-C0A6-5C3F-7027-36EFCE8545E4}"/>
              </a:ext>
            </a:extLst>
          </p:cNvPr>
          <p:cNvSpPr txBox="1"/>
          <p:nvPr/>
        </p:nvSpPr>
        <p:spPr>
          <a:xfrm>
            <a:off x="1270000" y="4025900"/>
            <a:ext cx="2286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A223C"/>
                </a:solidFill>
                <a:latin typeface="Aptos" panose="020B0004020202020204" pitchFamily="34" charset="0"/>
              </a:rPr>
              <a:t>Model + depth controls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4E771EC-2275-6B1A-97EA-BA291CE1FE70}"/>
              </a:ext>
            </a:extLst>
          </p:cNvPr>
          <p:cNvSpPr/>
          <p:nvPr/>
        </p:nvSpPr>
        <p:spPr>
          <a:xfrm>
            <a:off x="4191000" y="2184400"/>
            <a:ext cx="3200400" cy="2514600"/>
          </a:xfrm>
          <a:prstGeom prst="roundRect">
            <a:avLst/>
          </a:prstGeom>
          <a:solidFill>
            <a:srgbClr val="E9F4FF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8D46A2-051B-48BB-7CF0-9001CD9A49F5}"/>
              </a:ext>
            </a:extLst>
          </p:cNvPr>
          <p:cNvSpPr txBox="1"/>
          <p:nvPr/>
        </p:nvSpPr>
        <p:spPr>
          <a:xfrm>
            <a:off x="4470400" y="2489200"/>
            <a:ext cx="2641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200" b="1">
                <a:solidFill>
                  <a:srgbClr val="268EDA"/>
                </a:solidFill>
                <a:latin typeface="Aptos" panose="020B0004020202020204" pitchFamily="34" charset="0"/>
              </a:rPr>
              <a:t>Application model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B6DAACE-9D84-82D3-1841-9BC17A569A5F}"/>
              </a:ext>
            </a:extLst>
          </p:cNvPr>
          <p:cNvSpPr/>
          <p:nvPr/>
        </p:nvSpPr>
        <p:spPr>
          <a:xfrm>
            <a:off x="4495800" y="3124200"/>
            <a:ext cx="228600" cy="2286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413F49-B9C9-1C30-3F4C-EE7FAD07E31C}"/>
              </a:ext>
            </a:extLst>
          </p:cNvPr>
          <p:cNvSpPr txBox="1"/>
          <p:nvPr/>
        </p:nvSpPr>
        <p:spPr>
          <a:xfrm>
            <a:off x="4546600" y="3149600"/>
            <a:ext cx="12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00" b="1">
                <a:solidFill>
                  <a:srgbClr val="268EDA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076DED-67F7-CAC2-2602-F27FFCFDE1D5}"/>
              </a:ext>
            </a:extLst>
          </p:cNvPr>
          <p:cNvSpPr txBox="1"/>
          <p:nvPr/>
        </p:nvSpPr>
        <p:spPr>
          <a:xfrm>
            <a:off x="4851400" y="31115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A223C"/>
                </a:solidFill>
                <a:latin typeface="Aptos" panose="020B0004020202020204" pitchFamily="34" charset="0"/>
              </a:rPr>
              <a:t>Responsive Next.js UI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9EA9F6F-2846-BC7C-6B09-EE7E9211CDFD}"/>
              </a:ext>
            </a:extLst>
          </p:cNvPr>
          <p:cNvSpPr/>
          <p:nvPr/>
        </p:nvSpPr>
        <p:spPr>
          <a:xfrm>
            <a:off x="4495800" y="3581400"/>
            <a:ext cx="228600" cy="2286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D19E31-51E0-E235-DD8F-576CCA183047}"/>
              </a:ext>
            </a:extLst>
          </p:cNvPr>
          <p:cNvSpPr txBox="1"/>
          <p:nvPr/>
        </p:nvSpPr>
        <p:spPr>
          <a:xfrm>
            <a:off x="4546600" y="3606800"/>
            <a:ext cx="12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00" b="1">
                <a:solidFill>
                  <a:srgbClr val="268EDA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DC6D9C-35E2-67BE-9E01-2213E60528C2}"/>
              </a:ext>
            </a:extLst>
          </p:cNvPr>
          <p:cNvSpPr txBox="1"/>
          <p:nvPr/>
        </p:nvSpPr>
        <p:spPr>
          <a:xfrm>
            <a:off x="4851400" y="35687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A223C"/>
                </a:solidFill>
                <a:latin typeface="Aptos" panose="020B0004020202020204" pitchFamily="34" charset="0"/>
              </a:rPr>
              <a:t>FastAPI routes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33D502B-AF67-5F0C-E09C-71741E9C284C}"/>
              </a:ext>
            </a:extLst>
          </p:cNvPr>
          <p:cNvSpPr/>
          <p:nvPr/>
        </p:nvSpPr>
        <p:spPr>
          <a:xfrm>
            <a:off x="4495800" y="4038600"/>
            <a:ext cx="228600" cy="2286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DE38FD1-E95B-5D02-3D88-FEFD156FBBFE}"/>
              </a:ext>
            </a:extLst>
          </p:cNvPr>
          <p:cNvSpPr txBox="1"/>
          <p:nvPr/>
        </p:nvSpPr>
        <p:spPr>
          <a:xfrm>
            <a:off x="4546600" y="4064000"/>
            <a:ext cx="12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00" b="1">
                <a:solidFill>
                  <a:srgbClr val="268EDA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EDED37-A68A-5981-6CFF-F60CC2BE0FC5}"/>
              </a:ext>
            </a:extLst>
          </p:cNvPr>
          <p:cNvSpPr txBox="1"/>
          <p:nvPr/>
        </p:nvSpPr>
        <p:spPr>
          <a:xfrm>
            <a:off x="4851400" y="4025900"/>
            <a:ext cx="2286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A223C"/>
                </a:solidFill>
                <a:latin typeface="Aptos" panose="020B0004020202020204" pitchFamily="34" charset="0"/>
              </a:rPr>
              <a:t>Chrome extension entry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BBC709B-990D-9FBF-7837-6AA0335E4EC3}"/>
              </a:ext>
            </a:extLst>
          </p:cNvPr>
          <p:cNvSpPr/>
          <p:nvPr/>
        </p:nvSpPr>
        <p:spPr>
          <a:xfrm>
            <a:off x="7772400" y="2184400"/>
            <a:ext cx="3200400" cy="2514600"/>
          </a:xfrm>
          <a:prstGeom prst="roundRect">
            <a:avLst/>
          </a:prstGeom>
          <a:solidFill>
            <a:srgbClr val="E6FAF6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206F87D-BC37-23EF-5D1F-737820536557}"/>
              </a:ext>
            </a:extLst>
          </p:cNvPr>
          <p:cNvSpPr txBox="1"/>
          <p:nvPr/>
        </p:nvSpPr>
        <p:spPr>
          <a:xfrm>
            <a:off x="8051800" y="2489200"/>
            <a:ext cx="2641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200" b="1">
                <a:solidFill>
                  <a:srgbClr val="21C294"/>
                </a:solidFill>
                <a:latin typeface="Aptos" panose="020B0004020202020204" pitchFamily="34" charset="0"/>
              </a:rPr>
              <a:t>Data model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FEFF88E-4CBA-0DB7-07F6-47BD461F287C}"/>
              </a:ext>
            </a:extLst>
          </p:cNvPr>
          <p:cNvSpPr/>
          <p:nvPr/>
        </p:nvSpPr>
        <p:spPr>
          <a:xfrm>
            <a:off x="8077200" y="3124200"/>
            <a:ext cx="228600" cy="2286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4A616C8-BB2B-E2B8-DDA9-263F04802C9A}"/>
              </a:ext>
            </a:extLst>
          </p:cNvPr>
          <p:cNvSpPr txBox="1"/>
          <p:nvPr/>
        </p:nvSpPr>
        <p:spPr>
          <a:xfrm>
            <a:off x="8128000" y="3149600"/>
            <a:ext cx="12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00" b="1">
                <a:solidFill>
                  <a:srgbClr val="21C294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BED4B2D-71CB-468D-8275-5AA5653B1B69}"/>
              </a:ext>
            </a:extLst>
          </p:cNvPr>
          <p:cNvSpPr txBox="1"/>
          <p:nvPr/>
        </p:nvSpPr>
        <p:spPr>
          <a:xfrm>
            <a:off x="8432800" y="3111500"/>
            <a:ext cx="2286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A223C"/>
                </a:solidFill>
                <a:latin typeface="Aptos" panose="020B0004020202020204" pitchFamily="34" charset="0"/>
              </a:rPr>
              <a:t>Matched / missing skills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0693F73-A83D-9C5D-BF09-41F59E8C6969}"/>
              </a:ext>
            </a:extLst>
          </p:cNvPr>
          <p:cNvSpPr/>
          <p:nvPr/>
        </p:nvSpPr>
        <p:spPr>
          <a:xfrm>
            <a:off x="8077200" y="3581400"/>
            <a:ext cx="228600" cy="2286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1AFA002-8B6F-91B7-E37A-B310630D7C55}"/>
              </a:ext>
            </a:extLst>
          </p:cNvPr>
          <p:cNvSpPr txBox="1"/>
          <p:nvPr/>
        </p:nvSpPr>
        <p:spPr>
          <a:xfrm>
            <a:off x="8128000" y="3606800"/>
            <a:ext cx="12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00" b="1">
                <a:solidFill>
                  <a:srgbClr val="21C294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4DB3BC-62BB-A655-A302-B473A83843C4}"/>
              </a:ext>
            </a:extLst>
          </p:cNvPr>
          <p:cNvSpPr txBox="1"/>
          <p:nvPr/>
        </p:nvSpPr>
        <p:spPr>
          <a:xfrm>
            <a:off x="8432800" y="35687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A223C"/>
                </a:solidFill>
                <a:latin typeface="Aptos" panose="020B0004020202020204" pitchFamily="34" charset="0"/>
              </a:rPr>
              <a:t>Score + assessments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5A91928-9CAB-3042-DDEC-FBC9FB8E1C96}"/>
              </a:ext>
            </a:extLst>
          </p:cNvPr>
          <p:cNvSpPr/>
          <p:nvPr/>
        </p:nvSpPr>
        <p:spPr>
          <a:xfrm>
            <a:off x="8077200" y="4038600"/>
            <a:ext cx="228600" cy="2286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A88BFA5-D205-6657-0E21-E2871EEE1B3E}"/>
              </a:ext>
            </a:extLst>
          </p:cNvPr>
          <p:cNvSpPr txBox="1"/>
          <p:nvPr/>
        </p:nvSpPr>
        <p:spPr>
          <a:xfrm>
            <a:off x="8128000" y="4064000"/>
            <a:ext cx="12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00" b="1">
                <a:solidFill>
                  <a:srgbClr val="21C294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F55DABA-B8E3-BCE3-63F2-41C75394BFB0}"/>
              </a:ext>
            </a:extLst>
          </p:cNvPr>
          <p:cNvSpPr txBox="1"/>
          <p:nvPr/>
        </p:nvSpPr>
        <p:spPr>
          <a:xfrm>
            <a:off x="8432800" y="4025900"/>
            <a:ext cx="2286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A223C"/>
                </a:solidFill>
                <a:latin typeface="Aptos" panose="020B0004020202020204" pitchFamily="34" charset="0"/>
              </a:rPr>
              <a:t>Actions + interview prompts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3161A62-748F-06B4-DAA1-533F380413FD}"/>
              </a:ext>
            </a:extLst>
          </p:cNvPr>
          <p:cNvSpPr/>
          <p:nvPr/>
        </p:nvSpPr>
        <p:spPr>
          <a:xfrm>
            <a:off x="609600" y="5130800"/>
            <a:ext cx="10363200" cy="711200"/>
          </a:xfrm>
          <a:prstGeom prst="roundRect">
            <a:avLst/>
          </a:prstGeom>
          <a:solidFill>
            <a:srgbClr val="0F17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2EFD4B8-34AF-CCF8-FDD9-B957BF93BD71}"/>
              </a:ext>
            </a:extLst>
          </p:cNvPr>
          <p:cNvSpPr txBox="1"/>
          <p:nvPr/>
        </p:nvSpPr>
        <p:spPr>
          <a:xfrm>
            <a:off x="914400" y="5372100"/>
            <a:ext cx="97536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Aptos" panose="020B0004020202020204" pitchFamily="34" charset="0"/>
              </a:rPr>
              <a:t>Role-constrained prompt  →  Groq-hosted Llama model  →  JSON schema validation  →  action-oriented report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42A9DFE-E30A-7B22-BCAC-37A2391FBF52}"/>
              </a:ext>
            </a:extLst>
          </p:cNvPr>
          <p:cNvSpPr txBox="1"/>
          <p:nvPr/>
        </p:nvSpPr>
        <p:spPr>
          <a:xfrm>
            <a:off x="609600" y="65532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900">
                <a:solidFill>
                  <a:srgbClr val="5D6C8E"/>
                </a:solidFill>
                <a:latin typeface="Aptos" panose="020B0004020202020204" pitchFamily="34" charset="0"/>
              </a:rPr>
              <a:t>MSE-1 | KIET MCA | Personalized Career Mentor AI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4A65E9A-9D9B-38EA-BA66-FBD4A2505CD1}"/>
              </a:ext>
            </a:extLst>
          </p:cNvPr>
          <p:cNvSpPr txBox="1"/>
          <p:nvPr/>
        </p:nvSpPr>
        <p:spPr>
          <a:xfrm>
            <a:off x="11303000" y="6553200"/>
            <a:ext cx="279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900" b="1">
                <a:solidFill>
                  <a:srgbClr val="5D6C8E"/>
                </a:solidFill>
                <a:latin typeface="Aptos" panose="020B0004020202020204" pitchFamily="34" charset="0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90773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16BC99-9A4B-5098-FA96-4091F1DE1BF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3A63092-1C76-8AB5-E6F7-4116BEFF8536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5B43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C80632-43CB-4C7A-1793-6B67E4FDB933}"/>
              </a:ext>
            </a:extLst>
          </p:cNvPr>
          <p:cNvSpPr txBox="1"/>
          <p:nvPr/>
        </p:nvSpPr>
        <p:spPr>
          <a:xfrm>
            <a:off x="609600" y="3302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INTERFACE &amp; OUTPUT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D0BBCC-DEC1-CB44-F4AE-8712531B53DF}"/>
              </a:ext>
            </a:extLst>
          </p:cNvPr>
          <p:cNvSpPr txBox="1"/>
          <p:nvPr/>
        </p:nvSpPr>
        <p:spPr>
          <a:xfrm>
            <a:off x="609600" y="635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3000" b="1">
                <a:solidFill>
                  <a:srgbClr val="0F1734"/>
                </a:solidFill>
                <a:latin typeface="Aptos" panose="020B0004020202020204" pitchFamily="34" charset="0"/>
              </a:rPr>
              <a:t>Product evidence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09FA7D-05FD-904F-05C3-8521B5DBFB80}"/>
              </a:ext>
            </a:extLst>
          </p:cNvPr>
          <p:cNvSpPr txBox="1"/>
          <p:nvPr/>
        </p:nvSpPr>
        <p:spPr>
          <a:xfrm>
            <a:off x="609600" y="12192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D6C8E"/>
                </a:solidFill>
                <a:latin typeface="Aptos" panose="020B0004020202020204" pitchFamily="34" charset="0"/>
              </a:rPr>
              <a:t>The interface is designed to make a complex analysis easy to scan and act on.</a:t>
            </a:r>
            <a:endParaRPr lang="en-IN" sz="15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21E723-39E5-0F34-F341-7363BF4B2758}"/>
              </a:ext>
            </a:extLst>
          </p:cNvPr>
          <p:cNvCxnSpPr/>
          <p:nvPr/>
        </p:nvCxnSpPr>
        <p:spPr>
          <a:xfrm>
            <a:off x="609600" y="1625600"/>
            <a:ext cx="10972800" cy="0"/>
          </a:xfrm>
          <a:prstGeom prst="line">
            <a:avLst/>
          </a:prstGeom>
          <a:ln w="12700">
            <a:solidFill>
              <a:srgbClr val="D7E0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1E0839A-B0BD-646C-E133-1CBA98EA0DC9}"/>
              </a:ext>
            </a:extLst>
          </p:cNvPr>
          <p:cNvSpPr/>
          <p:nvPr/>
        </p:nvSpPr>
        <p:spPr>
          <a:xfrm>
            <a:off x="9601200" y="330200"/>
            <a:ext cx="1981200" cy="304800"/>
          </a:xfrm>
          <a:prstGeom prst="roundRect">
            <a:avLst/>
          </a:prstGeom>
          <a:solidFill>
            <a:srgbClr val="E9F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3D3E19-8F40-B456-9DD2-855638CAD13F}"/>
              </a:ext>
            </a:extLst>
          </p:cNvPr>
          <p:cNvSpPr txBox="1"/>
          <p:nvPr/>
        </p:nvSpPr>
        <p:spPr>
          <a:xfrm>
            <a:off x="9728200" y="381000"/>
            <a:ext cx="17272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268EDA"/>
                </a:solidFill>
                <a:latin typeface="Aptos" panose="020B0004020202020204" pitchFamily="34" charset="0"/>
              </a:rPr>
              <a:t>REPRESENTATIVE UI DIRECTION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EEE756C-2DD0-EC4E-0983-2A75524C323F}"/>
              </a:ext>
            </a:extLst>
          </p:cNvPr>
          <p:cNvSpPr/>
          <p:nvPr/>
        </p:nvSpPr>
        <p:spPr>
          <a:xfrm>
            <a:off x="609600" y="1955800"/>
            <a:ext cx="6197600" cy="3733800"/>
          </a:xfrm>
          <a:prstGeom prst="roundRect">
            <a:avLst/>
          </a:prstGeom>
          <a:solidFill>
            <a:srgbClr val="0F17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41CAC87-1941-5818-6297-FB116DC2E3F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057400"/>
            <a:ext cx="5994400" cy="35306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52D5C41-C3E0-4706-44BF-D383CDF4197F}"/>
              </a:ext>
            </a:extLst>
          </p:cNvPr>
          <p:cNvSpPr txBox="1"/>
          <p:nvPr/>
        </p:nvSpPr>
        <p:spPr>
          <a:xfrm>
            <a:off x="965200" y="2235200"/>
            <a:ext cx="266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200" b="1">
                <a:solidFill>
                  <a:srgbClr val="FFFFFF"/>
                </a:solidFill>
                <a:latin typeface="Aptos" panose="020B0004020202020204" pitchFamily="34" charset="0"/>
              </a:rPr>
              <a:t>Resume Matcher AI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54AC88C-6B12-661B-2DC4-40F150F96A03}"/>
              </a:ext>
            </a:extLst>
          </p:cNvPr>
          <p:cNvSpPr/>
          <p:nvPr/>
        </p:nvSpPr>
        <p:spPr>
          <a:xfrm>
            <a:off x="965200" y="5130800"/>
            <a:ext cx="1854200" cy="304800"/>
          </a:xfrm>
          <a:prstGeom prst="roundRect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56BF5B-29A0-E2A7-7C9D-70D0F00560C2}"/>
              </a:ext>
            </a:extLst>
          </p:cNvPr>
          <p:cNvSpPr txBox="1"/>
          <p:nvPr/>
        </p:nvSpPr>
        <p:spPr>
          <a:xfrm>
            <a:off x="1092200" y="5181600"/>
            <a:ext cx="16002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AI CAREER OPTIMIZATION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C81FC3-7106-4936-66FD-6BF77BC2C21A}"/>
              </a:ext>
            </a:extLst>
          </p:cNvPr>
          <p:cNvSpPr txBox="1"/>
          <p:nvPr/>
        </p:nvSpPr>
        <p:spPr>
          <a:xfrm>
            <a:off x="7239000" y="2032000"/>
            <a:ext cx="4064000" cy="120032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0F1734"/>
                </a:solidFill>
                <a:latin typeface="Aptos" panose="020B0004020202020204" pitchFamily="34" charset="0"/>
              </a:rPr>
              <a:t>A visual language inspired by the supplied project screens: light network background, rounded white cards, navy ink, and blue-violet accents.</a:t>
            </a:r>
            <a:endParaRPr lang="en-IN" b="1">
              <a:solidFill>
                <a:srgbClr val="0F1734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BD9BD19-5C73-C3F7-0FBF-26B33E6BA7F9}"/>
              </a:ext>
            </a:extLst>
          </p:cNvPr>
          <p:cNvSpPr/>
          <p:nvPr/>
        </p:nvSpPr>
        <p:spPr>
          <a:xfrm>
            <a:off x="7239000" y="3606800"/>
            <a:ext cx="4064000" cy="736600"/>
          </a:xfrm>
          <a:prstGeom prst="roundRect">
            <a:avLst/>
          </a:prstGeom>
          <a:solidFill>
            <a:srgbClr val="F2EEFF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71B908-18F8-C09C-D4CF-8B527E76291F}"/>
              </a:ext>
            </a:extLst>
          </p:cNvPr>
          <p:cNvSpPr txBox="1"/>
          <p:nvPr/>
        </p:nvSpPr>
        <p:spPr>
          <a:xfrm>
            <a:off x="7518400" y="3733800"/>
            <a:ext cx="160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600" b="1">
                <a:solidFill>
                  <a:srgbClr val="5B43F2"/>
                </a:solidFill>
                <a:latin typeface="Aptos" panose="020B0004020202020204" pitchFamily="34" charset="0"/>
              </a:rPr>
              <a:t>Match score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087F34-2A81-5A4F-4329-EB13139BBD32}"/>
              </a:ext>
            </a:extLst>
          </p:cNvPr>
          <p:cNvSpPr txBox="1"/>
          <p:nvPr/>
        </p:nvSpPr>
        <p:spPr>
          <a:xfrm>
            <a:off x="9245600" y="3733800"/>
            <a:ext cx="1803400" cy="92333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5D6C8E"/>
                </a:solidFill>
                <a:latin typeface="Aptos" panose="020B0004020202020204" pitchFamily="34" charset="0"/>
              </a:rPr>
              <a:t>A single alignment signal for the role</a:t>
            </a:r>
            <a:endParaRPr lang="en-IN" sz="12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A294F8D-9E1A-955D-66AA-A43B0B284914}"/>
              </a:ext>
            </a:extLst>
          </p:cNvPr>
          <p:cNvSpPr/>
          <p:nvPr/>
        </p:nvSpPr>
        <p:spPr>
          <a:xfrm>
            <a:off x="7239000" y="4495800"/>
            <a:ext cx="4064000" cy="736600"/>
          </a:xfrm>
          <a:prstGeom prst="roundRect">
            <a:avLst/>
          </a:prstGeom>
          <a:solidFill>
            <a:srgbClr val="E6FAF6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7A8FBB-E71F-F3AB-4A4D-4A1CF3A33266}"/>
              </a:ext>
            </a:extLst>
          </p:cNvPr>
          <p:cNvSpPr txBox="1"/>
          <p:nvPr/>
        </p:nvSpPr>
        <p:spPr>
          <a:xfrm>
            <a:off x="7518400" y="4622800"/>
            <a:ext cx="160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600" b="1">
                <a:solidFill>
                  <a:srgbClr val="21C294"/>
                </a:solidFill>
                <a:latin typeface="Aptos" panose="020B0004020202020204" pitchFamily="34" charset="0"/>
              </a:rPr>
              <a:t>Skill groups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2633E4-FDF0-4803-D3B0-DC0490B59C7A}"/>
              </a:ext>
            </a:extLst>
          </p:cNvPr>
          <p:cNvSpPr txBox="1"/>
          <p:nvPr/>
        </p:nvSpPr>
        <p:spPr>
          <a:xfrm>
            <a:off x="9245600" y="4622800"/>
            <a:ext cx="1803400" cy="92333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5D6C8E"/>
                </a:solidFill>
                <a:latin typeface="Aptos" panose="020B0004020202020204" pitchFamily="34" charset="0"/>
              </a:rPr>
              <a:t>Matched, missing, and transferable skills</a:t>
            </a:r>
            <a:endParaRPr lang="en-IN" sz="12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0D7D81F-7B32-DBFB-A321-795853E2E65C}"/>
              </a:ext>
            </a:extLst>
          </p:cNvPr>
          <p:cNvSpPr/>
          <p:nvPr/>
        </p:nvSpPr>
        <p:spPr>
          <a:xfrm>
            <a:off x="7239000" y="5384800"/>
            <a:ext cx="4064000" cy="736600"/>
          </a:xfrm>
          <a:prstGeom prst="roundRect">
            <a:avLst/>
          </a:prstGeom>
          <a:solidFill>
            <a:srgbClr val="FFF6E4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7245A7-AD20-B36E-A6F6-E6D6AD87C924}"/>
              </a:ext>
            </a:extLst>
          </p:cNvPr>
          <p:cNvSpPr txBox="1"/>
          <p:nvPr/>
        </p:nvSpPr>
        <p:spPr>
          <a:xfrm>
            <a:off x="7518400" y="5511800"/>
            <a:ext cx="16002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600" b="1">
                <a:solidFill>
                  <a:srgbClr val="EE8F22"/>
                </a:solidFill>
                <a:latin typeface="Aptos" panose="020B0004020202020204" pitchFamily="34" charset="0"/>
              </a:rPr>
              <a:t>Action roadmap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CFC4B9-E064-6ED1-1826-FC2FE1A6976E}"/>
              </a:ext>
            </a:extLst>
          </p:cNvPr>
          <p:cNvSpPr txBox="1"/>
          <p:nvPr/>
        </p:nvSpPr>
        <p:spPr>
          <a:xfrm>
            <a:off x="9245600" y="5511800"/>
            <a:ext cx="1803400" cy="120032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5D6C8E"/>
                </a:solidFill>
                <a:latin typeface="Aptos" panose="020B0004020202020204" pitchFamily="34" charset="0"/>
              </a:rPr>
              <a:t>Prioritized improvements and interview prep</a:t>
            </a:r>
            <a:endParaRPr lang="en-IN" sz="12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2F3D88-ED46-BFE9-1D0E-3B26F9D15840}"/>
              </a:ext>
            </a:extLst>
          </p:cNvPr>
          <p:cNvSpPr txBox="1"/>
          <p:nvPr/>
        </p:nvSpPr>
        <p:spPr>
          <a:xfrm>
            <a:off x="609600" y="65532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900">
                <a:solidFill>
                  <a:srgbClr val="5D6C8E"/>
                </a:solidFill>
                <a:latin typeface="Aptos" panose="020B0004020202020204" pitchFamily="34" charset="0"/>
              </a:rPr>
              <a:t>MSE-1 | KIET MCA | Personalized Career Mentor AI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CBEB97-5BFD-B4D0-781E-418AFBE4E8AB}"/>
              </a:ext>
            </a:extLst>
          </p:cNvPr>
          <p:cNvSpPr txBox="1"/>
          <p:nvPr/>
        </p:nvSpPr>
        <p:spPr>
          <a:xfrm>
            <a:off x="11303000" y="6553200"/>
            <a:ext cx="279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900" b="1">
                <a:solidFill>
                  <a:srgbClr val="5D6C8E"/>
                </a:solidFill>
                <a:latin typeface="Aptos" panose="020B0004020202020204" pitchFamily="34" charset="0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85822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921328-4D89-308E-5F5B-69664DEA0B6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3A40BE5-BE26-663F-4344-69DF9CB5124D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5B43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271711-56ED-7268-565B-6C1E3A7AE603}"/>
              </a:ext>
            </a:extLst>
          </p:cNvPr>
          <p:cNvSpPr txBox="1"/>
          <p:nvPr/>
        </p:nvSpPr>
        <p:spPr>
          <a:xfrm>
            <a:off x="609600" y="3302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IMPLEMENTATION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A18CD8-7703-4885-2DEC-0CD5F54A6EF9}"/>
              </a:ext>
            </a:extLst>
          </p:cNvPr>
          <p:cNvSpPr txBox="1"/>
          <p:nvPr/>
        </p:nvSpPr>
        <p:spPr>
          <a:xfrm>
            <a:off x="609600" y="635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3000" b="1">
                <a:solidFill>
                  <a:srgbClr val="0F1734"/>
                </a:solidFill>
                <a:latin typeface="Aptos" panose="020B0004020202020204" pitchFamily="34" charset="0"/>
              </a:rPr>
              <a:t>Technology stack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651220-F978-331A-22CC-7BBAB1B13D5F}"/>
              </a:ext>
            </a:extLst>
          </p:cNvPr>
          <p:cNvSpPr txBox="1"/>
          <p:nvPr/>
        </p:nvSpPr>
        <p:spPr>
          <a:xfrm>
            <a:off x="609600" y="12192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D6C8E"/>
                </a:solidFill>
                <a:latin typeface="Aptos" panose="020B0004020202020204" pitchFamily="34" charset="0"/>
              </a:rPr>
              <a:t>A component-based client-server design connects the user experience to a validated AI service.</a:t>
            </a:r>
            <a:endParaRPr lang="en-IN" sz="15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F325ED-5003-B715-12E1-7C00E3A3E482}"/>
              </a:ext>
            </a:extLst>
          </p:cNvPr>
          <p:cNvCxnSpPr/>
          <p:nvPr/>
        </p:nvCxnSpPr>
        <p:spPr>
          <a:xfrm>
            <a:off x="609600" y="1625600"/>
            <a:ext cx="10972800" cy="0"/>
          </a:xfrm>
          <a:prstGeom prst="line">
            <a:avLst/>
          </a:prstGeom>
          <a:ln w="12700">
            <a:solidFill>
              <a:srgbClr val="D7E0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7EDD1-48D9-ABAE-E566-A2B9D7A5E6C0}"/>
              </a:ext>
            </a:extLst>
          </p:cNvPr>
          <p:cNvSpPr/>
          <p:nvPr/>
        </p:nvSpPr>
        <p:spPr>
          <a:xfrm>
            <a:off x="10236200" y="330200"/>
            <a:ext cx="1346200" cy="304800"/>
          </a:xfrm>
          <a:prstGeom prst="roundRect">
            <a:avLst/>
          </a:prstGeom>
          <a:solidFill>
            <a:srgbClr val="E6FA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35B582-1388-8181-3EBA-7DAF3C6A8718}"/>
              </a:ext>
            </a:extLst>
          </p:cNvPr>
          <p:cNvSpPr txBox="1"/>
          <p:nvPr/>
        </p:nvSpPr>
        <p:spPr>
          <a:xfrm>
            <a:off x="10363200" y="381000"/>
            <a:ext cx="10922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21C294"/>
                </a:solidFill>
                <a:latin typeface="Aptos" panose="020B0004020202020204" pitchFamily="34" charset="0"/>
              </a:rPr>
              <a:t>BUILD &amp; DEPLOY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58D24AB-1CCB-14DC-EFF3-5D5A89698F26}"/>
              </a:ext>
            </a:extLst>
          </p:cNvPr>
          <p:cNvSpPr/>
          <p:nvPr/>
        </p:nvSpPr>
        <p:spPr>
          <a:xfrm>
            <a:off x="609600" y="2032000"/>
            <a:ext cx="10972800" cy="584200"/>
          </a:xfrm>
          <a:prstGeom prst="roundRect">
            <a:avLst/>
          </a:prstGeom>
          <a:solidFill>
            <a:srgbClr val="F2EEFF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62442FE-A376-396C-D5ED-C0A12F9425DB}"/>
              </a:ext>
            </a:extLst>
          </p:cNvPr>
          <p:cNvSpPr/>
          <p:nvPr/>
        </p:nvSpPr>
        <p:spPr>
          <a:xfrm>
            <a:off x="812800" y="2171700"/>
            <a:ext cx="1320800" cy="304800"/>
          </a:xfrm>
          <a:prstGeom prst="roundRect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CDED61-1823-0EC1-F430-240B72057AFF}"/>
              </a:ext>
            </a:extLst>
          </p:cNvPr>
          <p:cNvSpPr txBox="1"/>
          <p:nvPr/>
        </p:nvSpPr>
        <p:spPr>
          <a:xfrm>
            <a:off x="939800" y="22225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Frontend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FFF05B-67E8-53E8-7F09-4C114A4AAC4E}"/>
              </a:ext>
            </a:extLst>
          </p:cNvPr>
          <p:cNvSpPr txBox="1"/>
          <p:nvPr/>
        </p:nvSpPr>
        <p:spPr>
          <a:xfrm>
            <a:off x="2387600" y="2209800"/>
            <a:ext cx="883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0F1734"/>
                </a:solidFill>
                <a:latin typeface="Aptos" panose="020B0004020202020204" pitchFamily="34" charset="0"/>
              </a:rPr>
              <a:t>Next.js 16  |  React 18  |  JSX/CSS  |  Framer Motion  |  Recharts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11E9CDC-0AE4-AD52-781B-A0178AA58572}"/>
              </a:ext>
            </a:extLst>
          </p:cNvPr>
          <p:cNvSpPr/>
          <p:nvPr/>
        </p:nvSpPr>
        <p:spPr>
          <a:xfrm>
            <a:off x="609600" y="2819400"/>
            <a:ext cx="10972800" cy="584200"/>
          </a:xfrm>
          <a:prstGeom prst="roundRect">
            <a:avLst/>
          </a:prstGeom>
          <a:solidFill>
            <a:srgbClr val="E9F4FF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503AF04-A502-2269-8DBA-331B0A07F0CB}"/>
              </a:ext>
            </a:extLst>
          </p:cNvPr>
          <p:cNvSpPr/>
          <p:nvPr/>
        </p:nvSpPr>
        <p:spPr>
          <a:xfrm>
            <a:off x="812800" y="2959100"/>
            <a:ext cx="1320800" cy="304800"/>
          </a:xfrm>
          <a:prstGeom prst="roundRect">
            <a:avLst/>
          </a:prstGeom>
          <a:solidFill>
            <a:srgbClr val="E9F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C27304-186E-0F6A-25A3-AFCA232FB08E}"/>
              </a:ext>
            </a:extLst>
          </p:cNvPr>
          <p:cNvSpPr txBox="1"/>
          <p:nvPr/>
        </p:nvSpPr>
        <p:spPr>
          <a:xfrm>
            <a:off x="939800" y="30099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268EDA"/>
                </a:solidFill>
                <a:latin typeface="Aptos" panose="020B0004020202020204" pitchFamily="34" charset="0"/>
              </a:rPr>
              <a:t>Backend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B742E0-0F71-1093-B55F-EA28F1E22219}"/>
              </a:ext>
            </a:extLst>
          </p:cNvPr>
          <p:cNvSpPr txBox="1"/>
          <p:nvPr/>
        </p:nvSpPr>
        <p:spPr>
          <a:xfrm>
            <a:off x="2387600" y="2997200"/>
            <a:ext cx="883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0F1734"/>
                </a:solidFill>
                <a:latin typeface="Aptos" panose="020B0004020202020204" pitchFamily="34" charset="0"/>
              </a:rPr>
              <a:t>Python  |  FastAPI  |  Uvicorn  |  Pydantic  |  pypdf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E2EE875-0EA4-4F52-39AD-3A3F6995C06C}"/>
              </a:ext>
            </a:extLst>
          </p:cNvPr>
          <p:cNvSpPr/>
          <p:nvPr/>
        </p:nvSpPr>
        <p:spPr>
          <a:xfrm>
            <a:off x="609600" y="3606800"/>
            <a:ext cx="10972800" cy="584200"/>
          </a:xfrm>
          <a:prstGeom prst="roundRect">
            <a:avLst/>
          </a:prstGeom>
          <a:solidFill>
            <a:srgbClr val="E6FAF6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4E9EDAA-ABED-6FE6-53EE-6DD8046D093D}"/>
              </a:ext>
            </a:extLst>
          </p:cNvPr>
          <p:cNvSpPr/>
          <p:nvPr/>
        </p:nvSpPr>
        <p:spPr>
          <a:xfrm>
            <a:off x="812800" y="3746500"/>
            <a:ext cx="1320800" cy="304800"/>
          </a:xfrm>
          <a:prstGeom prst="roundRect">
            <a:avLst/>
          </a:prstGeom>
          <a:solidFill>
            <a:srgbClr val="E6FA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0B1FA5-AE5A-4C3B-47C9-C2AC2B6A1ED1}"/>
              </a:ext>
            </a:extLst>
          </p:cNvPr>
          <p:cNvSpPr txBox="1"/>
          <p:nvPr/>
        </p:nvSpPr>
        <p:spPr>
          <a:xfrm>
            <a:off x="939800" y="3797300"/>
            <a:ext cx="1066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15B9DC"/>
                </a:solidFill>
                <a:latin typeface="Aptos" panose="020B0004020202020204" pitchFamily="34" charset="0"/>
              </a:rPr>
              <a:t>AI service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88E912-3FA4-A71A-AE87-68D168D61974}"/>
              </a:ext>
            </a:extLst>
          </p:cNvPr>
          <p:cNvSpPr txBox="1"/>
          <p:nvPr/>
        </p:nvSpPr>
        <p:spPr>
          <a:xfrm>
            <a:off x="2387600" y="3784600"/>
            <a:ext cx="883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0F1734"/>
                </a:solidFill>
                <a:latin typeface="Aptos" panose="020B0004020202020204" pitchFamily="34" charset="0"/>
              </a:rPr>
              <a:t>LangChain  |  langchain-groq  |  Groq-hosted Llama models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55555A2-D003-0FB6-6039-58FC1AD552B8}"/>
              </a:ext>
            </a:extLst>
          </p:cNvPr>
          <p:cNvSpPr/>
          <p:nvPr/>
        </p:nvSpPr>
        <p:spPr>
          <a:xfrm>
            <a:off x="609600" y="4394200"/>
            <a:ext cx="10972800" cy="584200"/>
          </a:xfrm>
          <a:prstGeom prst="roundRect">
            <a:avLst/>
          </a:prstGeom>
          <a:solidFill>
            <a:srgbClr val="FFF6E4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AA13AC9-520B-5E81-0752-AEEFA61A8D35}"/>
              </a:ext>
            </a:extLst>
          </p:cNvPr>
          <p:cNvSpPr/>
          <p:nvPr/>
        </p:nvSpPr>
        <p:spPr>
          <a:xfrm>
            <a:off x="812800" y="4533900"/>
            <a:ext cx="1320800" cy="304800"/>
          </a:xfrm>
          <a:prstGeom prst="roundRect">
            <a:avLst/>
          </a:prstGeom>
          <a:solidFill>
            <a:srgbClr val="FFF6E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9D80E2-DF78-93AD-8528-C3E044920D7D}"/>
              </a:ext>
            </a:extLst>
          </p:cNvPr>
          <p:cNvSpPr txBox="1"/>
          <p:nvPr/>
        </p:nvSpPr>
        <p:spPr>
          <a:xfrm>
            <a:off x="939800" y="4584700"/>
            <a:ext cx="1066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EE8F22"/>
                </a:solidFill>
                <a:latin typeface="Aptos" panose="020B0004020202020204" pitchFamily="34" charset="0"/>
              </a:rPr>
              <a:t>Extension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2B5072-2D2D-CC3D-4B99-711A47216B7B}"/>
              </a:ext>
            </a:extLst>
          </p:cNvPr>
          <p:cNvSpPr txBox="1"/>
          <p:nvPr/>
        </p:nvSpPr>
        <p:spPr>
          <a:xfrm>
            <a:off x="2387600" y="4572000"/>
            <a:ext cx="883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0F1734"/>
                </a:solidFill>
                <a:latin typeface="Aptos" panose="020B0004020202020204" pitchFamily="34" charset="0"/>
              </a:rPr>
              <a:t>Chrome Manifest V3  |  local storage  |  LinkedIn page extraction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D90B902-9037-5FAC-81F9-DB86DAEB243E}"/>
              </a:ext>
            </a:extLst>
          </p:cNvPr>
          <p:cNvSpPr/>
          <p:nvPr/>
        </p:nvSpPr>
        <p:spPr>
          <a:xfrm>
            <a:off x="609600" y="5181600"/>
            <a:ext cx="10972800" cy="584200"/>
          </a:xfrm>
          <a:prstGeom prst="roundRect">
            <a:avLst/>
          </a:prstGeom>
          <a:solidFill>
            <a:srgbClr val="FFEFF6"/>
          </a:solidFill>
          <a:ln w="12700">
            <a:solidFill>
              <a:srgbClr val="D7E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C533380-C30B-8F4F-CA1F-8344A32509C5}"/>
              </a:ext>
            </a:extLst>
          </p:cNvPr>
          <p:cNvSpPr/>
          <p:nvPr/>
        </p:nvSpPr>
        <p:spPr>
          <a:xfrm>
            <a:off x="812800" y="5321300"/>
            <a:ext cx="1320800" cy="304800"/>
          </a:xfrm>
          <a:prstGeom prst="roundRect">
            <a:avLst/>
          </a:prstGeom>
          <a:solidFill>
            <a:srgbClr val="FFEF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D4BC3B-B39F-7494-1732-2537A2174EB5}"/>
              </a:ext>
            </a:extLst>
          </p:cNvPr>
          <p:cNvSpPr txBox="1"/>
          <p:nvPr/>
        </p:nvSpPr>
        <p:spPr>
          <a:xfrm>
            <a:off x="939800" y="5372100"/>
            <a:ext cx="10668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100" b="1">
                <a:solidFill>
                  <a:srgbClr val="F469A6"/>
                </a:solidFill>
                <a:latin typeface="Aptos" panose="020B0004020202020204" pitchFamily="34" charset="0"/>
              </a:rPr>
              <a:t>Deployment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677536-6465-EA92-F39B-807B270A6E5B}"/>
              </a:ext>
            </a:extLst>
          </p:cNvPr>
          <p:cNvSpPr txBox="1"/>
          <p:nvPr/>
        </p:nvSpPr>
        <p:spPr>
          <a:xfrm>
            <a:off x="2387600" y="5359400"/>
            <a:ext cx="883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0F1734"/>
                </a:solidFill>
                <a:latin typeface="Aptos" panose="020B0004020202020204" pitchFamily="34" charset="0"/>
              </a:rPr>
              <a:t>Vercel frontend config  |  Docker / Azure-oriented backend startup</a:t>
            </a:r>
            <a:endParaRPr lang="en-IN" sz="1500" b="1">
              <a:solidFill>
                <a:srgbClr val="0F1734"/>
              </a:solidFill>
              <a:latin typeface="Aptos" panose="020B00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777C319-ADB4-F8F2-2B0F-6AC4AF55E956}"/>
              </a:ext>
            </a:extLst>
          </p:cNvPr>
          <p:cNvSpPr txBox="1"/>
          <p:nvPr/>
        </p:nvSpPr>
        <p:spPr>
          <a:xfrm>
            <a:off x="609600" y="6045200"/>
            <a:ext cx="10668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5D6C8E"/>
                </a:solidFill>
                <a:latin typeface="Aptos" panose="020B0004020202020204" pitchFamily="34" charset="0"/>
              </a:rPr>
              <a:t>Repository structure keeps UI components, API routes, model schemas, extension files, and PDF parsing in focused modules.</a:t>
            </a:r>
            <a:endParaRPr lang="en-IN" sz="14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9F6837-9E29-0779-9400-BE23B55F2E3A}"/>
              </a:ext>
            </a:extLst>
          </p:cNvPr>
          <p:cNvSpPr txBox="1"/>
          <p:nvPr/>
        </p:nvSpPr>
        <p:spPr>
          <a:xfrm>
            <a:off x="609600" y="65532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900">
                <a:solidFill>
                  <a:srgbClr val="5D6C8E"/>
                </a:solidFill>
                <a:latin typeface="Aptos" panose="020B0004020202020204" pitchFamily="34" charset="0"/>
              </a:rPr>
              <a:t>MSE-1 | KIET MCA | Personalized Career Mentor AI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A2C361F-B389-F639-93F8-648EABD850EA}"/>
              </a:ext>
            </a:extLst>
          </p:cNvPr>
          <p:cNvSpPr txBox="1"/>
          <p:nvPr/>
        </p:nvSpPr>
        <p:spPr>
          <a:xfrm>
            <a:off x="11303000" y="6553200"/>
            <a:ext cx="279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900" b="1">
                <a:solidFill>
                  <a:srgbClr val="5D6C8E"/>
                </a:solidFill>
                <a:latin typeface="Aptos" panose="020B000402020202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837491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7B7B68-F16D-D274-1490-8F78315D549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0879EF0-62BE-B99D-1130-872796075E18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5B43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F3F737-FF9D-5096-25F1-FF76DBD51D46}"/>
              </a:ext>
            </a:extLst>
          </p:cNvPr>
          <p:cNvSpPr txBox="1"/>
          <p:nvPr/>
        </p:nvSpPr>
        <p:spPr>
          <a:xfrm>
            <a:off x="609600" y="3302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00" b="1">
                <a:solidFill>
                  <a:srgbClr val="5B43F2"/>
                </a:solidFill>
                <a:latin typeface="Aptos" panose="020B0004020202020204" pitchFamily="34" charset="0"/>
              </a:rPr>
              <a:t>METRIC 7 | COMPLETE JOURNEY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B4A489-313B-2585-32F5-65F3DCB97F61}"/>
              </a:ext>
            </a:extLst>
          </p:cNvPr>
          <p:cNvSpPr txBox="1"/>
          <p:nvPr/>
        </p:nvSpPr>
        <p:spPr>
          <a:xfrm>
            <a:off x="609600" y="635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 b="1">
                <a:solidFill>
                  <a:srgbClr val="0F1734"/>
                </a:solidFill>
                <a:latin typeface="Aptos" panose="020B0004020202020204" pitchFamily="34" charset="0"/>
              </a:rPr>
              <a:t>From understanding to a working career mentor</a:t>
            </a:r>
            <a:endParaRPr lang="en-IN" sz="3000" b="1">
              <a:solidFill>
                <a:srgbClr val="0F1734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A813DB-B9DD-AA1F-A858-98378AC4A82E}"/>
              </a:ext>
            </a:extLst>
          </p:cNvPr>
          <p:cNvSpPr txBox="1"/>
          <p:nvPr/>
        </p:nvSpPr>
        <p:spPr>
          <a:xfrm>
            <a:off x="609600" y="12192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D6C8E"/>
                </a:solidFill>
                <a:latin typeface="Aptos" panose="020B0004020202020204" pitchFamily="34" charset="0"/>
              </a:rPr>
              <a:t>The project connects a real user problem to a buildable, extensible solution.</a:t>
            </a:r>
            <a:endParaRPr lang="en-IN" sz="15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E237FA5-FE41-7EC7-02F8-2CA97F2D4EF6}"/>
              </a:ext>
            </a:extLst>
          </p:cNvPr>
          <p:cNvCxnSpPr/>
          <p:nvPr/>
        </p:nvCxnSpPr>
        <p:spPr>
          <a:xfrm>
            <a:off x="609600" y="1625600"/>
            <a:ext cx="10972800" cy="0"/>
          </a:xfrm>
          <a:prstGeom prst="line">
            <a:avLst/>
          </a:prstGeom>
          <a:ln w="12700">
            <a:solidFill>
              <a:srgbClr val="D7E0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2A9845C-BD8D-1575-E79F-51D6FC68C647}"/>
              </a:ext>
            </a:extLst>
          </p:cNvPr>
          <p:cNvSpPr/>
          <p:nvPr/>
        </p:nvSpPr>
        <p:spPr>
          <a:xfrm>
            <a:off x="609600" y="1981200"/>
            <a:ext cx="10972800" cy="939800"/>
          </a:xfrm>
          <a:prstGeom prst="roundRect">
            <a:avLst/>
          </a:prstGeom>
          <a:solidFill>
            <a:srgbClr val="0F17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314887-BFAF-986A-BAD8-D02BE7CD0929}"/>
              </a:ext>
            </a:extLst>
          </p:cNvPr>
          <p:cNvSpPr txBox="1"/>
          <p:nvPr/>
        </p:nvSpPr>
        <p:spPr>
          <a:xfrm>
            <a:off x="1041400" y="2336800"/>
            <a:ext cx="1168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Aptos" panose="020B0004020202020204" pitchFamily="34" charset="0"/>
              </a:rPr>
              <a:t>Understand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6DDF85-474A-3CFE-9E88-F01F43FFB1DA}"/>
              </a:ext>
            </a:extLst>
          </p:cNvPr>
          <p:cNvCxnSpPr/>
          <p:nvPr/>
        </p:nvCxnSpPr>
        <p:spPr>
          <a:xfrm>
            <a:off x="2311400" y="2438400"/>
            <a:ext cx="330200" cy="0"/>
          </a:xfrm>
          <a:prstGeom prst="line">
            <a:avLst/>
          </a:prstGeom>
          <a:ln w="19050">
            <a:solidFill>
              <a:srgbClr val="268E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B10A7DC-D344-CEE6-89B2-05C842E83876}"/>
              </a:ext>
            </a:extLst>
          </p:cNvPr>
          <p:cNvSpPr txBox="1"/>
          <p:nvPr/>
        </p:nvSpPr>
        <p:spPr>
          <a:xfrm>
            <a:off x="2717800" y="23368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Aptos" panose="020B0004020202020204" pitchFamily="34" charset="0"/>
              </a:rPr>
              <a:t>Define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95CECB-A33D-CA6B-D976-083FF8291E41}"/>
              </a:ext>
            </a:extLst>
          </p:cNvPr>
          <p:cNvCxnSpPr/>
          <p:nvPr/>
        </p:nvCxnSpPr>
        <p:spPr>
          <a:xfrm>
            <a:off x="3987800" y="2438400"/>
            <a:ext cx="330200" cy="0"/>
          </a:xfrm>
          <a:prstGeom prst="line">
            <a:avLst/>
          </a:prstGeom>
          <a:ln w="19050">
            <a:solidFill>
              <a:srgbClr val="268E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0D8C68F-D68F-7EF7-1954-1D48873080ED}"/>
              </a:ext>
            </a:extLst>
          </p:cNvPr>
          <p:cNvSpPr txBox="1"/>
          <p:nvPr/>
        </p:nvSpPr>
        <p:spPr>
          <a:xfrm>
            <a:off x="4394200" y="23368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Aptos" panose="020B0004020202020204" pitchFamily="34" charset="0"/>
              </a:rPr>
              <a:t>Prioritize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4B7CB42-A253-BF92-8AE7-EC20280C2846}"/>
              </a:ext>
            </a:extLst>
          </p:cNvPr>
          <p:cNvCxnSpPr/>
          <p:nvPr/>
        </p:nvCxnSpPr>
        <p:spPr>
          <a:xfrm>
            <a:off x="5664200" y="2438400"/>
            <a:ext cx="330200" cy="0"/>
          </a:xfrm>
          <a:prstGeom prst="line">
            <a:avLst/>
          </a:prstGeom>
          <a:ln w="19050">
            <a:solidFill>
              <a:srgbClr val="268E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12D4553-152F-5A2F-A8DF-25D263473C30}"/>
              </a:ext>
            </a:extLst>
          </p:cNvPr>
          <p:cNvSpPr txBox="1"/>
          <p:nvPr/>
        </p:nvSpPr>
        <p:spPr>
          <a:xfrm>
            <a:off x="6070600" y="23368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Aptos" panose="020B0004020202020204" pitchFamily="34" charset="0"/>
              </a:rPr>
              <a:t>Model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4645339-5736-3783-7188-394B89AA94A0}"/>
              </a:ext>
            </a:extLst>
          </p:cNvPr>
          <p:cNvCxnSpPr/>
          <p:nvPr/>
        </p:nvCxnSpPr>
        <p:spPr>
          <a:xfrm>
            <a:off x="7340600" y="2438400"/>
            <a:ext cx="330200" cy="0"/>
          </a:xfrm>
          <a:prstGeom prst="line">
            <a:avLst/>
          </a:prstGeom>
          <a:ln w="19050">
            <a:solidFill>
              <a:srgbClr val="268E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E59A322-E7A1-6BFC-D3EB-F6C8AC2FD65A}"/>
              </a:ext>
            </a:extLst>
          </p:cNvPr>
          <p:cNvSpPr txBox="1"/>
          <p:nvPr/>
        </p:nvSpPr>
        <p:spPr>
          <a:xfrm>
            <a:off x="7747000" y="23368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Aptos" panose="020B0004020202020204" pitchFamily="34" charset="0"/>
              </a:rPr>
              <a:t>Build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8659607-358E-1E8C-F286-C209CE70324E}"/>
              </a:ext>
            </a:extLst>
          </p:cNvPr>
          <p:cNvCxnSpPr/>
          <p:nvPr/>
        </p:nvCxnSpPr>
        <p:spPr>
          <a:xfrm>
            <a:off x="9017000" y="2438400"/>
            <a:ext cx="330200" cy="0"/>
          </a:xfrm>
          <a:prstGeom prst="line">
            <a:avLst/>
          </a:prstGeom>
          <a:ln w="19050">
            <a:solidFill>
              <a:srgbClr val="268E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986F684-825D-32B2-168F-0187F1B3EE95}"/>
              </a:ext>
            </a:extLst>
          </p:cNvPr>
          <p:cNvSpPr txBox="1"/>
          <p:nvPr/>
        </p:nvSpPr>
        <p:spPr>
          <a:xfrm>
            <a:off x="9423400" y="23368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Aptos" panose="020B0004020202020204" pitchFamily="34" charset="0"/>
              </a:rPr>
              <a:t>Improve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867A19-03F9-F0A8-1FBF-AC38312C3E02}"/>
              </a:ext>
            </a:extLst>
          </p:cNvPr>
          <p:cNvSpPr txBox="1"/>
          <p:nvPr/>
        </p:nvSpPr>
        <p:spPr>
          <a:xfrm>
            <a:off x="609600" y="34290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200" b="1">
                <a:solidFill>
                  <a:srgbClr val="5B43F2"/>
                </a:solidFill>
                <a:latin typeface="Aptos" panose="020B0004020202020204" pitchFamily="34" charset="0"/>
              </a:rPr>
              <a:t>Expected outcomes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3758BA-C6FE-3A2B-8B88-E24A89BC8970}"/>
              </a:ext>
            </a:extLst>
          </p:cNvPr>
          <p:cNvSpPr txBox="1"/>
          <p:nvPr/>
        </p:nvSpPr>
        <p:spPr>
          <a:xfrm>
            <a:off x="609600" y="3962400"/>
            <a:ext cx="4826000" cy="120032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1A223C"/>
                </a:solidFill>
                <a:latin typeface="Aptos" panose="020B0004020202020204" pitchFamily="34" charset="0"/>
              </a:rPr>
              <a:t>• Faster role fit checks before applying\n• Clear separation of strengths and gaps\n• Practical resume and interview recommendations\n• Chrome extension for faster LinkedIn analysis</a:t>
            </a:r>
            <a:endParaRPr lang="en-IN">
              <a:solidFill>
                <a:srgbClr val="1A223C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46B704-1986-3798-52B4-3F9C44AE2FEA}"/>
              </a:ext>
            </a:extLst>
          </p:cNvPr>
          <p:cNvSpPr txBox="1"/>
          <p:nvPr/>
        </p:nvSpPr>
        <p:spPr>
          <a:xfrm>
            <a:off x="6350000" y="34290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200" b="1">
                <a:solidFill>
                  <a:srgbClr val="268EDA"/>
                </a:solidFill>
                <a:latin typeface="Aptos" panose="020B0004020202020204" pitchFamily="34" charset="0"/>
              </a:rPr>
              <a:t>Future scope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07844E-85A8-DC7A-20D0-A22962784DB4}"/>
              </a:ext>
            </a:extLst>
          </p:cNvPr>
          <p:cNvSpPr txBox="1"/>
          <p:nvPr/>
        </p:nvSpPr>
        <p:spPr>
          <a:xfrm>
            <a:off x="6350000" y="3962400"/>
            <a:ext cx="4597400" cy="120032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1A223C"/>
                </a:solidFill>
                <a:latin typeface="Aptos" panose="020B0004020202020204" pitchFamily="34" charset="0"/>
              </a:rPr>
              <a:t>• Secure accounts and saved analyses\n• DOCX and scanned-PDF support\n• Explainable scoring with evidence\n• Learning roadmap and gap-closure analytics</a:t>
            </a:r>
            <a:endParaRPr lang="en-IN">
              <a:solidFill>
                <a:srgbClr val="1A223C"/>
              </a:solidFill>
              <a:latin typeface="Aptos" panose="020B00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67C2633-FDC6-0BD1-BC3B-9BA15EC37E54}"/>
              </a:ext>
            </a:extLst>
          </p:cNvPr>
          <p:cNvSpPr/>
          <p:nvPr/>
        </p:nvSpPr>
        <p:spPr>
          <a:xfrm>
            <a:off x="609600" y="5689600"/>
            <a:ext cx="10972800" cy="533400"/>
          </a:xfrm>
          <a:prstGeom prst="roundRect">
            <a:avLst/>
          </a:prstGeom>
          <a:solidFill>
            <a:srgbClr val="F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018B61-792F-A05F-77B8-5460BFCB98C8}"/>
              </a:ext>
            </a:extLst>
          </p:cNvPr>
          <p:cNvSpPr txBox="1"/>
          <p:nvPr/>
        </p:nvSpPr>
        <p:spPr>
          <a:xfrm>
            <a:off x="812800" y="5854700"/>
            <a:ext cx="10566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200" b="1">
                <a:solidFill>
                  <a:srgbClr val="0F1734"/>
                </a:solidFill>
                <a:latin typeface="Aptos" panose="020B0004020202020204" pitchFamily="34" charset="0"/>
              </a:rPr>
              <a:t>Team  |  Jatin Jangid 2228MCA0068  ·  Nitin 2628MCA0275  ·  Naina Vats 2628MCA0003  ·  Ilma Chaudhary 2628MCA0146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1E66CC-FB28-BB37-A13A-6AD9F49D4AA4}"/>
              </a:ext>
            </a:extLst>
          </p:cNvPr>
          <p:cNvSpPr txBox="1"/>
          <p:nvPr/>
        </p:nvSpPr>
        <p:spPr>
          <a:xfrm>
            <a:off x="609600" y="63246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400" b="1">
                <a:solidFill>
                  <a:srgbClr val="5B43F2"/>
                </a:solidFill>
                <a:latin typeface="Aptos" panose="020B0004020202020204" pitchFamily="34" charset="0"/>
              </a:rPr>
              <a:t>Thank you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41DC64C-26F2-C5F9-6E25-7E4D480A72A3}"/>
              </a:ext>
            </a:extLst>
          </p:cNvPr>
          <p:cNvSpPr txBox="1"/>
          <p:nvPr/>
        </p:nvSpPr>
        <p:spPr>
          <a:xfrm>
            <a:off x="3124200" y="6299200"/>
            <a:ext cx="7874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500">
                <a:solidFill>
                  <a:srgbClr val="5D6C8E"/>
                </a:solidFill>
                <a:latin typeface="Aptos" panose="020B0004020202020204" pitchFamily="34" charset="0"/>
              </a:rPr>
              <a:t>Career guidance becomes more useful when it is specific, explainable, and actionable.</a:t>
            </a:r>
            <a:endParaRPr lang="en-IN" sz="1500">
              <a:solidFill>
                <a:srgbClr val="5D6C8E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671D52-7630-DA4B-AE9D-13A882AF2C1F}"/>
              </a:ext>
            </a:extLst>
          </p:cNvPr>
          <p:cNvSpPr txBox="1"/>
          <p:nvPr/>
        </p:nvSpPr>
        <p:spPr>
          <a:xfrm>
            <a:off x="609600" y="65532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900">
                <a:solidFill>
                  <a:srgbClr val="5D6C8E"/>
                </a:solidFill>
                <a:latin typeface="Aptos" panose="020B0004020202020204" pitchFamily="34" charset="0"/>
              </a:rPr>
              <a:t>MSE-1 | KIET MCA | Personalized Career Mentor AI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B478572-4D51-C41D-4599-FE2421717D1F}"/>
              </a:ext>
            </a:extLst>
          </p:cNvPr>
          <p:cNvSpPr txBox="1"/>
          <p:nvPr/>
        </p:nvSpPr>
        <p:spPr>
          <a:xfrm>
            <a:off x="11303000" y="6553200"/>
            <a:ext cx="2794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900" b="1">
                <a:solidFill>
                  <a:srgbClr val="5D6C8E"/>
                </a:solidFill>
                <a:latin typeface="Aptos" panose="020B000402020202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46504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1152</Words>
  <Application>Microsoft Office PowerPoint</Application>
  <PresentationFormat>Custom</PresentationFormat>
  <Paragraphs>229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jatin jangid</dc:creator>
  <cp:lastModifiedBy>jatin jangid</cp:lastModifiedBy>
  <cp:revision>1</cp:revision>
  <dcterms:created xsi:type="dcterms:W3CDTF">2026-09-22T18:24:46Z</dcterms:created>
  <dcterms:modified xsi:type="dcterms:W3CDTF">2026-09-22T18:24:46Z</dcterms:modified>
</cp:coreProperties>
</file>